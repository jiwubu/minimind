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先给大家一个锚点：整场讲下来，只要记住一句话——MiniMind 的 8 层 Transformer，进去是 32 乘 340 乘 768 的张量，出来还是 32 乘 340 乘 768，形状从头到尾不变，变的只是里面的内容。这句话不是比喻，是代码事实，后面每一页我们都会回到它。代码依据是 model 目录下的 model_minimind.py，配置基准是隐藏层 768、8 层、8 个查询头配 4 个 KV 头、词表 6400、batch 32、序列长度 340。今天的例子很小：输入"我爱"，模型一个词一个词地吐出"我爱天空"。我们就跟着这两个字，把一次前向传播和一次生成完整走一遍。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先看全局。一次前向传播其实是一条五站流水线。第一站 Tokenizer，把文字变成一串整数 id，形状是 32 乘 340。第二站 Embedding，每个 id 查表换成一个 768 维向量，变成 32 乘 340 乘 768。第三站是主角，8 层 Transformer 依次通过，每一层做四件事：注意力交换信息、前馈网络加工知识、残差相加、归一化。这里请特别注意，八层进出形状完全一样，每一层只是把内容精炼一次。第四站是最后的归一化加输出头，把 768 维映射到 6400 维词表，也就是每个位置对 6400 个词各打一个分。第五站 SoftMax 和交叉熵，预测下一个词。代码上就是 MiniMindForCausalLM 的 forward，245 到 253 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第二站，Embedding。它的定义只有一行：nn.Embedding 把 6400 和 768 传进去，说白了就是一张 6400 行、768 列的可学习表格。输入一个整数 id，输出就是表格里的那一行——id 是 2456，就直接把第 2456 行抄出来。它和 nn.Linear 的区别就在这里：Embedding 是"取一行"，每个位置独立查表；Linear 是"全维度加权混合"，做的是矩阵乘法，没有"取第几行"这个概念。右边还有一个省参数的技巧：MiniMind 里 embedding 和输出头 lm_head 共享同一个矩阵，在 242 行，这样 6400 乘 768 差不多四百九十万参数只算一份。但要注意，此刻的向量还很笨：位置 5 的"好"和位置 300 的"好"查出来一模一样。谁在跟谁说话、语气如何，全都要靠后面的注意力层来补。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这一页讲注意力的直觉。一句话：让每个 token 环顾全句，从相关的 token 那里抄一点信息回来，更新自己的表示。举个中文的例子——"小明养了一只猫，它很可爱"。读到"它"的时候，我们会回看上文，发现"它"指的是"猫"，于是把"猫"的信息合并进对"它"的理解。注意力就是把这件事数学化，分四步：第一步生成 Q，相当于"我想找什么"；第二步生成 K，是每个词"能提供什么"；第三步用 Q 和 K 打分，看提问和标签对不对得上；第四步按分数加权求和 V，把对得上的词的内容抄过来。这里有个前提要记住：Q、K、V 不是三种不同的输入，而是同一个输入向量经过三个不同的线性层变换出来的三重身份。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现在进到 Attention 内部，九步，我按顺序走一遍，重点看形状。第一步 QKV 投影，三个不同的线性层，Q 是 32 乘 340 乘 8 乘 96，K 和 V 是 32 乘 340 乘 4 乘 96。第二步切头，768 等于 8 个头乘 96 维，K 和 V 只有 4 个头，这是 GQA。第三步 QK-Norm，只对 Q 和 K 各做一次归一化，稳住打分范围、防止 softmax 饱和，V 不做。第四步 RoPE，把 Q 和 K 在二维平面上旋转一个与位置成正比的角度，旋转之后两个向量的点积自然反映相对距离；cos 和 sin 表在初始化时就预计算好了，不占参数，V 也不旋转。第五步打分，Q 乘 K 的转置，再除以根号 96，这一步得到 340 乘 340 的打分阵，是整个模型里唯一会膨胀的张量。第六步因果掩码，上三角加负无穷，softmax 之后这些位置权重为零，也就是第 i 个 token 只能看它前面的 token，禁止偷看答案。第七步 SoftMax 加权 V，把每行的分数变成和为 1 的权重，再按权重混合信息。第八步 GQA 的复制操作，8 个 Q 头只有 4 组 K 和 V，每组被两个 Q 头共享，参数和推理缓存双双减半。第九步合头加输出投影，从 32 乘 8 乘 340 乘 96 变回 32 乘 340 乘 768，8 个头各看各的角度，最后融合回主干。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这一页讲前馈网络。整张图其实就是一行代码：down_proj 套在激活函数作用后的 gate_proj 乘上 up_proj 外面。两个支路分工明确：up_proj 是内容，也就是"我知道了什么"；gate_proj 经过 SiLU 之后是门控，相当于给内容的每个特征维度装一个可学习的开关，不重要的维度被压向零。两支逐元素相乘之后，再由 down_proj 降回 768 维。中间维度是 2432，算法是 768 乘 π 除以 64 向上取整再乘 64。这里要建立一个分工印象：attention 是计算热点，因为它有 340 乘 340 的打分阵；FFN 是参数大头，每一层里 7.4 兆参数有 5.6 兆在 FFN，占百分之七十六，比注意力还多。最后给一个判断口诀：谁接 SiLU 谁就是 gate。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单看注意力和 FFN 还不够，把它们组装成能训深的网络，靠的是两件胶水。第一件是残差。代码就三步：先抄一份原始输入，主路经过子层加工，再把加工结果和原始输入相加。它的作用是给梯度修一条高速公路——反向传播时梯度可以顺着加号原样流回底层，不被八层非线性衰减；子层也因此只需要学"对当前表示的修正量"。右边标了两条捷径做对比：捷径一是从最底部、归一化之前分出去的；这里有个特别容易画错的地方——捷径二的起点是第一个加号的输出，不是最初输入，两条捷径是接力关系，不是平行关系。第二件是 RMSNorm，只除以均方根，再乘一个可学习的缩放，比 LayerNorm 少了减均值和偏置，更快更省。片子里一共出现三种归一化：每层两个前置归一化、注意力内部的 QK-Norm、以及最后全局的一个。一整层用两行公式就能写完：先 x 加上 Attention 套 Norm(x)，再 x 加上 FFN 套 Norm(x)。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八层怎么堆起来？就是一个循环：每一层的输出直接作为下一层的输入，形状从头到尾不变。右边是出口：先做最后一次归一化，再由 lm_head 把 768 维映射到 6400 维词表。训练时的对齐方式是错位的——第 i 个位置预测第 i 加 1 个 token，labels 里等于负一百的位置不计 loss。左边这三段是经验性的观察，不是硬性划分：一层和二层主要在处理局部语法，比如搭配、词性、短语边界；三层到六层开始做语义，比如指代消解、句内逻辑；七层和八层学的是任务级模式，比如风格、推理链、输出格式。另外提一句 MoE 分支：把 use_moe 打开之后，FFN 会换成 MoE 版本，对四个专家打分、每个 token 只激活其中一个，但对外形状完全不变，所以 Block 里一行代码就能切换。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从这里开始，我们换一条线：一次生成。先看训练和推理的差别。同一份前向代码，训练时一次喂进整句，32 乘 340 全序列并行，每个位置都学预测下一个，用的是 Teacher Forcing，也就是直接拿正确答案算 loss，不需要 KV 缓存。推理完全反过来：第一步 Prefill 先一次吃下整个 prompt，把所有位置并行算一遍，缓存就在这一步诞生；之后每一步只喂一个新 token，输入形状是 32 乘 1，位置从缓存长度算出来，RoPE 只取一个位置的切片，打分阵也只有一行。两者的差别逐项看：RoPE 切片训练取零到 340，推理只取一格；present 返回训练是空，推理每层都攒一对 K 和 V；SoftMax 训练时融合在交叉熵里算，推理要显式算完再采样。最后提一个细节：采样时只取最后一个位置的 logits，代码里是 logits_to_keep 等于 1，因为前面位置的预测是训练时算 loss 用的副产品，推理时没有人消费。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这一页回答一个关键问题：为什么历史的 K 和 V 不用重算。先看演变表。第一步 Prefill，输入是三个 token，位置从零开始，缓存诞生，是三格；第二步只喂一个"天"，位置是三，缓存从三格加到四格，打分阵变成一行四列；第三步同样，缓存变五格，采样出结束符。注意缓存增长的方式：每一步每层只加一个位置，沿着序列维拼接，头数四和维度 96 都不变。原因在这一行推导里——"我"这个 token 的 K，等于"我"的嵌入加上位置 1 的旋转，再经过归一化和线性层。它只由自己的内容和自己的位置决定。第二步里"我"的内容根本没变，所以它的 K 和 V 也不用变，直接从缓存里读就行。还有一个容易忽略的细节：缓存里存的是旋转之后的 K，因为旋转发生在拼接之前，这正是新 token 能按位置接上的原因。下面两张账单：显存方面，每个 token 每层是 1536 字节，八层、生成 1024 个 token 大约是 12.6 兆；如果换成 8 个 KV 头的 MHA，就是 25.2 兆，GQA 直接省一半。计算方面，有缓存每一步的打分是一行乘 t，总量是 N 的平方级；没有缓存的话，第 t 步要把前面所有 token 重算一遍，打分阵是 t 乘 t，生成 1024 个 token 的总打分量，有缓存大约只有无缓存的五百一十二分之一。最后是耗时特征：Prefill 是算力受限的，Decode 是显存带宽受限的——这正是 vLLM、SGLang 这些推理框架重点优化 decode 阶段的原因。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最后讲批量推理，也就是把多条请求捆在一起前向。为什么必须左 padding？根子在 generate 只取最后一个位置的 logits。如果按常规右补，短请求的最后位置就是 pad，取到的预测是垃圾。左补就不会：pad 全在左边，最后位置一定是真实 token，而且新生成的 token 拼在末尾，紧贴真实序列。看例子：请求 A"你好"只有三个真实 token，左边补五个 pad；请求 B"今天天气怎么样"八个 token，不用补。下面这一行是配套的 attention_mask，A 是五个零加三个一，B 全是 1——这两个张量是 tokenizer 一起产出的，取一必须取二。右下角这个 8 乘 8 矩阵是请求 A 的完整视野：灰色是被 pad 挡住的，黄色是未来、禁止偷看，蓝色才是正常打分。pad 行算出来的表示虽然是垃圾，但没有人消费它，因为 generate 只取最后真实位置的 logits。有两个细节值得记：第一，掩码用负十亿而不是负无穷，因为某些融合算子里负无穷参与运算可能产生 nan，负十亿在 fp32 下照样下溢为零，效果一样但更皮实；第二，pad 位置的 K 和 V 确实进了缓存，但每一步都被 mask 挡着，所以无害。还有一点是 batch 推理的固有浪费：短请求提前生成完会被强制填结束符陪着跑，这就是后来 continuous batching 要解决的问题。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最后收两个最容易踩的坑。第一个：漏传 attention_mask。padding 等于 True 的时候，tokenizer 会同时产出 input_ids 和 attention_mask，只取前者是隐蔽 bug。后果链是这样的：mask 是空，125 行的条件判断通过，于是走了 SDPA 快车道，pad 的 K 和 V 混进注意力，真实 token 的表示被稀释污染。它不报错、能出结果，只是质量悄悄下降——这比崩溃更危险。口诀是：取一必须取二。第二个坑是训练右补、推理左补的分歧。逐项看：训练时 pad 在真实 token 之后，因果注意力让右边的 pad 天然隐形，pad 的 loss 由 labels 等于负一百挡住，所以不会污染，mask 也不需要；推理时 logits 的最后一个位置必须落在真实 token 上，pad 只能补在左边，可左边是因果性挡不住的，所以必须配 mask。说到底，这不是风格差异，而是目的差异：训练在算 loss，推理在接着写。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imind_transformer_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imind_transformer_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over-kicker"/>
          <p:cNvGrpSpPr/>
          <p:nvPr/>
        </p:nvGrpSpPr>
        <p:grpSpPr>
          <a:xfrm>
            <a:off x="907542" y="1016318"/>
            <a:ext cx="9121826" cy="264033"/>
            <a:chOff x="907542" y="1016318"/>
            <a:chExt cx="912182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07542" y="1016318"/>
              <a:ext cx="9121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代码依据 model/model_minimind.py · hidden 768 · 8 层 · Q 头 8 / KV 头 4 · 词表 6400 · batch 32 / seq 340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895350" y="1914525"/>
            <a:ext cx="4213508" cy="876300"/>
            <a:chOff x="895350" y="1914525"/>
            <a:chExt cx="4213508" cy="876300"/>
          </a:xfrm>
        </p:grpSpPr>
        <p:sp>
          <p:nvSpPr>
            <p:cNvPr id="4" name="TextBox 4"/>
            <p:cNvSpPr txBox="1"/>
            <p:nvPr/>
          </p:nvSpPr>
          <p:spPr>
            <a:xfrm>
              <a:off x="895350" y="1914525"/>
              <a:ext cx="421350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 层，形状不变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2647950"/>
              <a:ext cx="12573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over-subtitle"/>
          <p:cNvGrpSpPr/>
          <p:nvPr/>
        </p:nvGrpSpPr>
        <p:grpSpPr>
          <a:xfrm>
            <a:off x="902208" y="2922270"/>
            <a:ext cx="5972937" cy="469392"/>
            <a:chOff x="902208" y="2922270"/>
            <a:chExt cx="5972937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902208" y="2922270"/>
              <a:ext cx="59729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MiniMind 一次前向与一次生成的完整解读</a:t>
              </a:r>
            </a:p>
          </p:txBody>
        </p:sp>
      </p:grpSp>
      <p:grpSp>
        <p:nvGrpSpPr>
          <p:cNvPr id="11" name="cover-takeaway"/>
          <p:cNvGrpSpPr/>
          <p:nvPr/>
        </p:nvGrpSpPr>
        <p:grpSpPr>
          <a:xfrm>
            <a:off x="914400" y="3638550"/>
            <a:ext cx="6667500" cy="838200"/>
            <a:chOff x="914400" y="3638550"/>
            <a:chExt cx="6667500" cy="838200"/>
          </a:xfrm>
        </p:grpSpPr>
        <p:sp>
          <p:nvSpPr>
            <p:cNvPr id="9" name="Rectangle 9"/>
            <p:cNvSpPr/>
            <p:nvPr/>
          </p:nvSpPr>
          <p:spPr>
            <a:xfrm>
              <a:off x="914400" y="3638550"/>
              <a:ext cx="66675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 w="9525">
              <a:solidFill>
                <a:srgbClr val="2B3F6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7770" y="3910012"/>
              <a:ext cx="562641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进出都是 (32, 340, 768)，变的只是内容</a:t>
              </a:r>
            </a:p>
          </p:txBody>
        </p:sp>
      </p:grpSp>
      <p:grpSp>
        <p:nvGrpSpPr>
          <p:cNvPr id="13" name="cover-instance"/>
          <p:cNvGrpSpPr/>
          <p:nvPr/>
        </p:nvGrpSpPr>
        <p:grpSpPr>
          <a:xfrm>
            <a:off x="902970" y="4881562"/>
            <a:ext cx="3703034" cy="440055"/>
            <a:chOff x="902970" y="4881562"/>
            <a:chExt cx="3703034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902970" y="4881562"/>
              <a:ext cx="37030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一次生成：我爱 → 我爱天空</a:t>
              </a:r>
            </a:p>
          </p:txBody>
        </p:sp>
      </p:grpSp>
      <p:grpSp>
        <p:nvGrpSpPr>
          <p:cNvPr id="27" name="cover-stack"/>
          <p:cNvGrpSpPr/>
          <p:nvPr/>
        </p:nvGrpSpPr>
        <p:grpSpPr>
          <a:xfrm>
            <a:off x="8070342" y="1638300"/>
            <a:ext cx="3207258" cy="4061651"/>
            <a:chOff x="8070342" y="1638300"/>
            <a:chExt cx="3207258" cy="4061651"/>
          </a:xfrm>
        </p:grpSpPr>
        <p:sp>
          <p:nvSpPr>
            <p:cNvPr id="14" name="Rectangle 14"/>
            <p:cNvSpPr/>
            <p:nvPr/>
          </p:nvSpPr>
          <p:spPr>
            <a:xfrm>
              <a:off x="8077200" y="1638300"/>
              <a:ext cx="3200400" cy="609600"/>
            </a:xfrm>
            <a:prstGeom prst="roundRect">
              <a:avLst>
                <a:gd name="adj" fmla="val 25000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95918" y="1834515"/>
              <a:ext cx="17629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(32, 340, 768)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77200" y="2476500"/>
              <a:ext cx="3200400" cy="171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77200" y="2724150"/>
              <a:ext cx="3200400" cy="171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77200" y="2971800"/>
              <a:ext cx="3200400" cy="171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77200" y="3219450"/>
              <a:ext cx="3200400" cy="171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077200" y="3467100"/>
              <a:ext cx="3200400" cy="171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77200" y="3714750"/>
              <a:ext cx="3200400" cy="171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77200" y="3962400"/>
              <a:ext cx="3200400" cy="171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77200" y="4210050"/>
              <a:ext cx="3200400" cy="171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77200" y="4610100"/>
              <a:ext cx="3200400" cy="609600"/>
            </a:xfrm>
            <a:prstGeom prst="roundRect">
              <a:avLst>
                <a:gd name="adj" fmla="val 25000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95918" y="4806315"/>
              <a:ext cx="17629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(32, 340, 768)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70342" y="5435918"/>
              <a:ext cx="2026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× Transformer Layer</a:t>
              </a:r>
            </a:p>
          </p:txBody>
        </p:sp>
      </p:grpSp>
      <p:grpSp>
        <p:nvGrpSpPr>
          <p:cNvPr id="30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907542" y="6445568"/>
              <a:ext cx="2451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MiniMind 结构与推理机制讲义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4272534" cy="616077"/>
            <a:chOff x="898398" y="822008"/>
            <a:chExt cx="427253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一次前向，五站流水线</a:t>
              </a:r>
            </a:p>
          </p:txBody>
        </p:sp>
      </p:grpSp>
      <p:grpSp>
        <p:nvGrpSpPr>
          <p:cNvPr id="5" name="page-lead"/>
          <p:cNvGrpSpPr/>
          <p:nvPr/>
        </p:nvGrpSpPr>
        <p:grpSpPr>
          <a:xfrm>
            <a:off x="902970" y="1376362"/>
            <a:ext cx="6989445" cy="440055"/>
            <a:chOff x="902970" y="1376362"/>
            <a:chExt cx="6989445" cy="44005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76362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数据从文字变成下一个词的预测，中间经过五个站点</a:t>
              </a:r>
            </a:p>
          </p:txBody>
        </p:sp>
      </p:grpSp>
      <p:grpSp>
        <p:nvGrpSpPr>
          <p:cNvPr id="11" name="shape-rail"/>
          <p:cNvGrpSpPr/>
          <p:nvPr/>
        </p:nvGrpSpPr>
        <p:grpSpPr>
          <a:xfrm>
            <a:off x="1337710" y="1987868"/>
            <a:ext cx="10165204" cy="264033"/>
            <a:chOff x="1337710" y="1987868"/>
            <a:chExt cx="10165204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1337710" y="1987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(32, 340)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177464" y="198786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(32, 340, 768)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51862" y="1987868"/>
              <a:ext cx="1631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(32, 340, 768) × 8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82839" y="198786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(32, 340, 768)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80736" y="1987868"/>
              <a:ext cx="1422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(32, 340, 6400)</a:t>
              </a:r>
            </a:p>
          </p:txBody>
        </p:sp>
      </p:grpSp>
      <p:grpSp>
        <p:nvGrpSpPr>
          <p:cNvPr id="18" name="shape-spine"/>
          <p:cNvGrpSpPr/>
          <p:nvPr/>
        </p:nvGrpSpPr>
        <p:grpSpPr>
          <a:xfrm>
            <a:off x="914400" y="2409825"/>
            <a:ext cx="10668000" cy="95250"/>
            <a:chOff x="914400" y="2409825"/>
            <a:chExt cx="10668000" cy="95250"/>
          </a:xfrm>
        </p:grpSpPr>
        <p:sp>
          <p:nvSpPr>
            <p:cNvPr id="12" name="Line 12"/>
            <p:cNvSpPr/>
            <p:nvPr/>
          </p:nvSpPr>
          <p:spPr>
            <a:xfrm>
              <a:off x="914400" y="24574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724025" y="24098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790950" y="24098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219825" y="2409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696325" y="24098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744200" y="24098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1" name="station-tokenizer"/>
          <p:cNvGrpSpPr/>
          <p:nvPr/>
        </p:nvGrpSpPr>
        <p:grpSpPr>
          <a:xfrm>
            <a:off x="914400" y="2762250"/>
            <a:ext cx="1714500" cy="1809750"/>
            <a:chOff x="914400" y="2762250"/>
            <a:chExt cx="1714500" cy="1809750"/>
          </a:xfrm>
        </p:grpSpPr>
        <p:sp>
          <p:nvSpPr>
            <p:cNvPr id="19" name="Rectangle 19"/>
            <p:cNvSpPr/>
            <p:nvPr/>
          </p:nvSpPr>
          <p:spPr>
            <a:xfrm>
              <a:off x="914400" y="2762250"/>
              <a:ext cx="1714500" cy="1809750"/>
            </a:xfrm>
            <a:prstGeom prst="roundRect">
              <a:avLst>
                <a:gd name="adj" fmla="val 8889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104900" y="2876550"/>
              <a:ext cx="304800" cy="3048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00464" y="29498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2200275" y="2951163"/>
              <a:ext cx="133351" cy="155575"/>
              <a:chOff x="2200275" y="2951163"/>
              <a:chExt cx="133351" cy="1555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2244725" y="2951163"/>
                <a:ext cx="8890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55575">
                    <a:moveTo>
                      <a:pt x="11113" y="55563"/>
                    </a:moveTo>
                    <a:lnTo>
                      <a:pt x="11113" y="0"/>
                    </a:lnTo>
                    <a:lnTo>
                      <a:pt x="0" y="0"/>
                    </a:lnTo>
                    <a:moveTo>
                      <a:pt x="88900" y="155575"/>
                    </a:moveTo>
                    <a:lnTo>
                      <a:pt x="88900" y="100013"/>
                    </a:lnTo>
                    <a:lnTo>
                      <a:pt x="77788" y="1000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300288" y="2951163"/>
                <a:ext cx="33338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5563">
                    <a:moveTo>
                      <a:pt x="0" y="5556"/>
                    </a:moveTo>
                    <a:cubicBezTo>
                      <a:pt x="0" y="2488"/>
                      <a:pt x="2488" y="0"/>
                      <a:pt x="5556" y="0"/>
                    </a:cubicBezTo>
                    <a:lnTo>
                      <a:pt x="27781" y="0"/>
                    </a:lnTo>
                    <a:cubicBezTo>
                      <a:pt x="30850" y="0"/>
                      <a:pt x="33338" y="2488"/>
                      <a:pt x="33338" y="5556"/>
                    </a:cubicBezTo>
                    <a:lnTo>
                      <a:pt x="33338" y="50006"/>
                    </a:lnTo>
                    <a:cubicBezTo>
                      <a:pt x="33338" y="53075"/>
                      <a:pt x="30850" y="55563"/>
                      <a:pt x="27781" y="55563"/>
                    </a:cubicBezTo>
                    <a:lnTo>
                      <a:pt x="5556" y="55563"/>
                    </a:lnTo>
                    <a:cubicBezTo>
                      <a:pt x="2488" y="55563"/>
                      <a:pt x="0" y="53075"/>
                      <a:pt x="0" y="50006"/>
                    </a:cubicBezTo>
                    <a:lnTo>
                      <a:pt x="0" y="555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44725" y="3051175"/>
                <a:ext cx="33338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5563">
                    <a:moveTo>
                      <a:pt x="0" y="5556"/>
                    </a:moveTo>
                    <a:cubicBezTo>
                      <a:pt x="0" y="2488"/>
                      <a:pt x="2488" y="0"/>
                      <a:pt x="5556" y="0"/>
                    </a:cubicBezTo>
                    <a:lnTo>
                      <a:pt x="27781" y="0"/>
                    </a:lnTo>
                    <a:cubicBezTo>
                      <a:pt x="30850" y="0"/>
                      <a:pt x="33338" y="2488"/>
                      <a:pt x="33338" y="5556"/>
                    </a:cubicBezTo>
                    <a:lnTo>
                      <a:pt x="33338" y="50006"/>
                    </a:lnTo>
                    <a:cubicBezTo>
                      <a:pt x="33338" y="53075"/>
                      <a:pt x="30850" y="55563"/>
                      <a:pt x="27781" y="55563"/>
                    </a:cubicBezTo>
                    <a:lnTo>
                      <a:pt x="5556" y="55563"/>
                    </a:lnTo>
                    <a:cubicBezTo>
                      <a:pt x="2488" y="55563"/>
                      <a:pt x="0" y="53075"/>
                      <a:pt x="0" y="50006"/>
                    </a:cubicBezTo>
                    <a:lnTo>
                      <a:pt x="0" y="555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200275" y="3006725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111" y="0"/>
                    </a:lnTo>
                    <a:moveTo>
                      <a:pt x="0" y="100013"/>
                    </a:moveTo>
                    <a:lnTo>
                      <a:pt x="111" y="1000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95756" y="3272790"/>
              <a:ext cx="11643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Tokenizer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104900" y="36576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8042" y="37976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文字 → 整数 id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8804" y="4290060"/>
              <a:ext cx="1425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lm_dataset.py:49</a:t>
              </a:r>
            </a:p>
          </p:txBody>
        </p:sp>
      </p:grpSp>
      <p:grpSp>
        <p:nvGrpSpPr>
          <p:cNvPr id="43" name="station-embedding"/>
          <p:cNvGrpSpPr/>
          <p:nvPr/>
        </p:nvGrpSpPr>
        <p:grpSpPr>
          <a:xfrm>
            <a:off x="3009900" y="2762250"/>
            <a:ext cx="1666875" cy="1809750"/>
            <a:chOff x="3009900" y="2762250"/>
            <a:chExt cx="1666875" cy="1809750"/>
          </a:xfrm>
        </p:grpSpPr>
        <p:sp>
          <p:nvSpPr>
            <p:cNvPr id="32" name="Rectangle 32"/>
            <p:cNvSpPr/>
            <p:nvPr/>
          </p:nvSpPr>
          <p:spPr>
            <a:xfrm>
              <a:off x="3009900" y="2762250"/>
              <a:ext cx="1666875" cy="1809750"/>
            </a:xfrm>
            <a:prstGeom prst="roundRect">
              <a:avLst>
                <a:gd name="adj" fmla="val 9143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200400" y="2876550"/>
              <a:ext cx="304800" cy="3048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95964" y="29498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4214813" y="2928938"/>
              <a:ext cx="200026" cy="200026"/>
              <a:chOff x="4214813" y="292893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214813" y="2928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77801"/>
                    </a:lnTo>
                    <a:cubicBezTo>
                      <a:pt x="200026" y="190075"/>
                      <a:pt x="190075" y="200026"/>
                      <a:pt x="177801" y="200026"/>
                    </a:cubicBez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214813" y="3006725"/>
                <a:ext cx="20002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9525">
                    <a:moveTo>
                      <a:pt x="0" y="0"/>
                    </a:move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292600" y="2928938"/>
                <a:ext cx="952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6">
                    <a:moveTo>
                      <a:pt x="0" y="0"/>
                    </a:moveTo>
                    <a:lnTo>
                      <a:pt x="0" y="20002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191256" y="3272790"/>
              <a:ext cx="12131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Embedding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200400" y="3657600"/>
              <a:ext cx="1285875" cy="9525"/>
            </a:xfrm>
            <a:custGeom>
              <a:avLst/>
              <a:gdLst/>
              <a:ahLst/>
              <a:cxnLst/>
              <a:rect l="l" t="t" r="r" b="b"/>
              <a:pathLst>
                <a:path w="1285875" h="9525">
                  <a:moveTo>
                    <a:pt x="0" y="0"/>
                  </a:moveTo>
                  <a:lnTo>
                    <a:pt x="12858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93542" y="3797618"/>
              <a:ext cx="1004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id 查表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94304" y="42900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 / 214 行</a:t>
              </a:r>
            </a:p>
          </p:txBody>
        </p:sp>
      </p:grpSp>
      <p:grpSp>
        <p:nvGrpSpPr>
          <p:cNvPr id="55" name="station-layers"/>
          <p:cNvGrpSpPr/>
          <p:nvPr/>
        </p:nvGrpSpPr>
        <p:grpSpPr>
          <a:xfrm>
            <a:off x="5057775" y="2762250"/>
            <a:ext cx="2428875" cy="1809750"/>
            <a:chOff x="5057775" y="2762250"/>
            <a:chExt cx="2428875" cy="1809750"/>
          </a:xfrm>
        </p:grpSpPr>
        <p:sp>
          <p:nvSpPr>
            <p:cNvPr id="44" name="Rectangle 44"/>
            <p:cNvSpPr/>
            <p:nvPr/>
          </p:nvSpPr>
          <p:spPr>
            <a:xfrm>
              <a:off x="5057775" y="2762250"/>
              <a:ext cx="2428875" cy="1809750"/>
            </a:xfrm>
            <a:prstGeom prst="roundRect">
              <a:avLst>
                <a:gd name="adj" fmla="val 8421"/>
              </a:avLst>
            </a:prstGeom>
            <a:solidFill>
              <a:srgbClr val="1B2C4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5248275" y="2876550"/>
              <a:ext cx="304800" cy="3048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343839" y="29498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7035800" y="2962275"/>
              <a:ext cx="177801" cy="133350"/>
              <a:chOff x="7035800" y="2962275"/>
              <a:chExt cx="177801" cy="1333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035800" y="2962275"/>
                <a:ext cx="177801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8900">
                    <a:moveTo>
                      <a:pt x="88900" y="0"/>
                    </a:moveTo>
                    <a:lnTo>
                      <a:pt x="0" y="44450"/>
                    </a:lnTo>
                    <a:lnTo>
                      <a:pt x="88900" y="88900"/>
                    </a:lnTo>
                    <a:lnTo>
                      <a:pt x="177801" y="44450"/>
                    </a:ln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035800" y="3051175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5239131" y="3272790"/>
              <a:ext cx="19546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× Transformer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5248275" y="365760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41417" y="3797618"/>
              <a:ext cx="10965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注意力 + FFN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41417" y="40262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残差 + 归一化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42179" y="4290060"/>
              <a:ext cx="1829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203 行 · 221–229 行循环</a:t>
              </a:r>
            </a:p>
          </p:txBody>
        </p:sp>
      </p:grpSp>
      <p:grpSp>
        <p:nvGrpSpPr>
          <p:cNvPr id="72" name="station-head"/>
          <p:cNvGrpSpPr/>
          <p:nvPr/>
        </p:nvGrpSpPr>
        <p:grpSpPr>
          <a:xfrm>
            <a:off x="7867650" y="2762250"/>
            <a:ext cx="1762125" cy="1809750"/>
            <a:chOff x="7867650" y="2762250"/>
            <a:chExt cx="1762125" cy="1809750"/>
          </a:xfrm>
        </p:grpSpPr>
        <p:sp>
          <p:nvSpPr>
            <p:cNvPr id="56" name="Rectangle 56"/>
            <p:cNvSpPr/>
            <p:nvPr/>
          </p:nvSpPr>
          <p:spPr>
            <a:xfrm>
              <a:off x="7867650" y="2762250"/>
              <a:ext cx="1762125" cy="1809750"/>
            </a:xfrm>
            <a:prstGeom prst="roundRect">
              <a:avLst>
                <a:gd name="adj" fmla="val 8649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8058150" y="2876550"/>
              <a:ext cx="304800" cy="3048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53714" y="29498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9167813" y="2928938"/>
              <a:ext cx="200025" cy="211138"/>
              <a:chOff x="9167813" y="2928938"/>
              <a:chExt cx="200025" cy="2111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201150" y="2928938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267825" y="2928938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0" y="0"/>
                    </a:moveTo>
                    <a:cubicBezTo>
                      <a:pt x="14813" y="3700"/>
                      <a:pt x="22225" y="25926"/>
                      <a:pt x="22225" y="66675"/>
                    </a:cubicBezTo>
                    <a:cubicBezTo>
                      <a:pt x="22225" y="107425"/>
                      <a:pt x="14813" y="129650"/>
                      <a:pt x="0" y="1333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245600" y="2928938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22225" y="0"/>
                    </a:moveTo>
                    <a:cubicBezTo>
                      <a:pt x="7412" y="3700"/>
                      <a:pt x="0" y="25926"/>
                      <a:pt x="0" y="66675"/>
                    </a:cubicBezTo>
                    <a:cubicBezTo>
                      <a:pt x="0" y="107425"/>
                      <a:pt x="7412" y="129650"/>
                      <a:pt x="22225" y="1333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01150" y="2995613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167813" y="3117851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290050" y="3117851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245600" y="3095626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267825" y="3062288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8049006" y="32727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输出头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8058150" y="3657600"/>
              <a:ext cx="1381125" cy="9525"/>
            </a:xfrm>
            <a:custGeom>
              <a:avLst/>
              <a:gdLst/>
              <a:ahLst/>
              <a:cxnLst/>
              <a:rect l="l" t="t" r="r" b="b"/>
              <a:pathLst>
                <a:path w="1381125" h="9525">
                  <a:moveTo>
                    <a:pt x="0" y="0"/>
                  </a:moveTo>
                  <a:lnTo>
                    <a:pt x="13811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051292" y="3797618"/>
              <a:ext cx="117957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映射到 6400 维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词表打分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52054" y="42900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230 / 248 行</a:t>
              </a:r>
            </a:p>
          </p:txBody>
        </p:sp>
      </p:grpSp>
      <p:grpSp>
        <p:nvGrpSpPr>
          <p:cNvPr id="87" name="station-softmax"/>
          <p:cNvGrpSpPr/>
          <p:nvPr/>
        </p:nvGrpSpPr>
        <p:grpSpPr>
          <a:xfrm>
            <a:off x="10010775" y="2762250"/>
            <a:ext cx="1571625" cy="1809750"/>
            <a:chOff x="10010775" y="2762250"/>
            <a:chExt cx="1571625" cy="1809750"/>
          </a:xfrm>
        </p:grpSpPr>
        <p:sp>
          <p:nvSpPr>
            <p:cNvPr id="73" name="Rectangle 73"/>
            <p:cNvSpPr/>
            <p:nvPr/>
          </p:nvSpPr>
          <p:spPr>
            <a:xfrm>
              <a:off x="10010775" y="2762250"/>
              <a:ext cx="1571625" cy="1809750"/>
            </a:xfrm>
            <a:prstGeom prst="roundRect">
              <a:avLst>
                <a:gd name="adj" fmla="val 9697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10201275" y="2876550"/>
              <a:ext cx="304800" cy="3048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296839" y="29498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11120438" y="2928938"/>
              <a:ext cx="200026" cy="200026"/>
              <a:chOff x="11120438" y="2928938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11120438" y="2928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0"/>
                    </a:moveTo>
                    <a:lnTo>
                      <a:pt x="0" y="200026"/>
                    </a:lnTo>
                    <a:lnTo>
                      <a:pt x="200026" y="20002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11164888" y="29733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1276013" y="29511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11220450" y="30400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1200003" y="3013615"/>
                <a:ext cx="26003" cy="32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32004">
                    <a:moveTo>
                      <a:pt x="0" y="0"/>
                    </a:moveTo>
                    <a:lnTo>
                      <a:pt x="26003" y="32004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1254766" y="2992746"/>
                <a:ext cx="31526" cy="50962"/>
              </a:xfrm>
              <a:custGeom>
                <a:avLst/>
                <a:gdLst/>
                <a:ahLst/>
                <a:cxnLst/>
                <a:rect l="l" t="t" r="r" b="b"/>
                <a:pathLst>
                  <a:path w="31526" h="50962">
                    <a:moveTo>
                      <a:pt x="0" y="50962"/>
                    </a:moveTo>
                    <a:lnTo>
                      <a:pt x="31526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192131" y="3272790"/>
              <a:ext cx="10155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10201275" y="3657600"/>
              <a:ext cx="1190625" cy="9525"/>
            </a:xfrm>
            <a:custGeom>
              <a:avLst/>
              <a:gdLst/>
              <a:ahLst/>
              <a:cxnLst/>
              <a:rect l="l" t="t" r="r" b="b"/>
              <a:pathLst>
                <a:path w="1190625" h="9525">
                  <a:moveTo>
                    <a:pt x="0" y="0"/>
                  </a:moveTo>
                  <a:lnTo>
                    <a:pt x="11906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194417" y="3797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下一个词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195179" y="42900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252 / 278 行</a:t>
              </a:r>
            </a:p>
          </p:txBody>
        </p:sp>
      </p:grpSp>
      <p:sp>
        <p:nvSpPr>
          <p:cNvPr id="88" name="Freeform 88"/>
          <p:cNvSpPr/>
          <p:nvPr/>
        </p:nvSpPr>
        <p:spPr>
          <a:xfrm>
            <a:off x="2667000" y="3676650"/>
            <a:ext cx="304800" cy="2667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9" name="Freeform 89"/>
          <p:cNvSpPr/>
          <p:nvPr/>
        </p:nvSpPr>
        <p:spPr>
          <a:xfrm>
            <a:off x="4714875" y="3676650"/>
            <a:ext cx="304800" cy="2667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" name="Freeform 90"/>
          <p:cNvSpPr/>
          <p:nvPr/>
        </p:nvSpPr>
        <p:spPr>
          <a:xfrm>
            <a:off x="7524750" y="3676650"/>
            <a:ext cx="304800" cy="2667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1" name="Freeform 91"/>
          <p:cNvSpPr/>
          <p:nvPr/>
        </p:nvSpPr>
        <p:spPr>
          <a:xfrm>
            <a:off x="9667875" y="3676650"/>
            <a:ext cx="304800" cy="2667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4" name="page-takeaway"/>
          <p:cNvGrpSpPr/>
          <p:nvPr/>
        </p:nvGrpSpPr>
        <p:grpSpPr>
          <a:xfrm>
            <a:off x="914400" y="4876800"/>
            <a:ext cx="10668000" cy="685800"/>
            <a:chOff x="914400" y="4876800"/>
            <a:chExt cx="10668000" cy="685800"/>
          </a:xfrm>
        </p:grpSpPr>
        <p:sp>
          <p:nvSpPr>
            <p:cNvPr id="92" name="Rectangle 92"/>
            <p:cNvSpPr/>
            <p:nvPr/>
          </p:nvSpPr>
          <p:spPr>
            <a:xfrm>
              <a:off x="914400" y="4876800"/>
              <a:ext cx="10668000" cy="685800"/>
            </a:xfrm>
            <a:prstGeom prst="roundRect">
              <a:avLst>
                <a:gd name="adj" fmla="val 22222"/>
              </a:avLst>
            </a:prstGeom>
            <a:solidFill>
              <a:schemeClr val="lt2"/>
            </a:solidFill>
            <a:ln w="9525">
              <a:solidFill>
                <a:srgbClr val="2B3F60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207770" y="5053012"/>
              <a:ext cx="77012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层进出都是 (32, 340, 768)，形状不变，变的是内容。</a:t>
              </a:r>
            </a:p>
          </p:txBody>
        </p:sp>
      </p:grpSp>
      <p:grpSp>
        <p:nvGrpSpPr>
          <p:cNvPr id="97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95" name="TextBox 95"/>
            <p:cNvSpPr txBox="1"/>
            <p:nvPr/>
          </p:nvSpPr>
          <p:spPr>
            <a:xfrm>
              <a:off x="907542" y="6445568"/>
              <a:ext cx="4157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2 站 · 全局地图 · model_minimind.py:245–253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6602425" cy="616077"/>
            <a:chOff x="898398" y="822008"/>
            <a:chExt cx="660242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66024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入口 Embedding：查表，不是加权</a:t>
              </a:r>
            </a:p>
          </p:txBody>
        </p:sp>
      </p:grpSp>
      <p:grpSp>
        <p:nvGrpSpPr>
          <p:cNvPr id="5" name="page-lead"/>
          <p:cNvGrpSpPr/>
          <p:nvPr/>
        </p:nvGrpSpPr>
        <p:grpSpPr>
          <a:xfrm>
            <a:off x="902970" y="1395412"/>
            <a:ext cx="7847457" cy="440055"/>
            <a:chOff x="902970" y="1395412"/>
            <a:chExt cx="7847457" cy="44005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95412"/>
              <a:ext cx="784745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Embedding 是一张 6400 × 768 的可学习表格，查表取行。</a:t>
              </a:r>
            </a:p>
          </p:txBody>
        </p:sp>
      </p:grpSp>
      <p:grpSp>
        <p:nvGrpSpPr>
          <p:cNvPr id="7" name="grid-label"/>
          <p:cNvGrpSpPr/>
          <p:nvPr/>
        </p:nvGrpSpPr>
        <p:grpSpPr>
          <a:xfrm>
            <a:off x="907542" y="1987868"/>
            <a:ext cx="2249081" cy="264033"/>
            <a:chOff x="907542" y="1987868"/>
            <a:chExt cx="2249081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907542" y="19878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 (32, 340) 的整数网格</a:t>
              </a:r>
            </a:p>
          </p:txBody>
        </p:sp>
      </p:grpSp>
      <p:grpSp>
        <p:nvGrpSpPr>
          <p:cNvPr id="17" name="embedding-table"/>
          <p:cNvGrpSpPr/>
          <p:nvPr/>
        </p:nvGrpSpPr>
        <p:grpSpPr>
          <a:xfrm>
            <a:off x="914400" y="2286000"/>
            <a:ext cx="4572000" cy="2819400"/>
            <a:chOff x="914400" y="2286000"/>
            <a:chExt cx="4572000" cy="2819400"/>
          </a:xfrm>
        </p:grpSpPr>
        <p:sp>
          <p:nvSpPr>
            <p:cNvPr id="8" name="Rectangle 8"/>
            <p:cNvSpPr/>
            <p:nvPr/>
          </p:nvSpPr>
          <p:spPr>
            <a:xfrm>
              <a:off x="914400" y="2286000"/>
              <a:ext cx="4572000" cy="2819400"/>
            </a:xfrm>
            <a:prstGeom prst="roundRect">
              <a:avLst>
                <a:gd name="adj" fmla="val 5405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6142" y="2426018"/>
              <a:ext cx="2269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nn.Embedding(6400, 768)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2781300"/>
              <a:ext cx="4114800" cy="2476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143000" y="3124200"/>
              <a:ext cx="4114800" cy="2476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43000" y="3467100"/>
              <a:ext cx="4114800" cy="2476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43000" y="3810000"/>
              <a:ext cx="2209800" cy="247650"/>
            </a:xfrm>
            <a:prstGeom prst="roundRect">
              <a:avLst>
                <a:gd name="adj" fmla="val 23077"/>
              </a:avLst>
            </a:prstGeom>
            <a:solidFill>
              <a:schemeClr val="accent2">
                <a:alpha val="18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43000" y="4152900"/>
              <a:ext cx="4114800" cy="2476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43000" y="4495800"/>
              <a:ext cx="4114800" cy="2476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99104" y="3861435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← id = 2456 取这一行</a:t>
              </a:r>
            </a:p>
          </p:txBody>
        </p:sp>
      </p:grpSp>
      <p:grpSp>
        <p:nvGrpSpPr>
          <p:cNvPr id="19" name="embedding-output"/>
          <p:cNvGrpSpPr/>
          <p:nvPr/>
        </p:nvGrpSpPr>
        <p:grpSpPr>
          <a:xfrm>
            <a:off x="907542" y="5283518"/>
            <a:ext cx="4066451" cy="264033"/>
            <a:chOff x="907542" y="5283518"/>
            <a:chExt cx="4066451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907542" y="5283518"/>
              <a:ext cx="4066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(32, 340, 768)，每个位置变成一条 768 维向量</a:t>
              </a:r>
            </a:p>
          </p:txBody>
        </p:sp>
      </p:grpSp>
      <p:grpSp>
        <p:nvGrpSpPr>
          <p:cNvPr id="27" name="card-lookup"/>
          <p:cNvGrpSpPr/>
          <p:nvPr/>
        </p:nvGrpSpPr>
        <p:grpSpPr>
          <a:xfrm>
            <a:off x="5791200" y="1905000"/>
            <a:ext cx="5791200" cy="1185101"/>
            <a:chOff x="5791200" y="1905000"/>
            <a:chExt cx="5791200" cy="1185101"/>
          </a:xfrm>
        </p:grpSpPr>
        <p:sp>
          <p:nvSpPr>
            <p:cNvPr id="20" name="Rectangle 20"/>
            <p:cNvSpPr/>
            <p:nvPr/>
          </p:nvSpPr>
          <p:spPr>
            <a:xfrm>
              <a:off x="5791200" y="1905000"/>
              <a:ext cx="5791200" cy="1123950"/>
            </a:xfrm>
            <a:prstGeom prst="roundRect">
              <a:avLst>
                <a:gd name="adj" fmla="val 13559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86856" y="2148840"/>
              <a:ext cx="2354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Embedding —— 取一行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1044238" y="2166938"/>
              <a:ext cx="200026" cy="200026"/>
              <a:chOff x="11044238" y="2166938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1044238" y="2166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77801"/>
                    </a:lnTo>
                    <a:cubicBezTo>
                      <a:pt x="200026" y="190075"/>
                      <a:pt x="190075" y="200026"/>
                      <a:pt x="177801" y="200026"/>
                    </a:cubicBez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044238" y="2244725"/>
                <a:ext cx="20002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9525">
                    <a:moveTo>
                      <a:pt x="0" y="0"/>
                    </a:move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122025" y="2166938"/>
                <a:ext cx="952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6">
                    <a:moveTo>
                      <a:pt x="0" y="0"/>
                    </a:moveTo>
                    <a:lnTo>
                      <a:pt x="0" y="20002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089142" y="2578418"/>
              <a:ext cx="295408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输入整数 id，输出表格中对应的那一行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(32, 340) → (32, 340, 768)</a:t>
              </a:r>
            </a:p>
          </p:txBody>
        </p:sp>
      </p:grpSp>
      <p:grpSp>
        <p:nvGrpSpPr>
          <p:cNvPr id="41" name="card-linear"/>
          <p:cNvGrpSpPr/>
          <p:nvPr/>
        </p:nvGrpSpPr>
        <p:grpSpPr>
          <a:xfrm>
            <a:off x="5791200" y="3219450"/>
            <a:ext cx="5791200" cy="1185101"/>
            <a:chOff x="5791200" y="3219450"/>
            <a:chExt cx="5791200" cy="1185101"/>
          </a:xfrm>
        </p:grpSpPr>
        <p:sp>
          <p:nvSpPr>
            <p:cNvPr id="28" name="Rectangle 28"/>
            <p:cNvSpPr/>
            <p:nvPr/>
          </p:nvSpPr>
          <p:spPr>
            <a:xfrm>
              <a:off x="5791200" y="3219450"/>
              <a:ext cx="5791200" cy="1123950"/>
            </a:xfrm>
            <a:prstGeom prst="roundRect">
              <a:avLst>
                <a:gd name="adj" fmla="val 13559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86856" y="3463290"/>
              <a:ext cx="3276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nn.Linear —— 全维度加权混合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1055350" y="3492500"/>
              <a:ext cx="177801" cy="177801"/>
              <a:chOff x="11055350" y="3492500"/>
              <a:chExt cx="177801" cy="1778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1055350" y="35369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77575" y="34925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077575" y="35814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122025" y="36036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144250" y="349250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144250" y="3648076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188701" y="350361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210926" y="3492500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0"/>
                    </a:move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210926" y="3548063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0"/>
                    </a:moveTo>
                    <a:lnTo>
                      <a:pt x="0" y="1222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089142" y="3892868"/>
              <a:ext cx="29283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矩阵乘法：所有输入维度一起参与运算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没有「取第几行」这个概念</a:t>
              </a:r>
            </a:p>
          </p:txBody>
        </p:sp>
      </p:grpSp>
      <p:grpSp>
        <p:nvGrpSpPr>
          <p:cNvPr id="51" name="card-weight-tying"/>
          <p:cNvGrpSpPr/>
          <p:nvPr/>
        </p:nvGrpSpPr>
        <p:grpSpPr>
          <a:xfrm>
            <a:off x="5791200" y="4533900"/>
            <a:ext cx="5791200" cy="1185101"/>
            <a:chOff x="5791200" y="4533900"/>
            <a:chExt cx="5791200" cy="1185101"/>
          </a:xfrm>
        </p:grpSpPr>
        <p:sp>
          <p:nvSpPr>
            <p:cNvPr id="42" name="Rectangle 42"/>
            <p:cNvSpPr/>
            <p:nvPr/>
          </p:nvSpPr>
          <p:spPr>
            <a:xfrm>
              <a:off x="5791200" y="4533900"/>
              <a:ext cx="5791200" cy="1123950"/>
            </a:xfrm>
            <a:prstGeom prst="roundRect">
              <a:avLst>
                <a:gd name="adj" fmla="val 13559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86856" y="4777740"/>
              <a:ext cx="3228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权重绑定：省下约 490 万参数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1066463" y="4806950"/>
              <a:ext cx="155575" cy="177801"/>
              <a:chOff x="11066463" y="4806950"/>
              <a:chExt cx="155575" cy="17780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1066463" y="49403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066463" y="48069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177588" y="48736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088688" y="48514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088688" y="4851400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0"/>
                    </a:moveTo>
                    <a:cubicBezTo>
                      <a:pt x="0" y="24549"/>
                      <a:pt x="19901" y="44450"/>
                      <a:pt x="44450" y="44450"/>
                    </a:cubicBezTo>
                    <a:lnTo>
                      <a:pt x="8890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089142" y="5207318"/>
              <a:ext cx="439426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embedding 与输出头 lm_head 共享同一个矩阵（242 行）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6400 × 768 ≈ 4.9M 参数只算一份</a:t>
              </a:r>
            </a:p>
          </p:txBody>
        </p:sp>
      </p:grpSp>
      <p:grpSp>
        <p:nvGrpSpPr>
          <p:cNvPr id="54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907542" y="6445568"/>
              <a:ext cx="4438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2 站 · Embedding · model_minimind.py:201 / 214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8089011" cy="616077"/>
            <a:chOff x="898398" y="822008"/>
            <a:chExt cx="808901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注意力在算什么：环顾全句，抄回相关信息</a:t>
              </a:r>
            </a:p>
          </p:txBody>
        </p:sp>
      </p:grpSp>
      <p:grpSp>
        <p:nvGrpSpPr>
          <p:cNvPr id="7" name="hero-statement"/>
          <p:cNvGrpSpPr/>
          <p:nvPr/>
        </p:nvGrpSpPr>
        <p:grpSpPr>
          <a:xfrm>
            <a:off x="895350" y="1642110"/>
            <a:ext cx="8151647" cy="1504950"/>
            <a:chOff x="895350" y="1642110"/>
            <a:chExt cx="8151647" cy="1504950"/>
          </a:xfrm>
        </p:grpSpPr>
        <p:sp>
          <p:nvSpPr>
            <p:cNvPr id="4" name="TextBox 4"/>
            <p:cNvSpPr txBox="1"/>
            <p:nvPr/>
          </p:nvSpPr>
          <p:spPr>
            <a:xfrm>
              <a:off x="895350" y="1642110"/>
              <a:ext cx="589003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让每个 token 环顾全句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5350" y="2327910"/>
              <a:ext cx="815164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从相关的 token 那里抄信息回来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3105150"/>
              <a:ext cx="12573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1" name="analogy-quote"/>
          <p:cNvGrpSpPr/>
          <p:nvPr/>
        </p:nvGrpSpPr>
        <p:grpSpPr>
          <a:xfrm>
            <a:off x="914400" y="3486150"/>
            <a:ext cx="7417575" cy="952500"/>
            <a:chOff x="914400" y="3486150"/>
            <a:chExt cx="7417575" cy="952500"/>
          </a:xfrm>
        </p:grpSpPr>
        <p:sp>
          <p:nvSpPr>
            <p:cNvPr id="8" name="Rectangle 8"/>
            <p:cNvSpPr/>
            <p:nvPr/>
          </p:nvSpPr>
          <p:spPr>
            <a:xfrm>
              <a:off x="914400" y="3486150"/>
              <a:ext cx="38100" cy="952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7008" y="360807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小明养了</a:t>
              </a:r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一只猫</a:t>
              </a:r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，</a:t>
              </a:r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它</a:t>
              </a:r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很可爱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2342" y="4159568"/>
              <a:ext cx="7119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读到「它」时回看上文，把「猫」的信息合并进对「它」的理解——这就是注意力要做的事</a:t>
              </a:r>
            </a:p>
          </p:txBody>
        </p:sp>
      </p:grpSp>
      <p:grpSp>
        <p:nvGrpSpPr>
          <p:cNvPr id="17" name="step-q"/>
          <p:cNvGrpSpPr/>
          <p:nvPr/>
        </p:nvGrpSpPr>
        <p:grpSpPr>
          <a:xfrm>
            <a:off x="907542" y="4953000"/>
            <a:ext cx="1894694" cy="937451"/>
            <a:chOff x="907542" y="4953000"/>
            <a:chExt cx="1894694" cy="937451"/>
          </a:xfrm>
        </p:grpSpPr>
        <p:sp>
          <p:nvSpPr>
            <p:cNvPr id="12" name="Ellipse 12"/>
            <p:cNvSpPr/>
            <p:nvPr/>
          </p:nvSpPr>
          <p:spPr>
            <a:xfrm>
              <a:off x="914400" y="4953000"/>
              <a:ext cx="304800" cy="3048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09964" y="5026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4356" y="4987290"/>
              <a:ext cx="7717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Q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5378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我想找什么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5626418"/>
              <a:ext cx="189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 token 的查询向量</a:t>
              </a:r>
            </a:p>
          </p:txBody>
        </p:sp>
      </p:grpSp>
      <p:grpSp>
        <p:nvGrpSpPr>
          <p:cNvPr id="23" name="step-k"/>
          <p:cNvGrpSpPr/>
          <p:nvPr/>
        </p:nvGrpSpPr>
        <p:grpSpPr>
          <a:xfrm>
            <a:off x="3650742" y="4953000"/>
            <a:ext cx="2076431" cy="937451"/>
            <a:chOff x="3650742" y="4953000"/>
            <a:chExt cx="2076431" cy="937451"/>
          </a:xfrm>
        </p:grpSpPr>
        <p:sp>
          <p:nvSpPr>
            <p:cNvPr id="18" name="Ellipse 18"/>
            <p:cNvSpPr/>
            <p:nvPr/>
          </p:nvSpPr>
          <p:spPr>
            <a:xfrm>
              <a:off x="3657600" y="4953000"/>
              <a:ext cx="304800" cy="3048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53164" y="5026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67556" y="4987290"/>
              <a:ext cx="720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50742" y="5378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每个词能提供什么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50742" y="562641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token 的被查询向量</a:t>
              </a:r>
            </a:p>
          </p:txBody>
        </p:sp>
      </p:grpSp>
      <p:grpSp>
        <p:nvGrpSpPr>
          <p:cNvPr id="29" name="step-score"/>
          <p:cNvGrpSpPr/>
          <p:nvPr/>
        </p:nvGrpSpPr>
        <p:grpSpPr>
          <a:xfrm>
            <a:off x="6393942" y="4953000"/>
            <a:ext cx="1831086" cy="937451"/>
            <a:chOff x="6393942" y="4953000"/>
            <a:chExt cx="1831086" cy="937451"/>
          </a:xfrm>
        </p:grpSpPr>
        <p:sp>
          <p:nvSpPr>
            <p:cNvPr id="24" name="Ellipse 24"/>
            <p:cNvSpPr/>
            <p:nvPr/>
          </p:nvSpPr>
          <p:spPr>
            <a:xfrm>
              <a:off x="6400800" y="4953000"/>
              <a:ext cx="304800" cy="3048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96364" y="5026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10756" y="4987290"/>
              <a:ext cx="10533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Q·K 打分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3942" y="5378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提问和标签对不对得上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3942" y="5626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两两相似度分数</a:t>
              </a:r>
            </a:p>
          </p:txBody>
        </p:sp>
      </p:grpSp>
      <p:grpSp>
        <p:nvGrpSpPr>
          <p:cNvPr id="35" name="step-value"/>
          <p:cNvGrpSpPr/>
          <p:nvPr/>
        </p:nvGrpSpPr>
        <p:grpSpPr>
          <a:xfrm>
            <a:off x="9137142" y="4953000"/>
            <a:ext cx="1831086" cy="937451"/>
            <a:chOff x="9137142" y="4953000"/>
            <a:chExt cx="1831086" cy="937451"/>
          </a:xfrm>
        </p:grpSpPr>
        <p:sp>
          <p:nvSpPr>
            <p:cNvPr id="30" name="Ellipse 30"/>
            <p:cNvSpPr/>
            <p:nvPr/>
          </p:nvSpPr>
          <p:spPr>
            <a:xfrm>
              <a:off x="9144000" y="4953000"/>
              <a:ext cx="304800" cy="3048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39564" y="5026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53956" y="4987290"/>
              <a:ext cx="12051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加权求和 V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37142" y="5378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把对得上的内容抄过来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37142" y="5626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更新自己的表示</a:t>
              </a:r>
            </a:p>
          </p:txBody>
        </p:sp>
      </p:grpSp>
      <p:sp>
        <p:nvSpPr>
          <p:cNvPr id="36" name="Freeform 36"/>
          <p:cNvSpPr/>
          <p:nvPr/>
        </p:nvSpPr>
        <p:spPr>
          <a:xfrm>
            <a:off x="3352800" y="5048250"/>
            <a:ext cx="304800" cy="2667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096000" y="5048250"/>
            <a:ext cx="304800" cy="2667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8839200" y="5048250"/>
            <a:ext cx="304800" cy="2667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1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907542" y="6445568"/>
              <a:ext cx="31426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3 站 · 注意力 · Q / K / V 三重身份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6088761" cy="616077"/>
            <a:chOff x="898398" y="822008"/>
            <a:chExt cx="608876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60887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Attention 内部：九步形状流转</a:t>
              </a:r>
            </a:p>
          </p:txBody>
        </p:sp>
      </p:grpSp>
      <p:grpSp>
        <p:nvGrpSpPr>
          <p:cNvPr id="5" name="page-lead"/>
          <p:cNvGrpSpPr/>
          <p:nvPr/>
        </p:nvGrpSpPr>
        <p:grpSpPr>
          <a:xfrm>
            <a:off x="902970" y="1395412"/>
            <a:ext cx="6095905" cy="440055"/>
            <a:chOff x="902970" y="1395412"/>
            <a:chExt cx="6095905" cy="44005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95412"/>
              <a:ext cx="60959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全程唯一会膨胀的张量是 340 × 340 的打分阵</a:t>
              </a:r>
            </a:p>
          </p:txBody>
        </p:sp>
      </p:grpSp>
      <p:grpSp>
        <p:nvGrpSpPr>
          <p:cNvPr id="10" name="step-1"/>
          <p:cNvGrpSpPr/>
          <p:nvPr/>
        </p:nvGrpSpPr>
        <p:grpSpPr>
          <a:xfrm>
            <a:off x="907542" y="2064068"/>
            <a:ext cx="6261354" cy="264033"/>
            <a:chOff x="907542" y="2064068"/>
            <a:chExt cx="6261354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907542" y="20640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55192" y="2064068"/>
              <a:ext cx="790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QKV 投影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51404" y="208026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 (32,340,8,96)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80149" y="208026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113 行</a:t>
              </a:r>
            </a:p>
          </p:txBody>
        </p:sp>
      </p:grpSp>
      <p:grpSp>
        <p:nvGrpSpPr>
          <p:cNvPr id="15" name="step-2"/>
          <p:cNvGrpSpPr/>
          <p:nvPr/>
        </p:nvGrpSpPr>
        <p:grpSpPr>
          <a:xfrm>
            <a:off x="907542" y="2521268"/>
            <a:ext cx="6261354" cy="264033"/>
            <a:chOff x="907542" y="2521268"/>
            <a:chExt cx="6261354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907542" y="2521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5192" y="2521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切头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1404" y="2537460"/>
              <a:ext cx="1565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K,V (32,340,4,96)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24752" y="25374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114–116 行</a:t>
              </a:r>
            </a:p>
          </p:txBody>
        </p:sp>
      </p:grpSp>
      <p:grpSp>
        <p:nvGrpSpPr>
          <p:cNvPr id="20" name="step-3"/>
          <p:cNvGrpSpPr/>
          <p:nvPr/>
        </p:nvGrpSpPr>
        <p:grpSpPr>
          <a:xfrm>
            <a:off x="907542" y="2978468"/>
            <a:ext cx="6261354" cy="264033"/>
            <a:chOff x="907542" y="2978468"/>
            <a:chExt cx="6261354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907542" y="29784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5192" y="2978468"/>
              <a:ext cx="8079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QK-Norm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51404" y="2994660"/>
              <a:ext cx="1288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形状不变，V 不做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80149" y="299466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117 行</a:t>
              </a:r>
            </a:p>
          </p:txBody>
        </p:sp>
      </p:grpSp>
      <p:grpSp>
        <p:nvGrpSpPr>
          <p:cNvPr id="25" name="step-4"/>
          <p:cNvGrpSpPr/>
          <p:nvPr/>
        </p:nvGrpSpPr>
        <p:grpSpPr>
          <a:xfrm>
            <a:off x="907542" y="3435668"/>
            <a:ext cx="6261354" cy="264033"/>
            <a:chOff x="907542" y="3435668"/>
            <a:chExt cx="6261354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907542" y="34356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5192" y="3435668"/>
              <a:ext cx="850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旋转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51404" y="3451860"/>
              <a:ext cx="14496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形状不变，V 不旋转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80149" y="345186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119 行</a:t>
              </a:r>
            </a:p>
          </p:txBody>
        </p:sp>
      </p:grpSp>
      <p:grpSp>
        <p:nvGrpSpPr>
          <p:cNvPr id="30" name="step-5"/>
          <p:cNvGrpSpPr/>
          <p:nvPr/>
        </p:nvGrpSpPr>
        <p:grpSpPr>
          <a:xfrm>
            <a:off x="907542" y="3892868"/>
            <a:ext cx="6261354" cy="264033"/>
            <a:chOff x="907542" y="3892868"/>
            <a:chExt cx="6261354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907542" y="3892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5192" y="3892868"/>
              <a:ext cx="1433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打分 Q·Kᵀ / √96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51404" y="3909060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(32,8,340,340)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80149" y="390906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128 行</a:t>
              </a:r>
            </a:p>
          </p:txBody>
        </p:sp>
      </p:grpSp>
      <p:grpSp>
        <p:nvGrpSpPr>
          <p:cNvPr id="35" name="step-6"/>
          <p:cNvGrpSpPr/>
          <p:nvPr/>
        </p:nvGrpSpPr>
        <p:grpSpPr>
          <a:xfrm>
            <a:off x="907542" y="4350068"/>
            <a:ext cx="6261354" cy="264033"/>
            <a:chOff x="907542" y="4350068"/>
            <a:chExt cx="6261354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907542" y="43500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5192" y="4350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因果掩码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51404" y="43662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上三角 -inf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80149" y="436626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129 行</a:t>
              </a:r>
            </a:p>
          </p:txBody>
        </p:sp>
      </p:grpSp>
      <p:grpSp>
        <p:nvGrpSpPr>
          <p:cNvPr id="40" name="step-7"/>
          <p:cNvGrpSpPr/>
          <p:nvPr/>
        </p:nvGrpSpPr>
        <p:grpSpPr>
          <a:xfrm>
            <a:off x="907542" y="4807268"/>
            <a:ext cx="6261354" cy="264033"/>
            <a:chOff x="907542" y="4807268"/>
            <a:chExt cx="6261354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907542" y="4807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5192" y="4807268"/>
              <a:ext cx="1343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 加权 V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51404" y="48234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(32,8,340,96)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7826" y="48234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126 / 131 行</a:t>
              </a:r>
            </a:p>
          </p:txBody>
        </p:sp>
      </p:grpSp>
      <p:grpSp>
        <p:nvGrpSpPr>
          <p:cNvPr id="45" name="step-8"/>
          <p:cNvGrpSpPr/>
          <p:nvPr/>
        </p:nvGrpSpPr>
        <p:grpSpPr>
          <a:xfrm>
            <a:off x="907542" y="5264468"/>
            <a:ext cx="6261354" cy="264033"/>
            <a:chOff x="907542" y="5264468"/>
            <a:chExt cx="6261354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907542" y="52644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5192" y="5264468"/>
              <a:ext cx="1323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 repeat_kv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51404" y="5280660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头 → 8 头，缓存减半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50128" y="52806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86–89 / 124 行</a:t>
              </a:r>
            </a:p>
          </p:txBody>
        </p:sp>
      </p:grpSp>
      <p:grpSp>
        <p:nvGrpSpPr>
          <p:cNvPr id="50" name="step-9"/>
          <p:cNvGrpSpPr/>
          <p:nvPr/>
        </p:nvGrpSpPr>
        <p:grpSpPr>
          <a:xfrm>
            <a:off x="907542" y="5721668"/>
            <a:ext cx="6261354" cy="264033"/>
            <a:chOff x="907542" y="5721668"/>
            <a:chExt cx="6261354" cy="264033"/>
          </a:xfrm>
        </p:grpSpPr>
        <p:sp>
          <p:nvSpPr>
            <p:cNvPr id="46" name="TextBox 46"/>
            <p:cNvSpPr txBox="1"/>
            <p:nvPr/>
          </p:nvSpPr>
          <p:spPr>
            <a:xfrm>
              <a:off x="907542" y="57216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5192" y="5721668"/>
              <a:ext cx="1140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合头 + o_proj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51404" y="573786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(32,340,768)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24752" y="57378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132–133 行</a:t>
              </a:r>
            </a:p>
          </p:txBody>
        </p:sp>
      </p:grpSp>
      <p:grpSp>
        <p:nvGrpSpPr>
          <p:cNvPr id="60" name="mask-matrix"/>
          <p:cNvGrpSpPr/>
          <p:nvPr/>
        </p:nvGrpSpPr>
        <p:grpSpPr>
          <a:xfrm>
            <a:off x="7620000" y="1981200"/>
            <a:ext cx="3962400" cy="2457450"/>
            <a:chOff x="7620000" y="1981200"/>
            <a:chExt cx="3962400" cy="2457450"/>
          </a:xfrm>
        </p:grpSpPr>
        <p:sp>
          <p:nvSpPr>
            <p:cNvPr id="51" name="Rectangle 51"/>
            <p:cNvSpPr/>
            <p:nvPr/>
          </p:nvSpPr>
          <p:spPr>
            <a:xfrm>
              <a:off x="7620000" y="1981200"/>
              <a:ext cx="3962400" cy="2457450"/>
            </a:xfrm>
            <a:prstGeom prst="roundRect">
              <a:avLst>
                <a:gd name="adj" fmla="val 6202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41742" y="2178368"/>
              <a:ext cx="2358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340 × 340 打分阵 · 因果掩码</a:t>
              </a:r>
            </a:p>
          </p:txBody>
        </p:sp>
        <p:sp>
          <p:nvSpPr>
            <p:cNvPr id="53" name="Polygon 53"/>
            <p:cNvSpPr/>
            <p:nvPr/>
          </p:nvSpPr>
          <p:spPr>
            <a:xfrm>
              <a:off x="8839200" y="262890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close/>
                </a:path>
              </a:pathLst>
            </a:cu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54" name="Polygon 54"/>
            <p:cNvSpPr/>
            <p:nvPr/>
          </p:nvSpPr>
          <p:spPr>
            <a:xfrm>
              <a:off x="8839200" y="262890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chemeClr val="accent1">
                <a:alpha val="14000"/>
              </a:scheme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839200" y="2628900"/>
              <a:ext cx="1524000" cy="15240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839200" y="262890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1524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18854" y="38328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04654" y="2918460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-inf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33104" y="417576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上三角 -inf，softmax 后权重为 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formula-scores"/>
              <p:cNvSpPr txBox="1">
                <a:spLocks noGrp="1"/>
              </p:cNvSpPr>
              <p:nvPr/>
            </p:nvSpPr>
            <p:spPr>
              <a:xfrm>
                <a:off x="7620000" y="4629150"/>
                <a:ext cx="3962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scores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D8E3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D8E3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650" dirty="0">
                                  <a:solidFill>
                                    <a:srgbClr val="D8E3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650" dirty="0">
                                  <a:solidFill>
                                    <a:srgbClr val="D8E3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96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formula-output"/>
              <p:cNvSpPr txBox="1">
                <a:spLocks noGrp="1"/>
              </p:cNvSpPr>
              <p:nvPr/>
            </p:nvSpPr>
            <p:spPr>
              <a:xfrm>
                <a:off x="7620000" y="5505450"/>
                <a:ext cx="3962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5AA9E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output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5AA9E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5AA9E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softmax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5AA9E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5AA9E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scores</m:t>
                          </m:r>
                        </m:e>
                      </m:d>
                      <m:r>
                        <a:rPr lang="zh-CN" sz="1650" dirty="0">
                          <a:solidFill>
                            <a:srgbClr val="5AA9E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5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63" name="TextBox 63"/>
            <p:cNvSpPr txBox="1"/>
            <p:nvPr/>
          </p:nvSpPr>
          <p:spPr>
            <a:xfrm>
              <a:off x="907542" y="6445568"/>
              <a:ext cx="4609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3 站 · Attention 内部 · model_minimind.py:91–134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4992884" cy="616077"/>
            <a:chOff x="898398" y="822008"/>
            <a:chExt cx="499288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499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FFN：SwiGLU 的门控开关</a:t>
              </a:r>
            </a:p>
          </p:txBody>
        </p:sp>
      </p:grpSp>
      <p:grpSp>
        <p:nvGrpSpPr>
          <p:cNvPr id="5" name="page-lead"/>
          <p:cNvGrpSpPr/>
          <p:nvPr/>
        </p:nvGrpSpPr>
        <p:grpSpPr>
          <a:xfrm>
            <a:off x="902970" y="1395412"/>
            <a:ext cx="6418374" cy="440055"/>
            <a:chOff x="902970" y="1395412"/>
            <a:chExt cx="6418374" cy="44005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95412"/>
              <a:ext cx="64183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up_proj 提供内容，gate_proj + SiLU 提供门控</a:t>
              </a:r>
            </a:p>
          </p:txBody>
        </p:sp>
      </p:grpSp>
      <p:grpSp>
        <p:nvGrpSpPr>
          <p:cNvPr id="36" name="swiglu-flow"/>
          <p:cNvGrpSpPr/>
          <p:nvPr/>
        </p:nvGrpSpPr>
        <p:grpSpPr>
          <a:xfrm>
            <a:off x="914400" y="1911668"/>
            <a:ext cx="6324600" cy="4131183"/>
            <a:chOff x="914400" y="1911668"/>
            <a:chExt cx="6324600" cy="4131183"/>
          </a:xfrm>
        </p:grpSpPr>
        <p:sp>
          <p:nvSpPr>
            <p:cNvPr id="6" name="TextBox 6"/>
            <p:cNvSpPr txBox="1"/>
            <p:nvPr/>
          </p:nvSpPr>
          <p:spPr>
            <a:xfrm>
              <a:off x="3338351" y="1911668"/>
              <a:ext cx="1476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 (32, 340, 768)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076700" y="21717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152650" y="23812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152650" y="2381250"/>
              <a:ext cx="1" cy="1905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6000750" y="2381250"/>
              <a:ext cx="1" cy="1905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4" name="flow-gate-proj"/>
            <p:cNvGrpSpPr/>
            <p:nvPr/>
          </p:nvGrpSpPr>
          <p:grpSpPr>
            <a:xfrm>
              <a:off x="914400" y="2590800"/>
              <a:ext cx="2476500" cy="685800"/>
              <a:chOff x="914400" y="2590800"/>
              <a:chExt cx="2476500" cy="685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14400" y="2590800"/>
                <a:ext cx="24765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1B2C46"/>
              </a:solidFill>
              <a:ln w="9525">
                <a:solidFill>
                  <a:srgbClr val="2B3F60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33856" y="2739390"/>
                <a:ext cx="11571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gate_proj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6904" y="303276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768 → 2432</a:t>
                </a:r>
              </a:p>
            </p:txBody>
          </p:sp>
        </p:grpSp>
        <p:grpSp>
          <p:nvGrpSpPr>
            <p:cNvPr id="18" name="flow-up-proj"/>
            <p:cNvGrpSpPr/>
            <p:nvPr/>
          </p:nvGrpSpPr>
          <p:grpSpPr>
            <a:xfrm>
              <a:off x="4762500" y="2590800"/>
              <a:ext cx="2476500" cy="685800"/>
              <a:chOff x="4762500" y="2590800"/>
              <a:chExt cx="2476500" cy="6858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762500" y="2590800"/>
                <a:ext cx="24765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1B2C46"/>
              </a:solidFill>
              <a:ln w="9525">
                <a:solidFill>
                  <a:srgbClr val="2B3F60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981956" y="2739390"/>
                <a:ext cx="8906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up_proj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985004" y="303276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768 → 2432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2152650" y="3276600"/>
              <a:ext cx="1" cy="2095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22" name="flow-silu"/>
            <p:cNvGrpSpPr/>
            <p:nvPr/>
          </p:nvGrpSpPr>
          <p:grpSpPr>
            <a:xfrm>
              <a:off x="914400" y="3505200"/>
              <a:ext cx="2476500" cy="533400"/>
              <a:chOff x="914400" y="3505200"/>
              <a:chExt cx="2476500" cy="5334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14400" y="3505200"/>
                <a:ext cx="2476500" cy="533400"/>
              </a:xfrm>
              <a:prstGeom prst="roundRect">
                <a:avLst>
                  <a:gd name="adj" fmla="val 28571"/>
                </a:avLst>
              </a:prstGeom>
              <a:solidFill>
                <a:schemeClr val="lt2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33856" y="3653790"/>
                <a:ext cx="107127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SiLU 激活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2152650" y="40386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152650" y="4305300"/>
              <a:ext cx="3581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5" name="Line 25"/>
            <p:cNvSpPr/>
            <p:nvPr/>
          </p:nvSpPr>
          <p:spPr>
            <a:xfrm>
              <a:off x="6000750" y="3276600"/>
              <a:ext cx="1" cy="762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18675" y="4045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逐元素相乘（门控）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772150" y="4076700"/>
              <a:ext cx="457200" cy="457200"/>
            </a:xfrm>
            <a:prstGeom prst="ellipse">
              <a:avLst/>
            </a:prstGeom>
            <a:solidFill>
              <a:schemeClr val="accent2">
                <a:alpha val="14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953125" y="4257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000750" y="4552950"/>
              <a:ext cx="1" cy="2095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3" name="flow-down-proj"/>
            <p:cNvGrpSpPr/>
            <p:nvPr/>
          </p:nvGrpSpPr>
          <p:grpSpPr>
            <a:xfrm>
              <a:off x="4762500" y="4781550"/>
              <a:ext cx="2476500" cy="685800"/>
              <a:chOff x="4762500" y="4781550"/>
              <a:chExt cx="2476500" cy="6858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762500" y="4781550"/>
                <a:ext cx="24765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1B2C46"/>
              </a:solidFill>
              <a:ln w="9525">
                <a:solidFill>
                  <a:srgbClr val="2B3F6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981956" y="4930140"/>
                <a:ext cx="12056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down_proj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985004" y="52235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2432 → 768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6000750" y="5467350"/>
              <a:ext cx="1" cy="2286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12423" y="5778818"/>
              <a:ext cx="1576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x′ (32, 340, 768)</a:t>
              </a:r>
            </a:p>
          </p:txBody>
        </p:sp>
      </p:grpSp>
      <p:grpSp>
        <p:nvGrpSpPr>
          <p:cNvPr id="47" name="card-dim"/>
          <p:cNvGrpSpPr/>
          <p:nvPr/>
        </p:nvGrpSpPr>
        <p:grpSpPr>
          <a:xfrm>
            <a:off x="7620000" y="2000250"/>
            <a:ext cx="3962400" cy="685800"/>
            <a:chOff x="7620000" y="2000250"/>
            <a:chExt cx="3962400" cy="685800"/>
          </a:xfrm>
        </p:grpSpPr>
        <p:sp>
          <p:nvSpPr>
            <p:cNvPr id="37" name="Rectangle 37"/>
            <p:cNvSpPr/>
            <p:nvPr/>
          </p:nvSpPr>
          <p:spPr>
            <a:xfrm>
              <a:off x="7620000" y="2000250"/>
              <a:ext cx="3962400" cy="685800"/>
            </a:xfrm>
            <a:prstGeom prst="roundRect">
              <a:avLst>
                <a:gd name="adj" fmla="val 22222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15656" y="2225040"/>
              <a:ext cx="1593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中间维度 2432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1055350" y="2254250"/>
              <a:ext cx="177801" cy="177801"/>
              <a:chOff x="11055350" y="2254250"/>
              <a:chExt cx="177801" cy="17780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1055350" y="2254250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11113" y="0"/>
                    </a:moveTo>
                    <a:lnTo>
                      <a:pt x="166688" y="0"/>
                    </a:lnTo>
                    <a:cubicBezTo>
                      <a:pt x="172825" y="0"/>
                      <a:pt x="177801" y="4975"/>
                      <a:pt x="177801" y="11113"/>
                    </a:cubicBezTo>
                    <a:lnTo>
                      <a:pt x="177801" y="66675"/>
                    </a:lnTo>
                    <a:cubicBezTo>
                      <a:pt x="177801" y="72812"/>
                      <a:pt x="172825" y="77788"/>
                      <a:pt x="166688" y="77788"/>
                    </a:cubicBezTo>
                    <a:lnTo>
                      <a:pt x="88900" y="77788"/>
                    </a:lnTo>
                    <a:cubicBezTo>
                      <a:pt x="82763" y="77788"/>
                      <a:pt x="77788" y="82763"/>
                      <a:pt x="77788" y="88900"/>
                    </a:cubicBezTo>
                    <a:lnTo>
                      <a:pt x="77788" y="166688"/>
                    </a:lnTo>
                    <a:cubicBezTo>
                      <a:pt x="77788" y="172825"/>
                      <a:pt x="72812" y="177801"/>
                      <a:pt x="66675" y="177801"/>
                    </a:cubicBezTo>
                    <a:lnTo>
                      <a:pt x="11113" y="177801"/>
                    </a:lnTo>
                    <a:cubicBezTo>
                      <a:pt x="4975" y="177801"/>
                      <a:pt x="0" y="172825"/>
                      <a:pt x="0" y="16668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055350" y="229870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055350" y="2343150"/>
                <a:ext cx="333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9525">
                    <a:moveTo>
                      <a:pt x="0" y="0"/>
                    </a:moveTo>
                    <a:lnTo>
                      <a:pt x="3333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055350" y="2387601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099800" y="2254250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144250" y="2254250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188701" y="2254250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formula-intermediate"/>
              <p:cNvSpPr txBox="1">
                <a:spLocks noGrp="1"/>
              </p:cNvSpPr>
              <p:nvPr/>
            </p:nvSpPr>
            <p:spPr>
              <a:xfrm>
                <a:off x="7581900" y="2857500"/>
                <a:ext cx="4038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intermediate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⌈"/>
                          <m:sepChr m:val=""/>
                          <m:endChr m:val="⌉"/>
                          <m:grow m:val="on"/>
                          <m:ctrlP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768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64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3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64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2432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3" name="card-params"/>
          <p:cNvGrpSpPr/>
          <p:nvPr/>
        </p:nvGrpSpPr>
        <p:grpSpPr>
          <a:xfrm>
            <a:off x="7620000" y="3543300"/>
            <a:ext cx="3962400" cy="1398270"/>
            <a:chOff x="7620000" y="3543300"/>
            <a:chExt cx="3962400" cy="1398270"/>
          </a:xfrm>
        </p:grpSpPr>
        <p:sp>
          <p:nvSpPr>
            <p:cNvPr id="49" name="Rectangle 49"/>
            <p:cNvSpPr/>
            <p:nvPr/>
          </p:nvSpPr>
          <p:spPr>
            <a:xfrm>
              <a:off x="7620000" y="3543300"/>
              <a:ext cx="3962400" cy="1200150"/>
            </a:xfrm>
            <a:prstGeom prst="roundRect">
              <a:avLst>
                <a:gd name="adj" fmla="val 12698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15656" y="3577590"/>
              <a:ext cx="3314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参数大头：每层 5.6M / 7.4M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05750" y="3893820"/>
              <a:ext cx="145019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76%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41892" y="4292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占单层参数，超过 attention</a:t>
              </a:r>
            </a:p>
          </p:txBody>
        </p:sp>
      </p:grpSp>
      <p:grpSp>
        <p:nvGrpSpPr>
          <p:cNvPr id="58" name="card-mnemonic"/>
          <p:cNvGrpSpPr/>
          <p:nvPr/>
        </p:nvGrpSpPr>
        <p:grpSpPr>
          <a:xfrm>
            <a:off x="7620000" y="4895850"/>
            <a:ext cx="3962400" cy="1200150"/>
            <a:chOff x="7620000" y="4895850"/>
            <a:chExt cx="3962400" cy="1200150"/>
          </a:xfrm>
        </p:grpSpPr>
        <p:sp>
          <p:nvSpPr>
            <p:cNvPr id="54" name="Rectangle 54"/>
            <p:cNvSpPr/>
            <p:nvPr/>
          </p:nvSpPr>
          <p:spPr>
            <a:xfrm>
              <a:off x="7620000" y="4895850"/>
              <a:ext cx="3962400" cy="1200150"/>
            </a:xfrm>
            <a:prstGeom prst="roundRect">
              <a:avLst>
                <a:gd name="adj" fmla="val 12698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15656" y="50063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判断口诀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11055350" y="5035550"/>
              <a:ext cx="177801" cy="188913"/>
            </a:xfrm>
            <a:custGeom>
              <a:avLst/>
              <a:gdLst/>
              <a:ahLst/>
              <a:cxnLst/>
              <a:rect l="l" t="t" r="r" b="b"/>
              <a:pathLst>
                <a:path w="177801" h="188913">
                  <a:moveTo>
                    <a:pt x="0" y="0"/>
                  </a:moveTo>
                  <a:lnTo>
                    <a:pt x="177801" y="0"/>
                  </a:lnTo>
                  <a:lnTo>
                    <a:pt x="177801" y="24136"/>
                  </a:lnTo>
                  <a:cubicBezTo>
                    <a:pt x="177799" y="30030"/>
                    <a:pt x="175457" y="35683"/>
                    <a:pt x="171289" y="39850"/>
                  </a:cubicBezTo>
                  <a:lnTo>
                    <a:pt x="122238" y="88900"/>
                  </a:lnTo>
                  <a:lnTo>
                    <a:pt x="122238" y="166688"/>
                  </a:lnTo>
                  <a:lnTo>
                    <a:pt x="55563" y="188913"/>
                  </a:lnTo>
                  <a:lnTo>
                    <a:pt x="55563" y="94457"/>
                  </a:lnTo>
                  <a:lnTo>
                    <a:pt x="5779" y="39694"/>
                  </a:lnTo>
                  <a:cubicBezTo>
                    <a:pt x="2061" y="35604"/>
                    <a:pt x="1" y="30275"/>
                    <a:pt x="0" y="24748"/>
                  </a:cubicBezTo>
                  <a:lnTo>
                    <a:pt x="0" y="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17942" y="5435918"/>
              <a:ext cx="273977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谁接 SiLU 谁是 gate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up_proj 是内容，gate_proj 是开关</a:t>
              </a:r>
            </a:p>
          </p:txBody>
        </p:sp>
      </p:grpSp>
      <p:grpSp>
        <p:nvGrpSpPr>
          <p:cNvPr id="61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59" name="TextBox 59"/>
            <p:cNvSpPr txBox="1"/>
            <p:nvPr/>
          </p:nvSpPr>
          <p:spPr>
            <a:xfrm>
              <a:off x="907542" y="6445568"/>
              <a:ext cx="3759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3 站 · FFN · model_minimind.py:136–146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5515869" cy="616077"/>
            <a:chOff x="898398" y="822008"/>
            <a:chExt cx="551586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55158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两件胶水：残差与 RMSNorm</a:t>
              </a:r>
            </a:p>
          </p:txBody>
        </p:sp>
      </p:grpSp>
      <p:grpSp>
        <p:nvGrpSpPr>
          <p:cNvPr id="5" name="page-lead"/>
          <p:cNvGrpSpPr/>
          <p:nvPr/>
        </p:nvGrpSpPr>
        <p:grpSpPr>
          <a:xfrm>
            <a:off x="902970" y="1395412"/>
            <a:ext cx="7503509" cy="440055"/>
            <a:chOff x="902970" y="1395412"/>
            <a:chExt cx="7503509" cy="44005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95412"/>
              <a:ext cx="75035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残差提供梯度高速公路，RMSNorm 把数值拉回稳定区间</a:t>
              </a:r>
            </a:p>
          </p:txBody>
        </p:sp>
      </p:grpSp>
      <p:grpSp>
        <p:nvGrpSpPr>
          <p:cNvPr id="44" name="layer-block"/>
          <p:cNvGrpSpPr/>
          <p:nvPr/>
        </p:nvGrpSpPr>
        <p:grpSpPr>
          <a:xfrm>
            <a:off x="907542" y="1889760"/>
            <a:ext cx="5088056" cy="4153091"/>
            <a:chOff x="907542" y="1889760"/>
            <a:chExt cx="5088056" cy="4153091"/>
          </a:xfrm>
        </p:grpSpPr>
        <p:sp>
          <p:nvSpPr>
            <p:cNvPr id="6" name="TextBox 6"/>
            <p:cNvSpPr txBox="1"/>
            <p:nvPr/>
          </p:nvSpPr>
          <p:spPr>
            <a:xfrm>
              <a:off x="907542" y="1892618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 hidden_states (32, 340, 768)</a:t>
              </a:r>
            </a:p>
          </p:txBody>
        </p:sp>
        <p:grpSp>
          <p:nvGrpSpPr>
            <p:cNvPr id="10" name="blk-norm1"/>
            <p:cNvGrpSpPr/>
            <p:nvPr/>
          </p:nvGrpSpPr>
          <p:grpSpPr>
            <a:xfrm>
              <a:off x="914400" y="2152650"/>
              <a:ext cx="3086100" cy="562356"/>
              <a:chOff x="914400" y="2152650"/>
              <a:chExt cx="3086100" cy="562356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914400" y="2152650"/>
                <a:ext cx="30861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1B2C46"/>
              </a:solidFill>
              <a:ln w="9525">
                <a:solidFill>
                  <a:srgbClr val="2B3F60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133856" y="2225040"/>
                <a:ext cx="12190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RMSNorm①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6904" y="2480310"/>
                <a:ext cx="24111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input_layernorm · 182 → 189 行</a:t>
                </a:r>
              </a:p>
            </p:txBody>
          </p:sp>
        </p:grpSp>
        <p:sp>
          <p:nvSpPr>
            <p:cNvPr id="11" name="Line 11"/>
            <p:cNvSpPr/>
            <p:nvPr/>
          </p:nvSpPr>
          <p:spPr>
            <a:xfrm>
              <a:off x="2457450" y="2686050"/>
              <a:ext cx="1" cy="1143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5" name="blk-attn"/>
            <p:cNvGrpSpPr/>
            <p:nvPr/>
          </p:nvGrpSpPr>
          <p:grpSpPr>
            <a:xfrm>
              <a:off x="914400" y="2819400"/>
              <a:ext cx="3086100" cy="562356"/>
              <a:chOff x="914400" y="2819400"/>
              <a:chExt cx="3086100" cy="562356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14400" y="2819400"/>
                <a:ext cx="30861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1B2C46"/>
              </a:solidFill>
              <a:ln w="9525">
                <a:solidFill>
                  <a:srgbClr val="2B3F6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33856" y="2891790"/>
                <a:ext cx="17094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GQA Attention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904" y="3147060"/>
                <a:ext cx="22334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91–134 行 · 内部拆解见上一页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2457450" y="33528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457450" y="209550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18" name="Line 18"/>
            <p:cNvSpPr/>
            <p:nvPr/>
          </p:nvSpPr>
          <p:spPr>
            <a:xfrm>
              <a:off x="5334000" y="2095500"/>
              <a:ext cx="9525" cy="1485900"/>
            </a:xfrm>
            <a:custGeom>
              <a:avLst/>
              <a:gdLst/>
              <a:ahLst/>
              <a:cxnLst/>
              <a:rect l="l" t="t" r="r" b="b"/>
              <a:pathLst>
                <a:path w="9525" h="1485900">
                  <a:moveTo>
                    <a:pt x="0" y="0"/>
                  </a:moveTo>
                  <a:lnTo>
                    <a:pt x="0" y="14859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19" name="Line 19"/>
            <p:cNvSpPr/>
            <p:nvPr/>
          </p:nvSpPr>
          <p:spPr>
            <a:xfrm flipH="1">
              <a:off x="2647950" y="3581400"/>
              <a:ext cx="26860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53994" y="1889760"/>
              <a:ext cx="1771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捷径① 在 Norm 之前分出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2286000" y="3409950"/>
              <a:ext cx="342900" cy="3429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343150" y="35814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457450" y="34671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457450" y="37528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457450" y="375285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26" name="Line 26"/>
            <p:cNvSpPr/>
            <p:nvPr/>
          </p:nvSpPr>
          <p:spPr>
            <a:xfrm>
              <a:off x="4762500" y="3752850"/>
              <a:ext cx="9525" cy="1581150"/>
            </a:xfrm>
            <a:custGeom>
              <a:avLst/>
              <a:gdLst/>
              <a:ahLst/>
              <a:cxnLst/>
              <a:rect l="l" t="t" r="r" b="b"/>
              <a:pathLst>
                <a:path w="9525" h="1581150">
                  <a:moveTo>
                    <a:pt x="0" y="0"/>
                  </a:moveTo>
                  <a:lnTo>
                    <a:pt x="0" y="15811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27" name="Line 27"/>
            <p:cNvSpPr/>
            <p:nvPr/>
          </p:nvSpPr>
          <p:spPr>
            <a:xfrm flipH="1">
              <a:off x="2647950" y="5334000"/>
              <a:ext cx="21145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tailEnd type="triangle" w="lg" len="lg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99359" y="3547110"/>
              <a:ext cx="1554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捷径② 从 ⊕① 之后分出</a:t>
              </a:r>
            </a:p>
          </p:txBody>
        </p:sp>
        <p:grpSp>
          <p:nvGrpSpPr>
            <p:cNvPr id="32" name="blk-norm2"/>
            <p:cNvGrpSpPr/>
            <p:nvPr/>
          </p:nvGrpSpPr>
          <p:grpSpPr>
            <a:xfrm>
              <a:off x="914400" y="3905250"/>
              <a:ext cx="3433267" cy="562356"/>
              <a:chOff x="914400" y="3905250"/>
              <a:chExt cx="3433267" cy="562356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914400" y="3905250"/>
                <a:ext cx="30861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1B2C46"/>
              </a:solidFill>
              <a:ln w="9525">
                <a:solidFill>
                  <a:srgbClr val="2B3F60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133856" y="3977640"/>
                <a:ext cx="12190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RMSNorm②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36904" y="4232910"/>
                <a:ext cx="32107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post_attention_layernorm · 183 → 193 行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2457450" y="4438650"/>
              <a:ext cx="1" cy="1143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7" name="blk-ffn"/>
            <p:cNvGrpSpPr/>
            <p:nvPr/>
          </p:nvGrpSpPr>
          <p:grpSpPr>
            <a:xfrm>
              <a:off x="914400" y="4572000"/>
              <a:ext cx="3086100" cy="562356"/>
              <a:chOff x="914400" y="4572000"/>
              <a:chExt cx="3086100" cy="562356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914400" y="4572000"/>
                <a:ext cx="30861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1B2C46"/>
              </a:solidFill>
              <a:ln w="9525">
                <a:solidFill>
                  <a:srgbClr val="2B3F6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133856" y="4644390"/>
                <a:ext cx="13338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SwiGLU FFN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136904" y="4899660"/>
                <a:ext cx="24191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gate / up / down · 136 → 146 行</a:t>
                </a: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2457450" y="51054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2286000" y="5162550"/>
              <a:ext cx="342900" cy="3429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2343150" y="53340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2457450" y="52197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457450" y="5505450"/>
              <a:ext cx="1" cy="1714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7542" y="5778818"/>
              <a:ext cx="50880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一层：x = x + Attention(Norm(x)) → x = x + FFN(Norm(x))</a:t>
              </a:r>
            </a:p>
          </p:txBody>
        </p:sp>
      </p:grpSp>
      <p:grpSp>
        <p:nvGrpSpPr>
          <p:cNvPr id="58" name="card-rmsnorm"/>
          <p:cNvGrpSpPr/>
          <p:nvPr/>
        </p:nvGrpSpPr>
        <p:grpSpPr>
          <a:xfrm>
            <a:off x="6248400" y="1905000"/>
            <a:ext cx="5334000" cy="990600"/>
            <a:chOff x="6248400" y="1905000"/>
            <a:chExt cx="5334000" cy="990600"/>
          </a:xfrm>
        </p:grpSpPr>
        <p:sp>
          <p:nvSpPr>
            <p:cNvPr id="45" name="Rectangle 45"/>
            <p:cNvSpPr/>
            <p:nvPr/>
          </p:nvSpPr>
          <p:spPr>
            <a:xfrm>
              <a:off x="6248400" y="1905000"/>
              <a:ext cx="5334000" cy="990600"/>
            </a:xfrm>
            <a:prstGeom prst="roundRect">
              <a:avLst>
                <a:gd name="adj" fmla="val 15385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44056" y="2091690"/>
              <a:ext cx="27776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RMSNorm：只除以均方根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11055350" y="2159000"/>
              <a:ext cx="177801" cy="177801"/>
              <a:chOff x="11055350" y="2159000"/>
              <a:chExt cx="177801" cy="17780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11055350" y="22034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077575" y="21590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077575" y="2247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122025" y="22701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144250" y="215900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1144250" y="2314576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188701" y="217011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10926" y="2159000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0"/>
                    </a:move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210926" y="2214563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0"/>
                    </a:moveTo>
                    <a:lnTo>
                      <a:pt x="0" y="1222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546342" y="25022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不减均值、不带偏置，更快更省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formula-rmsnorm"/>
              <p:cNvSpPr txBox="1">
                <a:spLocks noGrp="1"/>
              </p:cNvSpPr>
              <p:nvPr/>
            </p:nvSpPr>
            <p:spPr>
              <a:xfrm>
                <a:off x="6210300" y="3009900"/>
                <a:ext cx="54102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RMSNorm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D8E3F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⊙</m:t>
                          </m:r>
                          <m:r>
                            <a:rPr lang="zh-CN" sz="1350" dirty="0">
                              <a:solidFill>
                                <a:srgbClr val="D8E3F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D8E3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D8E3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mean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D8E3F2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D8E3F2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D8E3F2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D8E3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D8E3F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66" name="card-three-norms"/>
          <p:cNvGrpSpPr/>
          <p:nvPr/>
        </p:nvGrpSpPr>
        <p:grpSpPr>
          <a:xfrm>
            <a:off x="6248400" y="3886200"/>
            <a:ext cx="5334000" cy="1295400"/>
            <a:chOff x="6248400" y="3886200"/>
            <a:chExt cx="5334000" cy="1295400"/>
          </a:xfrm>
        </p:grpSpPr>
        <p:sp>
          <p:nvSpPr>
            <p:cNvPr id="60" name="Rectangle 60"/>
            <p:cNvSpPr/>
            <p:nvPr/>
          </p:nvSpPr>
          <p:spPr>
            <a:xfrm>
              <a:off x="6248400" y="3886200"/>
              <a:ext cx="5334000" cy="1295400"/>
            </a:xfrm>
            <a:prstGeom prst="roundRect">
              <a:avLst>
                <a:gd name="adj" fmla="val 11765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44056" y="4034790"/>
              <a:ext cx="21356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片中出现三种 Norm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11055350" y="4102100"/>
              <a:ext cx="177800" cy="177800"/>
              <a:chOff x="11055350" y="4102100"/>
              <a:chExt cx="177800" cy="177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1099800" y="41021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1055350" y="41465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547104" y="4442460"/>
              <a:ext cx="32887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每层 2 个 Pre-Norm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attention 内部 QK-Norm（104–105 → 117 行）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最后全局 1 个（204 → 230 行）</a:t>
              </a:r>
            </a:p>
          </p:txBody>
        </p:sp>
      </p:grpSp>
      <p:grpSp>
        <p:nvGrpSpPr>
          <p:cNvPr id="70" name="band-pitfall"/>
          <p:cNvGrpSpPr/>
          <p:nvPr/>
        </p:nvGrpSpPr>
        <p:grpSpPr>
          <a:xfrm>
            <a:off x="6248400" y="5410200"/>
            <a:ext cx="5334000" cy="723900"/>
            <a:chOff x="6248400" y="5410200"/>
            <a:chExt cx="5334000" cy="723900"/>
          </a:xfrm>
        </p:grpSpPr>
        <p:sp>
          <p:nvSpPr>
            <p:cNvPr id="67" name="Rectangle 67"/>
            <p:cNvSpPr/>
            <p:nvPr/>
          </p:nvSpPr>
          <p:spPr>
            <a:xfrm>
              <a:off x="6248400" y="5410200"/>
              <a:ext cx="53340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44056" y="5539740"/>
              <a:ext cx="31320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⚠ 捷径②的起点不是最初输入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46342" y="5855018"/>
              <a:ext cx="4329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而是 ⊕① 的输出（192 行之后）——两条捷径是接力关系</a:t>
              </a:r>
            </a:p>
          </p:txBody>
        </p:sp>
      </p:grpSp>
      <p:grpSp>
        <p:nvGrpSpPr>
          <p:cNvPr id="73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71" name="TextBox 71"/>
            <p:cNvSpPr txBox="1"/>
            <p:nvPr/>
          </p:nvSpPr>
          <p:spPr>
            <a:xfrm>
              <a:off x="907542" y="6445568"/>
              <a:ext cx="4520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3 站 · 残差与归一化 · model_minimind.py:178–194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6771266" cy="616077"/>
            <a:chOff x="898398" y="822008"/>
            <a:chExt cx="677126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67712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 层堆叠：浅层学语法，深层学模式</a:t>
              </a:r>
            </a:p>
          </p:txBody>
        </p:sp>
      </p:grpSp>
      <p:grpSp>
        <p:nvGrpSpPr>
          <p:cNvPr id="6" name="page-lead"/>
          <p:cNvGrpSpPr/>
          <p:nvPr/>
        </p:nvGrpSpPr>
        <p:grpSpPr>
          <a:xfrm>
            <a:off x="902970" y="1338262"/>
            <a:ext cx="10027005" cy="646939"/>
            <a:chOff x="902970" y="1338262"/>
            <a:chExt cx="10027005" cy="646939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38262"/>
              <a:ext cx="82767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每层输出即下一层输入，形状不变；出口把 768 维映射到词表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7542" y="1721168"/>
              <a:ext cx="10022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MoE 分支：use_moe=True 时 FFN 换成 MOEFeedForward，对 4 个专家打分、每 token 只激活 top-1，对外形状完全不变</a:t>
              </a:r>
            </a:p>
          </p:txBody>
        </p:sp>
      </p:grpSp>
      <p:grpSp>
        <p:nvGrpSpPr>
          <p:cNvPr id="14" name="band-shallow"/>
          <p:cNvGrpSpPr/>
          <p:nvPr/>
        </p:nvGrpSpPr>
        <p:grpSpPr>
          <a:xfrm>
            <a:off x="914400" y="2247900"/>
            <a:ext cx="2590800" cy="2228850"/>
            <a:chOff x="914400" y="2247900"/>
            <a:chExt cx="2590800" cy="2228850"/>
          </a:xfrm>
        </p:grpSpPr>
        <p:sp>
          <p:nvSpPr>
            <p:cNvPr id="7" name="Rectangle 7"/>
            <p:cNvSpPr/>
            <p:nvPr/>
          </p:nvSpPr>
          <p:spPr>
            <a:xfrm>
              <a:off x="914400" y="2247900"/>
              <a:ext cx="2590800" cy="2228850"/>
            </a:xfrm>
            <a:prstGeom prst="roundRect">
              <a:avLst>
                <a:gd name="adj" fmla="val 6838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3856" y="2453640"/>
              <a:ext cx="12838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L1–L2 浅层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6142" y="2787968"/>
              <a:ext cx="17282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局部语法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搭配、词性、短语边界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390900"/>
              <a:ext cx="21336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97329" y="35023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43000" y="3886200"/>
              <a:ext cx="21336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97329" y="39976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</p:grpSp>
      <p:grpSp>
        <p:nvGrpSpPr>
          <p:cNvPr id="26" name="band-mid"/>
          <p:cNvGrpSpPr/>
          <p:nvPr/>
        </p:nvGrpSpPr>
        <p:grpSpPr>
          <a:xfrm>
            <a:off x="3657600" y="2247900"/>
            <a:ext cx="5181600" cy="2228850"/>
            <a:chOff x="3657600" y="2247900"/>
            <a:chExt cx="5181600" cy="2228850"/>
          </a:xfrm>
        </p:grpSpPr>
        <p:sp>
          <p:nvSpPr>
            <p:cNvPr id="15" name="Rectangle 15"/>
            <p:cNvSpPr/>
            <p:nvPr/>
          </p:nvSpPr>
          <p:spPr>
            <a:xfrm>
              <a:off x="3657600" y="2247900"/>
              <a:ext cx="5181600" cy="2228850"/>
            </a:xfrm>
            <a:prstGeom prst="roundRect">
              <a:avLst>
                <a:gd name="adj" fmla="val 6838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77056" y="2453640"/>
              <a:ext cx="12838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L3–L6 中层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79342" y="2787968"/>
              <a:ext cx="15567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语义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指代消解、句内逻辑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86200" y="3390900"/>
              <a:ext cx="22479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97679" y="35023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62700" y="3390900"/>
              <a:ext cx="22479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74179" y="35023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86200" y="3886200"/>
              <a:ext cx="22479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897679" y="39976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362700" y="3886200"/>
              <a:ext cx="22479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74179" y="39976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L6</a:t>
              </a:r>
            </a:p>
          </p:txBody>
        </p:sp>
      </p:grpSp>
      <p:grpSp>
        <p:nvGrpSpPr>
          <p:cNvPr id="34" name="band-deep"/>
          <p:cNvGrpSpPr/>
          <p:nvPr/>
        </p:nvGrpSpPr>
        <p:grpSpPr>
          <a:xfrm>
            <a:off x="8991600" y="2247900"/>
            <a:ext cx="2590800" cy="2228850"/>
            <a:chOff x="8991600" y="2247900"/>
            <a:chExt cx="2590800" cy="2228850"/>
          </a:xfrm>
        </p:grpSpPr>
        <p:sp>
          <p:nvSpPr>
            <p:cNvPr id="27" name="Rectangle 27"/>
            <p:cNvSpPr/>
            <p:nvPr/>
          </p:nvSpPr>
          <p:spPr>
            <a:xfrm>
              <a:off x="8991600" y="2247900"/>
              <a:ext cx="2590800" cy="2228850"/>
            </a:xfrm>
            <a:prstGeom prst="roundRect">
              <a:avLst>
                <a:gd name="adj" fmla="val 6838"/>
              </a:avLst>
            </a:prstGeom>
            <a:solidFill>
              <a:srgbClr val="1B2C46"/>
            </a:solidFill>
            <a:ln w="9525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11056" y="2453640"/>
              <a:ext cx="12838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L7–L8 深层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13342" y="2787968"/>
              <a:ext cx="18996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任务级模式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风格、推理链、输出格式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220200" y="3390900"/>
              <a:ext cx="21336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174529" y="35023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20200" y="3886200"/>
              <a:ext cx="21336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174529" y="3997642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L8</a:t>
              </a:r>
            </a:p>
          </p:txBody>
        </p:sp>
      </p:grpSp>
      <p:grpSp>
        <p:nvGrpSpPr>
          <p:cNvPr id="52" name="exit-flow"/>
          <p:cNvGrpSpPr/>
          <p:nvPr/>
        </p:nvGrpSpPr>
        <p:grpSpPr>
          <a:xfrm>
            <a:off x="914400" y="5029200"/>
            <a:ext cx="10668000" cy="1114806"/>
            <a:chOff x="914400" y="5029200"/>
            <a:chExt cx="10668000" cy="1114806"/>
          </a:xfrm>
        </p:grpSpPr>
        <p:sp>
          <p:nvSpPr>
            <p:cNvPr id="35" name="Rectangle 35"/>
            <p:cNvSpPr/>
            <p:nvPr/>
          </p:nvSpPr>
          <p:spPr>
            <a:xfrm>
              <a:off x="914400" y="5029200"/>
              <a:ext cx="10668000" cy="10668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 w="9525">
              <a:solidFill>
                <a:srgbClr val="2B3F6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143000" y="5257800"/>
              <a:ext cx="2266950" cy="609600"/>
            </a:xfrm>
            <a:prstGeom prst="roundRect">
              <a:avLst>
                <a:gd name="adj" fmla="val 25000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88542" y="5397818"/>
              <a:ext cx="1230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 RMSNorm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89304" y="562356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230 行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3409950" y="5562600"/>
              <a:ext cx="3429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790950" y="5257800"/>
              <a:ext cx="2266950" cy="609600"/>
            </a:xfrm>
            <a:prstGeom prst="roundRect">
              <a:avLst>
                <a:gd name="adj" fmla="val 25000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936492" y="5397818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lm_head 输出头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37254" y="56235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241 / 248 行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57900" y="5562600"/>
              <a:ext cx="3429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38900" y="5257800"/>
              <a:ext cx="2266950" cy="609600"/>
            </a:xfrm>
            <a:prstGeom prst="roundRect">
              <a:avLst>
                <a:gd name="adj" fmla="val 25000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84442" y="5397818"/>
              <a:ext cx="1422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(32, 340, 6400)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85204" y="5623560"/>
              <a:ext cx="1385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6400 个词各打一分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705850" y="5562600"/>
              <a:ext cx="3429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086850" y="5257800"/>
              <a:ext cx="2266950" cy="609600"/>
            </a:xfrm>
            <a:prstGeom prst="roundRect">
              <a:avLst>
                <a:gd name="adj" fmla="val 25000"/>
              </a:avLst>
            </a:prstGeom>
            <a:solidFill>
              <a:srgbClr val="1B2C46"/>
            </a:solidFill>
            <a:ln w="9525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32392" y="53978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交叉熵 loss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33154" y="5623560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i 个预测第 i+1 个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6904" y="5909310"/>
              <a:ext cx="3453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labels 中 pad=-100 的位置不计 loss（252 行）</a:t>
              </a:r>
            </a:p>
          </p:txBody>
        </p:sp>
      </p:grpSp>
      <p:grpSp>
        <p:nvGrpSpPr>
          <p:cNvPr id="55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53" name="TextBox 53"/>
            <p:cNvSpPr txBox="1"/>
            <p:nvPr/>
          </p:nvSpPr>
          <p:spPr>
            <a:xfrm>
              <a:off x="907542" y="6445568"/>
              <a:ext cx="4675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3 站 · 8 层堆叠与出口 · model_minimind.py:221–253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6816852" cy="616077"/>
            <a:chOff x="898398" y="822008"/>
            <a:chExt cx="681685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训练与推理：同一套代码，两种走法</a:t>
              </a:r>
            </a:p>
          </p:txBody>
        </p:sp>
      </p:grpSp>
      <p:grpSp>
        <p:nvGrpSpPr>
          <p:cNvPr id="5" name="page-lead"/>
          <p:cNvGrpSpPr/>
          <p:nvPr/>
        </p:nvGrpSpPr>
        <p:grpSpPr>
          <a:xfrm>
            <a:off x="902970" y="1395412"/>
            <a:ext cx="8519065" cy="440055"/>
            <a:chOff x="902970" y="1395412"/>
            <a:chExt cx="8519065" cy="44005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95412"/>
              <a:ext cx="85190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同一份前向代码，训练一次喂全句，推理一次只喂一个新 token</a:t>
              </a:r>
            </a:p>
          </p:txBody>
        </p:sp>
      </p:grpSp>
      <p:grpSp>
        <p:nvGrpSpPr>
          <p:cNvPr id="7" name="row-label-1"/>
          <p:cNvGrpSpPr/>
          <p:nvPr/>
        </p:nvGrpSpPr>
        <p:grpSpPr>
          <a:xfrm>
            <a:off x="905256" y="2777490"/>
            <a:ext cx="987552" cy="352044"/>
            <a:chOff x="905256" y="2777490"/>
            <a:chExt cx="987552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905256" y="2777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输入形状</a:t>
              </a:r>
            </a:p>
          </p:txBody>
        </p:sp>
      </p:grpSp>
      <p:grpSp>
        <p:nvGrpSpPr>
          <p:cNvPr id="9" name="row-label-2"/>
          <p:cNvGrpSpPr/>
          <p:nvPr/>
        </p:nvGrpSpPr>
        <p:grpSpPr>
          <a:xfrm>
            <a:off x="905256" y="3387090"/>
            <a:ext cx="1134428" cy="352044"/>
            <a:chOff x="905256" y="3387090"/>
            <a:chExt cx="1134428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905256" y="3387090"/>
              <a:ext cx="11344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RoPE 切片</a:t>
              </a:r>
            </a:p>
          </p:txBody>
        </p:sp>
      </p:grpSp>
      <p:grpSp>
        <p:nvGrpSpPr>
          <p:cNvPr id="11" name="row-label-3"/>
          <p:cNvGrpSpPr/>
          <p:nvPr/>
        </p:nvGrpSpPr>
        <p:grpSpPr>
          <a:xfrm>
            <a:off x="905256" y="3996690"/>
            <a:ext cx="1508531" cy="352044"/>
            <a:chOff x="905256" y="3996690"/>
            <a:chExt cx="1508531" cy="352044"/>
          </a:xfrm>
        </p:grpSpPr>
        <p:sp>
          <p:nvSpPr>
            <p:cNvPr id="10" name="TextBox 10"/>
            <p:cNvSpPr txBox="1"/>
            <p:nvPr/>
          </p:nvSpPr>
          <p:spPr>
            <a:xfrm>
              <a:off x="905256" y="3996690"/>
              <a:ext cx="1508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present 返回</a:t>
              </a:r>
            </a:p>
          </p:txBody>
        </p:sp>
      </p:grpSp>
      <p:grpSp>
        <p:nvGrpSpPr>
          <p:cNvPr id="13" name="row-label-4"/>
          <p:cNvGrpSpPr/>
          <p:nvPr/>
        </p:nvGrpSpPr>
        <p:grpSpPr>
          <a:xfrm>
            <a:off x="905256" y="4606290"/>
            <a:ext cx="1574042" cy="352044"/>
            <a:chOff x="905256" y="4606290"/>
            <a:chExt cx="1574042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905256" y="4606290"/>
              <a:ext cx="1574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SoftMax 用途</a:t>
              </a:r>
            </a:p>
          </p:txBody>
        </p:sp>
      </p:grpSp>
      <p:grpSp>
        <p:nvGrpSpPr>
          <p:cNvPr id="22" name="col-train"/>
          <p:cNvGrpSpPr/>
          <p:nvPr/>
        </p:nvGrpSpPr>
        <p:grpSpPr>
          <a:xfrm>
            <a:off x="2743200" y="1905000"/>
            <a:ext cx="4114800" cy="3013901"/>
            <a:chOff x="2743200" y="1905000"/>
            <a:chExt cx="4114800" cy="3013901"/>
          </a:xfrm>
        </p:grpSpPr>
        <p:sp>
          <p:nvSpPr>
            <p:cNvPr id="14" name="Rectangle 14"/>
            <p:cNvSpPr/>
            <p:nvPr/>
          </p:nvSpPr>
          <p:spPr>
            <a:xfrm>
              <a:off x="2743200" y="1905000"/>
              <a:ext cx="4114800" cy="3009900"/>
            </a:xfrm>
            <a:prstGeom prst="roundRect">
              <a:avLst>
                <a:gd name="adj" fmla="val 5063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027363" y="2166938"/>
              <a:ext cx="155575" cy="200026"/>
            </a:xfrm>
            <a:custGeom>
              <a:avLst/>
              <a:gdLst/>
              <a:ahLst/>
              <a:cxnLst/>
              <a:rect l="l" t="t" r="r" b="b"/>
              <a:pathLst>
                <a:path w="155575" h="200026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6"/>
                  </a:lnTo>
                  <a:lnTo>
                    <a:pt x="66675" y="122238"/>
                  </a:lnTo>
                  <a:lnTo>
                    <a:pt x="0" y="122238"/>
                  </a:lnTo>
                  <a:lnTo>
                    <a:pt x="88900" y="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43656" y="21678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训练：一次喂全句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971800" y="25908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64942" y="2826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(32, 340) 全序列并行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64942" y="3435668"/>
              <a:ext cx="2523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Forcing，直接拿答案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64942" y="4045268"/>
              <a:ext cx="2745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不用 KV 缓存（present = None）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64942" y="46548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融合在交叉熵里，数值稳定</a:t>
              </a:r>
            </a:p>
          </p:txBody>
        </p:sp>
      </p:grpSp>
      <p:grpSp>
        <p:nvGrpSpPr>
          <p:cNvPr id="33" name="col-infer"/>
          <p:cNvGrpSpPr/>
          <p:nvPr/>
        </p:nvGrpSpPr>
        <p:grpSpPr>
          <a:xfrm>
            <a:off x="7010400" y="1905000"/>
            <a:ext cx="4572000" cy="3013901"/>
            <a:chOff x="7010400" y="1905000"/>
            <a:chExt cx="4572000" cy="3013901"/>
          </a:xfrm>
        </p:grpSpPr>
        <p:sp>
          <p:nvSpPr>
            <p:cNvPr id="23" name="Rectangle 23"/>
            <p:cNvSpPr/>
            <p:nvPr/>
          </p:nvSpPr>
          <p:spPr>
            <a:xfrm>
              <a:off x="7010400" y="1905000"/>
              <a:ext cx="4572000" cy="3009900"/>
            </a:xfrm>
            <a:prstGeom prst="roundRect">
              <a:avLst>
                <a:gd name="adj" fmla="val 5063"/>
              </a:avLst>
            </a:prstGeom>
            <a:solidFill>
              <a:srgbClr val="1B2C46"/>
            </a:solidFill>
            <a:ln w="9525">
              <a:solidFill>
                <a:schemeClr val="accent2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72338" y="2166938"/>
              <a:ext cx="200026" cy="200026"/>
              <a:chOff x="7272338" y="216693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272338" y="2166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372350" y="221138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610856" y="21678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推理：每步只喂一个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239000" y="25908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2142" y="2826068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(32, 1) 每步只喂一个新 token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2142" y="3435668"/>
              <a:ext cx="3567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RoPE 只取 (1, 96) 切片，start_pos = t-1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2142" y="4045268"/>
              <a:ext cx="2208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存 K/V 进缓存，每步 +1 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32142" y="46548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显式 softmax 后采样</a:t>
              </a:r>
            </a:p>
          </p:txBody>
        </p:sp>
      </p:grpSp>
      <p:grpSp>
        <p:nvGrpSpPr>
          <p:cNvPr id="37" name="bottom-band"/>
          <p:cNvGrpSpPr/>
          <p:nvPr/>
        </p:nvGrpSpPr>
        <p:grpSpPr>
          <a:xfrm>
            <a:off x="914400" y="5124450"/>
            <a:ext cx="10668000" cy="1009650"/>
            <a:chOff x="914400" y="5124450"/>
            <a:chExt cx="10668000" cy="1009650"/>
          </a:xfrm>
        </p:grpSpPr>
        <p:sp>
          <p:nvSpPr>
            <p:cNvPr id="34" name="Rectangle 34"/>
            <p:cNvSpPr/>
            <p:nvPr/>
          </p:nvSpPr>
          <p:spPr>
            <a:xfrm>
              <a:off x="914400" y="5124450"/>
              <a:ext cx="10668000" cy="1009650"/>
            </a:xfrm>
            <a:prstGeom prst="roundRect">
              <a:avLst>
                <a:gd name="adj" fmla="val 15094"/>
              </a:avLst>
            </a:prstGeom>
            <a:solidFill>
              <a:schemeClr val="lt2"/>
            </a:solidFill>
            <a:ln w="9525">
              <a:solidFill>
                <a:srgbClr val="2B3F6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12342" y="5340668"/>
              <a:ext cx="705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Prefill 一次吃下整个 prompt，缓存诞生；Decode 每步只喂 1 个新 token，缓存 +1 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12342" y="5702618"/>
              <a:ext cx="8101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采样只看最后一个位置：logits_to_keep = 1（247 行）——前面位置的预测是训练时算 loss 的副产品</a:t>
              </a:r>
            </a:p>
          </p:txBody>
        </p:sp>
      </p:grpSp>
      <p:grpSp>
        <p:nvGrpSpPr>
          <p:cNvPr id="40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907542" y="6445568"/>
              <a:ext cx="4466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4 站 · 训练 vs 推理 · model_minimind.py:209–285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7223703" cy="616077"/>
            <a:chOff x="898398" y="822008"/>
            <a:chExt cx="722370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72237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KV Cache：历史 K/V 为什么不必重算</a:t>
              </a:r>
            </a:p>
          </p:txBody>
        </p:sp>
      </p:grpSp>
      <p:grpSp>
        <p:nvGrpSpPr>
          <p:cNvPr id="5" name="page-lead"/>
          <p:cNvGrpSpPr/>
          <p:nvPr/>
        </p:nvGrpSpPr>
        <p:grpSpPr>
          <a:xfrm>
            <a:off x="902970" y="1395412"/>
            <a:ext cx="8931116" cy="440055"/>
            <a:chOff x="902970" y="1395412"/>
            <a:chExt cx="8931116" cy="44005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95412"/>
              <a:ext cx="8931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K/V 只由 token 自己的内容加自己的位置决定，历史部分不必重算</a:t>
              </a:r>
            </a:p>
          </p:txBody>
        </p:sp>
      </p:grpSp>
      <p:grpSp>
        <p:nvGrpSpPr>
          <p:cNvPr id="46" name="kv-cache-evolution"/>
          <p:cNvGrpSpPr/>
          <p:nvPr/>
        </p:nvGrpSpPr>
        <p:grpSpPr>
          <a:xfrm>
            <a:off x="914400" y="1905000"/>
            <a:ext cx="10668000" cy="1743456"/>
            <a:chOff x="914400" y="1905000"/>
            <a:chExt cx="10668000" cy="1743456"/>
          </a:xfrm>
        </p:grpSpPr>
        <p:sp>
          <p:nvSpPr>
            <p:cNvPr id="6" name="Rectangle 6"/>
            <p:cNvSpPr/>
            <p:nvPr/>
          </p:nvSpPr>
          <p:spPr>
            <a:xfrm>
              <a:off x="914400" y="19050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5385" y="20516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23135" y="20516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18104" y="20516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99483" y="205168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start_pos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22633" y="2051685"/>
              <a:ext cx="7562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切片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71639" y="2051685"/>
              <a:ext cx="668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新算 K/V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33841" y="20516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缓存形状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05238" y="20516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打分阵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38510" y="20516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采样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" y="23431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14400" y="28003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" y="32575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92504" y="2499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32261" y="2499360"/>
              <a:ext cx="517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Prefill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18104" y="2499360"/>
              <a:ext cx="1509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[BOS,我,爱] (1,3)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54879" y="2499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72556" y="24993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[0:3]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55358" y="249936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(1,3,4,96)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90471" y="2499360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(1,3,4,96)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47733" y="24993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(1,8,3,3)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19282" y="2499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92504" y="29565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15617" y="2956560"/>
              <a:ext cx="55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Decode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18104" y="29565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[天] (1,1)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54879" y="29565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72556" y="29565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[3:4]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55358" y="295656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(1,1,4,96)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90471" y="2956560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(1,4,4,96)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7733" y="29565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(1,8,1,4)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19282" y="29565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92504" y="3413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15617" y="3413760"/>
              <a:ext cx="55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Decode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18104" y="34137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[空] (1,1)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54879" y="3413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72556" y="34137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[4:5]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55358" y="341376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(1,1,4,96)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90471" y="3413760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(1,5,4,96)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47733" y="34137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(1,8,1,5)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42168" y="34137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EOS</a:t>
              </a:r>
            </a:p>
          </p:txBody>
        </p:sp>
      </p:grpSp>
      <p:grpSp>
        <p:nvGrpSpPr>
          <p:cNvPr id="48" name="timing-note"/>
          <p:cNvGrpSpPr/>
          <p:nvPr/>
        </p:nvGrpSpPr>
        <p:grpSpPr>
          <a:xfrm>
            <a:off x="908304" y="3909060"/>
            <a:ext cx="7078392" cy="234696"/>
            <a:chOff x="908304" y="3909060"/>
            <a:chExt cx="7078392" cy="234696"/>
          </a:xfrm>
        </p:grpSpPr>
        <p:sp>
          <p:nvSpPr>
            <p:cNvPr id="47" name="TextBox 47"/>
            <p:cNvSpPr txBox="1"/>
            <p:nvPr/>
          </p:nvSpPr>
          <p:spPr>
            <a:xfrm>
              <a:off x="908304" y="3909060"/>
              <a:ext cx="7078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Prefill 受 compute 限制，Decode 受 memory bandwidth 限制——vLLM / SGLang 优化的是这一段</a:t>
              </a:r>
            </a:p>
          </p:txBody>
        </p:sp>
      </p:grpSp>
      <p:grpSp>
        <p:nvGrpSpPr>
          <p:cNvPr id="56" name="card-why"/>
          <p:cNvGrpSpPr/>
          <p:nvPr/>
        </p:nvGrpSpPr>
        <p:grpSpPr>
          <a:xfrm>
            <a:off x="914400" y="4248150"/>
            <a:ext cx="5334000" cy="1924050"/>
            <a:chOff x="914400" y="4248150"/>
            <a:chExt cx="5334000" cy="1924050"/>
          </a:xfrm>
        </p:grpSpPr>
        <p:sp>
          <p:nvSpPr>
            <p:cNvPr id="49" name="Rectangle 49"/>
            <p:cNvSpPr/>
            <p:nvPr/>
          </p:nvSpPr>
          <p:spPr>
            <a:xfrm>
              <a:off x="914400" y="4248150"/>
              <a:ext cx="5334000" cy="1924050"/>
            </a:xfrm>
            <a:prstGeom prst="roundRect">
              <a:avLst>
                <a:gd name="adj" fmla="val 7921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210056" y="4377690"/>
              <a:ext cx="27752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为什么历史 K/V 不必重算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5721350" y="4395788"/>
              <a:ext cx="177801" cy="200025"/>
              <a:chOff x="5721350" y="4395788"/>
              <a:chExt cx="177801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721350" y="43957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721350" y="44291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721350" y="44958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212342" y="4673918"/>
              <a:ext cx="4479988" cy="14546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K_我 = Linear(Norm(embed[我] + 位置 1 的旋转))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只由内容与位置决定——内容没变，K/V 就不变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缓存里存的是旋转后的 K（119 行旋转 → 120–123 行 cat）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缓存正本是 4 头版本（cat 在 repeat_kv 之前）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GQA 的显存收益由此兑现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decode 时打分阵只有 1 行，因果性天然成立</a:t>
              </a:r>
            </a:p>
          </p:txBody>
        </p:sp>
      </p:grpSp>
      <p:grpSp>
        <p:nvGrpSpPr>
          <p:cNvPr id="61" name="card-bills"/>
          <p:cNvGrpSpPr/>
          <p:nvPr/>
        </p:nvGrpSpPr>
        <p:grpSpPr>
          <a:xfrm>
            <a:off x="6400800" y="4248150"/>
            <a:ext cx="5181600" cy="1924050"/>
            <a:chOff x="6400800" y="4248150"/>
            <a:chExt cx="5181600" cy="1924050"/>
          </a:xfrm>
        </p:grpSpPr>
        <p:sp>
          <p:nvSpPr>
            <p:cNvPr id="57" name="Rectangle 57"/>
            <p:cNvSpPr/>
            <p:nvPr/>
          </p:nvSpPr>
          <p:spPr>
            <a:xfrm>
              <a:off x="6400800" y="4248150"/>
              <a:ext cx="5181600" cy="1924050"/>
            </a:xfrm>
            <a:prstGeom prst="roundRect">
              <a:avLst>
                <a:gd name="adj" fmla="val 7921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6456" y="4377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两张账单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11066463" y="4395788"/>
              <a:ext cx="155575" cy="200026"/>
            </a:xfrm>
            <a:custGeom>
              <a:avLst/>
              <a:gdLst/>
              <a:ahLst/>
              <a:cxnLst/>
              <a:rect l="l" t="t" r="r" b="b"/>
              <a:pathLst>
                <a:path w="155575" h="200026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6"/>
                  </a:lnTo>
                  <a:lnTo>
                    <a:pt x="66675" y="122238"/>
                  </a:lnTo>
                  <a:lnTo>
                    <a:pt x="0" y="122238"/>
                  </a:lnTo>
                  <a:lnTo>
                    <a:pt x="88900" y="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98742" y="4673918"/>
              <a:ext cx="3939921" cy="14546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 token 每层 2 × 4 头 × 96 × 2 字节 = 1536 B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层、1024 token ≈ 12.6 MB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若用 MHA(8 头) 则 25.2 MB——GQA 省一半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有缓存：每步 1 × t 打分阵，总计 Σt = O(N²)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无缓存：第 t 步重算全部 t 个 token，打分阵 t × t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1024 token 的打分总量约是无缓存的 1/512</a:t>
              </a:r>
            </a:p>
          </p:txBody>
        </p:sp>
      </p:grpSp>
      <p:grpSp>
        <p:nvGrpSpPr>
          <p:cNvPr id="64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907542" y="6445568"/>
              <a:ext cx="5128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4 站 · KV Cache · model_minimind.py:120–123 / 213–219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7615132" cy="616077"/>
            <a:chOff x="898398" y="822008"/>
            <a:chExt cx="761513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76151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批量推理：必须左 pad，也必须传 mask</a:t>
              </a:r>
            </a:p>
          </p:txBody>
        </p:sp>
      </p:grpSp>
      <p:grpSp>
        <p:nvGrpSpPr>
          <p:cNvPr id="5" name="page-lead"/>
          <p:cNvGrpSpPr/>
          <p:nvPr/>
        </p:nvGrpSpPr>
        <p:grpSpPr>
          <a:xfrm>
            <a:off x="902970" y="1395412"/>
            <a:ext cx="8519065" cy="440055"/>
            <a:chOff x="902970" y="1395412"/>
            <a:chExt cx="8519065" cy="44005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95412"/>
              <a:ext cx="85190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generate 只取最后一个位置的 logits，所以 pad 只能补在左边</a:t>
              </a:r>
            </a:p>
          </p:txBody>
        </p:sp>
      </p:grpSp>
      <p:grpSp>
        <p:nvGrpSpPr>
          <p:cNvPr id="58" name="left-pad"/>
          <p:cNvGrpSpPr/>
          <p:nvPr/>
        </p:nvGrpSpPr>
        <p:grpSpPr>
          <a:xfrm>
            <a:off x="908304" y="1946910"/>
            <a:ext cx="5433060" cy="1796796"/>
            <a:chOff x="908304" y="1946910"/>
            <a:chExt cx="5433060" cy="1796796"/>
          </a:xfrm>
        </p:grpSpPr>
        <p:sp>
          <p:nvSpPr>
            <p:cNvPr id="6" name="TextBox 6"/>
            <p:cNvSpPr txBox="1"/>
            <p:nvPr/>
          </p:nvSpPr>
          <p:spPr>
            <a:xfrm>
              <a:off x="908304" y="1946910"/>
              <a:ext cx="3412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请求 A　你好 → 3 个真实 token，左补 5 个 pad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14400" y="21717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1255" y="22517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24000" y="21717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60855" y="22517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133600" y="21717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70455" y="22517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743200" y="21717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80055" y="22517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52800" y="21717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89655" y="22517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962400" y="21717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74643" y="225171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0" y="21717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61357" y="22517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181600" y="21717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70957" y="22517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0104" y="2556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49704" y="2556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59304" y="2556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68904" y="2556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78504" y="2556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88104" y="2556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97704" y="2556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07304" y="2556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04154" y="2556510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← mask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04" y="2899410"/>
              <a:ext cx="4034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请求 B　今天天气怎么样 → 8 个真实 token，无需补 pad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4400" y="31242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6643" y="320421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524000" y="31242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13357" y="3204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133600" y="31242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322957" y="3204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743200" y="31242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32557" y="3204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352800" y="31242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42157" y="3204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气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962400" y="31242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151757" y="3204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572000" y="31242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9525">
              <a:solidFill>
                <a:schemeClr val="accent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761357" y="3204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么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81600" y="3124200"/>
              <a:ext cx="552450" cy="323850"/>
            </a:xfrm>
            <a:prstGeom prst="roundRect">
              <a:avLst>
                <a:gd name="adj" fmla="val 23529"/>
              </a:avLst>
            </a:prstGeom>
            <a:solidFill>
              <a:srgbClr val="1B2C4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370957" y="3204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0104" y="3509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49704" y="3509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59304" y="3509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968904" y="3509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78504" y="3509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188104" y="3509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97704" y="3509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407304" y="3509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04154" y="3509010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← mask</a:t>
              </a:r>
            </a:p>
          </p:txBody>
        </p:sp>
      </p:grpSp>
      <p:grpSp>
        <p:nvGrpSpPr>
          <p:cNvPr id="86" name="mask-matrix"/>
          <p:cNvGrpSpPr/>
          <p:nvPr/>
        </p:nvGrpSpPr>
        <p:grpSpPr>
          <a:xfrm>
            <a:off x="907542" y="3854768"/>
            <a:ext cx="5323008" cy="2145982"/>
            <a:chOff x="907542" y="3854768"/>
            <a:chExt cx="5323008" cy="2145982"/>
          </a:xfrm>
        </p:grpSpPr>
        <p:sp>
          <p:nvSpPr>
            <p:cNvPr id="59" name="TextBox 59"/>
            <p:cNvSpPr txBox="1"/>
            <p:nvPr/>
          </p:nvSpPr>
          <p:spPr>
            <a:xfrm>
              <a:off x="907542" y="3854768"/>
              <a:ext cx="445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请求 A 的完整视野矩阵：行 = 查询位置，列 = key 位置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14400" y="4191000"/>
              <a:ext cx="209550" cy="209550"/>
            </a:xfrm>
            <a:prstGeom prst="rect">
              <a:avLst/>
            </a:prstGeom>
            <a:solidFill>
              <a:srgbClr val="93A4BE">
                <a:alpha val="22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143000" y="4191000"/>
              <a:ext cx="1581150" cy="209550"/>
            </a:xfrm>
            <a:prstGeom prst="rect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14400" y="4419600"/>
              <a:ext cx="438150" cy="209550"/>
            </a:xfrm>
            <a:prstGeom prst="rect">
              <a:avLst/>
            </a:prstGeom>
            <a:solidFill>
              <a:srgbClr val="93A4BE">
                <a:alpha val="22000"/>
              </a:srgbClr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371600" y="4419600"/>
              <a:ext cx="1352550" cy="209550"/>
            </a:xfrm>
            <a:prstGeom prst="rect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14400" y="4648200"/>
              <a:ext cx="666750" cy="209550"/>
            </a:xfrm>
            <a:prstGeom prst="rect">
              <a:avLst/>
            </a:prstGeom>
            <a:solidFill>
              <a:srgbClr val="93A4BE">
                <a:alpha val="22000"/>
              </a:srgbClr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600200" y="4648200"/>
              <a:ext cx="1123950" cy="209550"/>
            </a:xfrm>
            <a:prstGeom prst="rect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14400" y="4876800"/>
              <a:ext cx="895350" cy="209550"/>
            </a:xfrm>
            <a:prstGeom prst="rect">
              <a:avLst/>
            </a:prstGeom>
            <a:solidFill>
              <a:srgbClr val="93A4BE">
                <a:alpha val="22000"/>
              </a:srgbClr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828800" y="4876800"/>
              <a:ext cx="895350" cy="209550"/>
            </a:xfrm>
            <a:prstGeom prst="rect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14400" y="5105400"/>
              <a:ext cx="1123950" cy="209550"/>
            </a:xfrm>
            <a:prstGeom prst="rect">
              <a:avLst/>
            </a:prstGeom>
            <a:solidFill>
              <a:srgbClr val="93A4BE">
                <a:alpha val="22000"/>
              </a:srgb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2057400" y="5105400"/>
              <a:ext cx="666750" cy="209550"/>
            </a:xfrm>
            <a:prstGeom prst="rect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14400" y="5334000"/>
              <a:ext cx="1123950" cy="209550"/>
            </a:xfrm>
            <a:prstGeom prst="rect">
              <a:avLst/>
            </a:prstGeom>
            <a:solidFill>
              <a:srgbClr val="93A4BE">
                <a:alpha val="22000"/>
              </a:srgbClr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2057400" y="5334000"/>
              <a:ext cx="209550" cy="209550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2286000" y="5334000"/>
              <a:ext cx="438150" cy="209550"/>
            </a:xfrm>
            <a:prstGeom prst="rect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14400" y="5562600"/>
              <a:ext cx="1123950" cy="209550"/>
            </a:xfrm>
            <a:prstGeom prst="rect">
              <a:avLst/>
            </a:prstGeom>
            <a:solidFill>
              <a:srgbClr val="93A4BE">
                <a:alpha val="22000"/>
              </a:srgbClr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2057400" y="5562600"/>
              <a:ext cx="438150" cy="209550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2514600" y="5562600"/>
              <a:ext cx="209550" cy="209550"/>
            </a:xfrm>
            <a:prstGeom prst="rect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914400" y="5791200"/>
              <a:ext cx="1123950" cy="209550"/>
            </a:xfrm>
            <a:prstGeom prst="rect">
              <a:avLst/>
            </a:prstGeom>
            <a:solidFill>
              <a:srgbClr val="93A4BE">
                <a:alpha val="22000"/>
              </a:srgbClr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2057400" y="5791200"/>
              <a:ext cx="666750" cy="209550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3143250" y="4476750"/>
              <a:ext cx="171450" cy="171450"/>
            </a:xfrm>
            <a:prstGeom prst="roundRect">
              <a:avLst>
                <a:gd name="adj" fmla="val 22222"/>
              </a:avLst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403092" y="446436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正常打分 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3143250" y="4781550"/>
              <a:ext cx="171450" cy="171450"/>
            </a:xfrm>
            <a:prstGeom prst="roundRect">
              <a:avLst>
                <a:gd name="adj" fmla="val 22222"/>
              </a:avLst>
            </a:prstGeom>
            <a:solidFill>
              <a:srgbClr val="93A4BE">
                <a:alpha val="22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403092" y="4769168"/>
              <a:ext cx="1549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-1e9　被 pad 挡住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3143250" y="5086350"/>
              <a:ext cx="171450" cy="171450"/>
            </a:xfrm>
            <a:prstGeom prst="roundRect">
              <a:avLst>
                <a:gd name="adj" fmla="val 22222"/>
              </a:avLst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403092" y="5073968"/>
              <a:ext cx="1821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-inf　未来，禁止偷看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136392" y="5474018"/>
              <a:ext cx="3094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pad 行算出的表示是垃圾，但没人消费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136392" y="57026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generate 只取最后真实位置的 logits</a:t>
              </a:r>
            </a:p>
          </p:txBody>
        </p:sp>
      </p:grpSp>
      <p:grpSp>
        <p:nvGrpSpPr>
          <p:cNvPr id="99" name="card-route"/>
          <p:cNvGrpSpPr/>
          <p:nvPr/>
        </p:nvGrpSpPr>
        <p:grpSpPr>
          <a:xfrm>
            <a:off x="6477000" y="1905000"/>
            <a:ext cx="5105400" cy="956501"/>
            <a:chOff x="6477000" y="1905000"/>
            <a:chExt cx="5105400" cy="956501"/>
          </a:xfrm>
        </p:grpSpPr>
        <p:sp>
          <p:nvSpPr>
            <p:cNvPr id="87" name="Rectangle 87"/>
            <p:cNvSpPr/>
            <p:nvPr/>
          </p:nvSpPr>
          <p:spPr>
            <a:xfrm>
              <a:off x="6477000" y="1905000"/>
              <a:ext cx="5105400" cy="914400"/>
            </a:xfrm>
            <a:prstGeom prst="roundRect">
              <a:avLst>
                <a:gd name="adj" fmla="val 16667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772656" y="2034540"/>
              <a:ext cx="1944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125 行：走哪条路</a:t>
              </a:r>
            </a:p>
          </p:txBody>
        </p:sp>
        <p:grpSp>
          <p:nvGrpSpPr>
            <p:cNvPr id="97" name="Group 97"/>
            <p:cNvGrpSpPr/>
            <p:nvPr/>
          </p:nvGrpSpPr>
          <p:grpSpPr>
            <a:xfrm>
              <a:off x="11055350" y="2028825"/>
              <a:ext cx="177801" cy="142876"/>
              <a:chOff x="11055350" y="2028825"/>
              <a:chExt cx="177801" cy="14287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11055350" y="2028825"/>
                <a:ext cx="611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9525">
                    <a:moveTo>
                      <a:pt x="0" y="0"/>
                    </a:moveTo>
                    <a:lnTo>
                      <a:pt x="61119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11055350" y="2073275"/>
                <a:ext cx="611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9525">
                    <a:moveTo>
                      <a:pt x="0" y="0"/>
                    </a:moveTo>
                    <a:lnTo>
                      <a:pt x="61119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11055350" y="2117725"/>
                <a:ext cx="611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9525">
                    <a:moveTo>
                      <a:pt x="0" y="0"/>
                    </a:moveTo>
                    <a:lnTo>
                      <a:pt x="61119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11055350" y="2162176"/>
                <a:ext cx="611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9525">
                    <a:moveTo>
                      <a:pt x="0" y="0"/>
                    </a:moveTo>
                    <a:lnTo>
                      <a:pt x="61119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11172032" y="2028825"/>
                <a:ext cx="611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9525">
                    <a:moveTo>
                      <a:pt x="0" y="0"/>
                    </a:moveTo>
                    <a:lnTo>
                      <a:pt x="61119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11172032" y="2073275"/>
                <a:ext cx="611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9525">
                    <a:moveTo>
                      <a:pt x="0" y="0"/>
                    </a:moveTo>
                    <a:lnTo>
                      <a:pt x="61119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11172032" y="2117725"/>
                <a:ext cx="611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9525">
                    <a:moveTo>
                      <a:pt x="0" y="0"/>
                    </a:moveTo>
                    <a:lnTo>
                      <a:pt x="61119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11172032" y="2162176"/>
                <a:ext cx="611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9525">
                    <a:moveTo>
                      <a:pt x="0" y="0"/>
                    </a:moveTo>
                    <a:lnTo>
                      <a:pt x="61119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6774942" y="2349818"/>
              <a:ext cx="3022663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 全 1 → 走 SDPA 快车道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本例有 pad → 落到 128–131 行手写路径</a:t>
              </a:r>
            </a:p>
          </p:txBody>
        </p:sp>
      </p:grpSp>
      <p:grpSp>
        <p:nvGrpSpPr>
          <p:cNvPr id="106" name="card-values"/>
          <p:cNvGrpSpPr/>
          <p:nvPr/>
        </p:nvGrpSpPr>
        <p:grpSpPr>
          <a:xfrm>
            <a:off x="6477000" y="2971800"/>
            <a:ext cx="5105400" cy="1524000"/>
            <a:chOff x="6477000" y="2971800"/>
            <a:chExt cx="5105400" cy="1524000"/>
          </a:xfrm>
        </p:grpSpPr>
        <p:sp>
          <p:nvSpPr>
            <p:cNvPr id="100" name="Rectangle 100"/>
            <p:cNvSpPr/>
            <p:nvPr/>
          </p:nvSpPr>
          <p:spPr>
            <a:xfrm>
              <a:off x="6477000" y="2971800"/>
              <a:ext cx="5105400" cy="1524000"/>
            </a:xfrm>
            <a:prstGeom prst="roundRect">
              <a:avLst>
                <a:gd name="adj" fmla="val 10000"/>
              </a:avLst>
            </a:prstGeom>
            <a:solidFill>
              <a:srgbClr val="1B2C46"/>
            </a:solidFill>
            <a:ln w="9525">
              <a:solidFill>
                <a:srgbClr val="2B3F60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772656" y="31394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两掩码叠加后的取值</a:t>
              </a:r>
            </a:p>
          </p:txBody>
        </p:sp>
        <p:grpSp>
          <p:nvGrpSpPr>
            <p:cNvPr id="104" name="Group 104"/>
            <p:cNvGrpSpPr/>
            <p:nvPr/>
          </p:nvGrpSpPr>
          <p:grpSpPr>
            <a:xfrm>
              <a:off x="11055350" y="3073400"/>
              <a:ext cx="177800" cy="177800"/>
              <a:chOff x="11055350" y="3073400"/>
              <a:chExt cx="177800" cy="1778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11099800" y="30734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11055350" y="31178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6774942" y="3511868"/>
              <a:ext cx="3588448" cy="949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0（过去或自己）+ 0（真实 token）→ 正常打分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 + (-1e9)（pad 列）→ -1e9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-inf（未来）+ 0 → -inf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-inf + (-1e9) → -inf（无穷吸收有限数）</a:t>
              </a:r>
            </a:p>
          </p:txBody>
        </p:sp>
      </p:grpSp>
      <p:grpSp>
        <p:nvGrpSpPr>
          <p:cNvPr id="120" name="card-detail"/>
          <p:cNvGrpSpPr/>
          <p:nvPr/>
        </p:nvGrpSpPr>
        <p:grpSpPr>
          <a:xfrm>
            <a:off x="6477000" y="4648200"/>
            <a:ext cx="5105400" cy="1623251"/>
            <a:chOff x="6477000" y="4648200"/>
            <a:chExt cx="5105400" cy="1623251"/>
          </a:xfrm>
        </p:grpSpPr>
        <p:sp>
          <p:nvSpPr>
            <p:cNvPr id="107" name="Rectangle 107"/>
            <p:cNvSpPr/>
            <p:nvPr/>
          </p:nvSpPr>
          <p:spPr>
            <a:xfrm>
              <a:off x="6477000" y="4648200"/>
              <a:ext cx="5105400" cy="1562100"/>
            </a:xfrm>
            <a:prstGeom prst="roundRect">
              <a:avLst>
                <a:gd name="adj" fmla="val 9756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772656" y="4777740"/>
              <a:ext cx="18962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-1e9 而不是 -inf</a:t>
              </a:r>
            </a:p>
          </p:txBody>
        </p:sp>
        <p:grpSp>
          <p:nvGrpSpPr>
            <p:cNvPr id="118" name="Group 118"/>
            <p:cNvGrpSpPr/>
            <p:nvPr/>
          </p:nvGrpSpPr>
          <p:grpSpPr>
            <a:xfrm>
              <a:off x="11044238" y="4760913"/>
              <a:ext cx="200025" cy="166688"/>
              <a:chOff x="11044238" y="4760913"/>
              <a:chExt cx="200025" cy="166688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11110913" y="47609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44450"/>
                    </a:move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lnTo>
                      <a:pt x="66675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11088688" y="4805363"/>
                <a:ext cx="1111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2238">
                    <a:moveTo>
                      <a:pt x="11113" y="0"/>
                    </a:moveTo>
                    <a:lnTo>
                      <a:pt x="100013" y="0"/>
                    </a:lnTo>
                    <a:cubicBezTo>
                      <a:pt x="106631" y="9919"/>
                      <a:pt x="110469" y="21431"/>
                      <a:pt x="111125" y="33338"/>
                    </a:cubicBezTo>
                    <a:lnTo>
                      <a:pt x="111125" y="66675"/>
                    </a:lnTo>
                    <a:cubicBezTo>
                      <a:pt x="111125" y="97362"/>
                      <a:pt x="86249" y="122238"/>
                      <a:pt x="55563" y="122238"/>
                    </a:cubicBezTo>
                    <a:cubicBezTo>
                      <a:pt x="24876" y="122238"/>
                      <a:pt x="0" y="97362"/>
                      <a:pt x="0" y="66675"/>
                    </a:cubicBezTo>
                    <a:lnTo>
                      <a:pt x="0" y="33338"/>
                    </a:lnTo>
                    <a:cubicBezTo>
                      <a:pt x="656" y="21431"/>
                      <a:pt x="4494" y="9919"/>
                      <a:pt x="11113" y="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11044238" y="4849813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11199813" y="4849813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11144250" y="4860925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11055350" y="4894263"/>
                <a:ext cx="37227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22225">
                    <a:moveTo>
                      <a:pt x="0" y="22225"/>
                    </a:moveTo>
                    <a:lnTo>
                      <a:pt x="37227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11195924" y="4894263"/>
                <a:ext cx="37227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22225">
                    <a:moveTo>
                      <a:pt x="37227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11055350" y="4783138"/>
                <a:ext cx="41672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26670">
                    <a:moveTo>
                      <a:pt x="0" y="0"/>
                    </a:moveTo>
                    <a:lnTo>
                      <a:pt x="41672" y="2667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11191479" y="4783138"/>
                <a:ext cx="41672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26670">
                    <a:moveTo>
                      <a:pt x="41672" y="0"/>
                    </a:moveTo>
                    <a:lnTo>
                      <a:pt x="0" y="2667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6774942" y="5093018"/>
              <a:ext cx="3811334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某些融合算子中 -inf 参与运算可能产生 nan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-1e9 在 fp32 下照样下溢为 0，效果等同且更皮实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每步 mask 追加 1（266 行），pad 列持续被屏蔽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 的 K/V 进了缓存但无害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短请求被强制填 EOS 陪跑（279–285 行）</a:t>
              </a:r>
            </a:p>
          </p:txBody>
        </p:sp>
      </p:grpSp>
      <p:grpSp>
        <p:nvGrpSpPr>
          <p:cNvPr id="123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121" name="TextBox 121"/>
            <p:cNvSpPr txBox="1"/>
            <p:nvPr/>
          </p:nvSpPr>
          <p:spPr>
            <a:xfrm>
              <a:off x="907542" y="6445568"/>
              <a:ext cx="5611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4 站 · 批量推理与掩码 · model_minimind.py:125–131 / 257–287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1D2F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898398" y="822008"/>
            <a:ext cx="3424428" cy="616077"/>
            <a:chOff x="898398" y="822008"/>
            <a:chExt cx="342442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822008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两个最容易踩的坑</a:t>
              </a:r>
            </a:p>
          </p:txBody>
        </p:sp>
      </p:grpSp>
      <p:grpSp>
        <p:nvGrpSpPr>
          <p:cNvPr id="5" name="page-lead"/>
          <p:cNvGrpSpPr/>
          <p:nvPr/>
        </p:nvGrpSpPr>
        <p:grpSpPr>
          <a:xfrm>
            <a:off x="902970" y="1395412"/>
            <a:ext cx="7822406" cy="440055"/>
            <a:chOff x="902970" y="1395412"/>
            <a:chExt cx="7822406" cy="44005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1395412"/>
              <a:ext cx="78224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训练右 pad 是因为在算 loss，推理左 pad 是因为在接着写</a:t>
              </a:r>
            </a:p>
          </p:txBody>
        </p:sp>
      </p:grpSp>
      <p:grpSp>
        <p:nvGrpSpPr>
          <p:cNvPr id="34" name="train-vs-inference"/>
          <p:cNvGrpSpPr/>
          <p:nvPr/>
        </p:nvGrpSpPr>
        <p:grpSpPr>
          <a:xfrm>
            <a:off x="914400" y="1905000"/>
            <a:ext cx="10668000" cy="2219706"/>
            <a:chOff x="914400" y="1905000"/>
            <a:chExt cx="10668000" cy="2219706"/>
          </a:xfrm>
        </p:grpSpPr>
        <p:sp>
          <p:nvSpPr>
            <p:cNvPr id="6" name="Rectangle 6"/>
            <p:cNvSpPr/>
            <p:nvPr/>
          </p:nvSpPr>
          <p:spPr>
            <a:xfrm>
              <a:off x="914400" y="1905000"/>
              <a:ext cx="106680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2604" y="2023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13354" y="2023110"/>
              <a:ext cx="1134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训练（右 pad）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51979" y="2023110"/>
              <a:ext cx="14580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批量推理（左 pad）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14400" y="2286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14400" y="25908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14400" y="2895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" y="32004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" y="3505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14400" y="3810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2604" y="236601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 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13354" y="23660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token 之后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1979" y="23660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token 之前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604" y="26708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为什么这样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13354" y="2670810"/>
              <a:ext cx="3501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因果注意力让右边的 pad 对真实 token 天然隐形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1979" y="2670810"/>
              <a:ext cx="3953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logits[:, -1] 落在真实 token 上，新 token 紧贴序列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2604" y="2975610"/>
              <a:ext cx="852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 的 loss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13354" y="297561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labels=-100 屏蔽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1979" y="2975610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—（无 loss）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2604" y="3280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会污染吗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13354" y="3280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不会，因果性天然挡住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1979" y="3280410"/>
              <a:ext cx="2312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会！→ 必须配 attention_mask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2604" y="3585210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 是否必需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13354" y="3585210"/>
              <a:ext cx="26340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预训练没传（简化）；SFT / PPO 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51979" y="3585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必需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2604" y="3890010"/>
              <a:ext cx="1518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 的 K/V 进缓存吗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13354" y="3890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训练不存缓存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1979" y="3890010"/>
              <a:ext cx="30088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prefill 存进去了 → 每步靠 mask 持续屏蔽</a:t>
              </a:r>
            </a:p>
          </p:txBody>
        </p:sp>
      </p:grpSp>
      <p:grpSp>
        <p:nvGrpSpPr>
          <p:cNvPr id="43" name="card-pitfall-1"/>
          <p:cNvGrpSpPr/>
          <p:nvPr/>
        </p:nvGrpSpPr>
        <p:grpSpPr>
          <a:xfrm>
            <a:off x="914400" y="4305300"/>
            <a:ext cx="5334000" cy="1872234"/>
            <a:chOff x="914400" y="4305300"/>
            <a:chExt cx="5334000" cy="1872234"/>
          </a:xfrm>
        </p:grpSpPr>
        <p:sp>
          <p:nvSpPr>
            <p:cNvPr id="35" name="Rectangle 35"/>
            <p:cNvSpPr/>
            <p:nvPr/>
          </p:nvSpPr>
          <p:spPr>
            <a:xfrm>
              <a:off x="914400" y="4305300"/>
              <a:ext cx="533400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10056" y="4472940"/>
              <a:ext cx="31926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坑一 · 漏传 attention_mask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710238" y="4452938"/>
              <a:ext cx="200026" cy="200026"/>
              <a:chOff x="5710238" y="445293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785848" y="4537248"/>
                <a:ext cx="40115" cy="40110"/>
              </a:xfrm>
              <a:custGeom>
                <a:avLst/>
                <a:gdLst/>
                <a:ahLst/>
                <a:cxnLst/>
                <a:rect l="l" t="t" r="r" b="b"/>
                <a:pathLst>
                  <a:path w="40115" h="40110">
                    <a:moveTo>
                      <a:pt x="8678" y="0"/>
                    </a:moveTo>
                    <a:cubicBezTo>
                      <a:pt x="0" y="8681"/>
                      <a:pt x="2" y="22754"/>
                      <a:pt x="8684" y="31432"/>
                    </a:cubicBezTo>
                    <a:cubicBezTo>
                      <a:pt x="17365" y="40110"/>
                      <a:pt x="31437" y="40107"/>
                      <a:pt x="40115" y="31426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710238" y="4486258"/>
                <a:ext cx="200026" cy="133489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489">
                    <a:moveTo>
                      <a:pt x="152031" y="118622"/>
                    </a:moveTo>
                    <a:cubicBezTo>
                      <a:pt x="136442" y="128374"/>
                      <a:pt x="118400" y="133489"/>
                      <a:pt x="100013" y="133368"/>
                    </a:cubicBezTo>
                    <a:cubicBezTo>
                      <a:pt x="60008" y="133368"/>
                      <a:pt x="26670" y="111143"/>
                      <a:pt x="0" y="66693"/>
                    </a:cubicBezTo>
                    <a:cubicBezTo>
                      <a:pt x="14135" y="43134"/>
                      <a:pt x="30137" y="25821"/>
                      <a:pt x="48006" y="14753"/>
                    </a:cubicBezTo>
                    <a:moveTo>
                      <a:pt x="79788" y="2018"/>
                    </a:moveTo>
                    <a:cubicBezTo>
                      <a:pt x="86445" y="670"/>
                      <a:pt x="93221" y="0"/>
                      <a:pt x="100013" y="18"/>
                    </a:cubicBezTo>
                    <a:cubicBezTo>
                      <a:pt x="140018" y="18"/>
                      <a:pt x="173355" y="22243"/>
                      <a:pt x="200026" y="66693"/>
                    </a:cubicBezTo>
                    <a:cubicBezTo>
                      <a:pt x="192625" y="79028"/>
                      <a:pt x="184701" y="89662"/>
                      <a:pt x="176267" y="98586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710238" y="4452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0"/>
                    </a:moveTo>
                    <a:lnTo>
                      <a:pt x="200026" y="200026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212342" y="4826318"/>
              <a:ext cx="3648456" cy="949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padding=True 时必须同时取 attention_mask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mask=None → 125 行条件通过 → 走 SDPA 快车道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pad 的 K/V 混入注意力，表示被稀释污染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不报错、能出结果，只是质量悄悄下降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10056" y="5825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口诀：取一必须取二</a:t>
              </a:r>
            </a:p>
          </p:txBody>
        </p:sp>
      </p:grpSp>
      <p:grpSp>
        <p:nvGrpSpPr>
          <p:cNvPr id="49" name="card-pitfall-2"/>
          <p:cNvGrpSpPr/>
          <p:nvPr/>
        </p:nvGrpSpPr>
        <p:grpSpPr>
          <a:xfrm>
            <a:off x="6400800" y="4305300"/>
            <a:ext cx="5181600" cy="1872234"/>
            <a:chOff x="6400800" y="4305300"/>
            <a:chExt cx="5181600" cy="1872234"/>
          </a:xfrm>
        </p:grpSpPr>
        <p:sp>
          <p:nvSpPr>
            <p:cNvPr id="44" name="Rectangle 44"/>
            <p:cNvSpPr/>
            <p:nvPr/>
          </p:nvSpPr>
          <p:spPr>
            <a:xfrm>
              <a:off x="6400800" y="4305300"/>
              <a:ext cx="518160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96456" y="447294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坑二 · 右 pad 与左 pad 的分歧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1077575" y="4475163"/>
              <a:ext cx="133350" cy="155575"/>
            </a:xfrm>
            <a:custGeom>
              <a:avLst/>
              <a:gdLst/>
              <a:ahLst/>
              <a:cxnLst/>
              <a:rect l="l" t="t" r="r" b="b"/>
              <a:pathLst>
                <a:path w="133350" h="155575">
                  <a:moveTo>
                    <a:pt x="133350" y="122238"/>
                  </a:moveTo>
                  <a:lnTo>
                    <a:pt x="133350" y="144463"/>
                  </a:lnTo>
                  <a:cubicBezTo>
                    <a:pt x="133350" y="150600"/>
                    <a:pt x="128375" y="155575"/>
                    <a:pt x="122238" y="155575"/>
                  </a:cubicBezTo>
                  <a:lnTo>
                    <a:pt x="0" y="155575"/>
                  </a:lnTo>
                  <a:lnTo>
                    <a:pt x="66675" y="77788"/>
                  </a:lnTo>
                  <a:lnTo>
                    <a:pt x="0" y="0"/>
                  </a:lnTo>
                  <a:lnTo>
                    <a:pt x="122238" y="0"/>
                  </a:lnTo>
                  <a:cubicBezTo>
                    <a:pt x="128375" y="0"/>
                    <a:pt x="133350" y="4975"/>
                    <a:pt x="133350" y="11113"/>
                  </a:cubicBezTo>
                  <a:lnTo>
                    <a:pt x="133350" y="33338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98742" y="4826318"/>
              <a:ext cx="4008501" cy="949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训练：pad 在真实 token 之后，因果注意力天然隐形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训练：pad 的 loss 由 labels=-100 挡住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推理：logits[:, -1] 必须落在真实 token 上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推理：pad 在左边，因果挡不住 → 必须配 mask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6456" y="5825490"/>
              <a:ext cx="3228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训练在算 loss，推理在接着写</a:t>
              </a:r>
            </a:p>
          </p:txBody>
        </p:sp>
      </p:grpSp>
      <p:grpSp>
        <p:nvGrpSpPr>
          <p:cNvPr id="52" name="page-footer"/>
          <p:cNvGrpSpPr/>
          <p:nvPr/>
        </p:nvGrpSpPr>
        <p:grpSpPr>
          <a:xfrm>
            <a:off x="907542" y="6445568"/>
            <a:ext cx="10376916" cy="264033"/>
            <a:chOff x="907542" y="6445568"/>
            <a:chExt cx="10376916" cy="264033"/>
          </a:xfrm>
        </p:grpSpPr>
        <p:sp>
          <p:nvSpPr>
            <p:cNvPr id="50" name="TextBox 50"/>
            <p:cNvSpPr txBox="1"/>
            <p:nvPr/>
          </p:nvSpPr>
          <p:spPr>
            <a:xfrm>
              <a:off x="907542" y="6445568"/>
              <a:ext cx="48772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MiniMind 结构与推理机制讲义 · model/model_minimind.py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61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inimind_transformer_deck">
  <a:themeElements>
    <a:clrScheme name="minimind_transformer_deck">
      <a:dk1>
        <a:srgbClr val="D8E3F2"/>
      </a:dk1>
      <a:lt1>
        <a:srgbClr val="0D1622"/>
      </a:lt1>
      <a:dk2>
        <a:srgbClr val="1F497D"/>
      </a:dk2>
      <a:lt2>
        <a:srgbClr val="16243A"/>
      </a:lt2>
      <a:accent1>
        <a:srgbClr val="5AA9E6"/>
      </a:accent1>
      <a:accent2>
        <a:srgbClr val="F2B441"/>
      </a:accent2>
      <a:accent3>
        <a:srgbClr val="74D3A5"/>
      </a:accent3>
      <a:accent4>
        <a:srgbClr val="5AA9E6"/>
      </a:accent4>
      <a:accent5>
        <a:srgbClr val="93A4BE"/>
      </a:accent5>
      <a:accent6>
        <a:srgbClr val="24334D"/>
      </a:accent6>
      <a:hlink>
        <a:srgbClr val="F2B441"/>
      </a:hlink>
      <a:folHlink>
        <a:srgbClr val="74D3A5"/>
      </a:folHlink>
    </a:clrScheme>
    <a:fontScheme name="minimind_transformer_deck">
      <a:majorFont>
        <a:latin typeface="Consolas"/>
        <a:ea typeface="SimHei"/>
        <a:cs typeface="Consolas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_transformer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inimind_transformer_deck">
  <a:themeElements>
    <a:clrScheme name="minimind_transformer_deck">
      <a:dk1>
        <a:srgbClr val="D8E3F2"/>
      </a:dk1>
      <a:lt1>
        <a:srgbClr val="0D1622"/>
      </a:lt1>
      <a:dk2>
        <a:srgbClr val="1F497D"/>
      </a:dk2>
      <a:lt2>
        <a:srgbClr val="16243A"/>
      </a:lt2>
      <a:accent1>
        <a:srgbClr val="5AA9E6"/>
      </a:accent1>
      <a:accent2>
        <a:srgbClr val="F2B441"/>
      </a:accent2>
      <a:accent3>
        <a:srgbClr val="74D3A5"/>
      </a:accent3>
      <a:accent4>
        <a:srgbClr val="5AA9E6"/>
      </a:accent4>
      <a:accent5>
        <a:srgbClr val="93A4BE"/>
      </a:accent5>
      <a:accent6>
        <a:srgbClr val="24334D"/>
      </a:accent6>
      <a:hlink>
        <a:srgbClr val="F2B441"/>
      </a:hlink>
      <a:folHlink>
        <a:srgbClr val="74D3A5"/>
      </a:folHlink>
    </a:clrScheme>
    <a:fontScheme name="minimind_transformer_deck">
      <a:majorFont>
        <a:latin typeface="Consolas"/>
        <a:ea typeface="SimHei"/>
        <a:cs typeface="Consolas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_transformer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2026-09-16T01:11:32Z</dcterms:created>
  <dcterms:modified xsi:type="dcterms:W3CDTF">2026-09-16T01:11:32Z</dcterms:modified>
  <cp:category/>
  <cp:contentStatus/>
</cp:coreProperties>
</file>