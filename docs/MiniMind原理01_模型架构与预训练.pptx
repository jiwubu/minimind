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这一讲讲的是 MiniMind 的一次前向传播，从头到尾走完。全场只需要先记住一个形状：批大小二、序列长度三百四十、隐藏维度七百六十八。默认配置是小而完整的 Dense 结构，八层，词表六千四百，注意力八个查询头配四个键值头。整场分享的目标很具体：讲完之后，架构图上的每一个框，你都能说出它对应代码的哪一行、进出是什么形状、以及它为什么必须存在。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这张架构图分三栏，先学会怎么看它。左栏是宏观流水线，从原始文本一路走到损失，一共七站；中栏放大一层，看一层内部长什么样，而这一层要重复八次；右栏再放大一次，把注意力里的 Q、K、V 三路和 FFN 的门控结构摊开。读图的钥匙是三件套：图上的框、代码里的行号、张量的形状，三者要能互相指认。后面的每一页，我们都会回到这张图上定位。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整场的锚点：一路七百六十八，只有两处会变胖。文本先变成整数序列，形状是二乘三百四十；查表之后变成二乘三百四十乘七百六十八，然后在八层里穿行，进出一模一样。真正会膨胀的只有两个张量，一个是注意力内部的打分矩阵，形状是二乘八乘三百四十乘三百四十，它是序列长度的平方；另一个是出口的原始打分，每个位置对六千四百个词各打一分。记住这一句，架构图就记住了一半——八层改的是内容，不是形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模型只认识整数，不认识汉字，所以第一步是把文本变成编号。过程有四步：先分词，再补上句首和句末标记，最后用占位符补齐到三百四十。句首和句末是句子边界唯一的显式信号，而占位符不是没用的填充，它是让同一个批次里长短不一的句子能拼成矩形、并行计算的那笔账。另外这个项目的分词器做过数字逐位切分的改造，任何数字零到九都会成为一个独立的记号，这是后面数学能力的基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号怎么变成向量？答案是查表，不是计算。嵌入矩阵是一本六千四百行的字典，每一行是一个记号对应的七百六十八维初始语义向量，取第两千四百五十六行，就得到那个记号的表示。关键在于这张表是可学习的，预训练的大部分学习就发生在调整它和后面的权重上。更妙的是，这张表与最后的输出层共享同一份权重，省下大约四点九百万个参数——这一点先记住，出口那一页会兑现它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位置信息是从哪来的？先看没有位置编码会怎样：注意力打分只看内容、不看位置，那么一个词出现在第三位还是第三十位，它和另一个词的打分完全一样。位置编码的作用就是给每个位置一个旋转角度。MiniMind 的做法是按每头九十六维生成四十八个频率，与位置零到三万二千七百六十七做外积，预计算成两张表；每个批次只取前三百四十行。它是一块缓冲区，不是参数，只算一次，训练不更新。稍后在注意力内部，它只旋转 Q 和 K，而 V 不旋转。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层做的事，就是两次「归一化、子层、加回」。子层只有两个，先是注意力，再是前馈网络，各自被一条残差捷径旁路。图中那两条虚线不是装饰，它是让八层能叠起来的那个设计：即使某个子层学得不好、输出接近零，信息也能无损通过主干。归一化放在子层之前而不是之后，这叫 Pre-Norm，是现代大模型的标准做法，训练更稳定。八层结构完全相同，但权重各自独立，逐层从字面语义提炼到上下文语义。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注意力内部一共九步，这里先给一张全景。前三步是三路投影、切头、以及对每个头做归一化；第四步只旋转 Q 和 K；第五步打分，这一步会把形状推成二乘八乘三百四十乘三百四十，是全程唯一会变胖的中间张量；第六步是因果掩码，第七步用权重去加权求和 V；第八步把四份键值复制给八个查询头；第九步拼回七百六十八维。注意力的全部代价，都写在那一个形状里——序列长度的平方。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现在把前三步拆开看。Q、K、V 可以用检索来理解：查询是「我想找什么」，键是「我有什么可以被找到」，值是「被关注之后我实际给出的内容」。三路投影的输入都是七百六十八维，但输出不同：查询投到七百六十八，键和值只投到三百八十四。这就是分组查询注意力——八个查询头分成四组，每组共享一份键和值。省下的一半不是近似，是精确的共享，键值的参数和缓存同时减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为什么 V 不旋转？因为位置只影响「我要看谁」，不影响「我拿走什么」。旋转只参与打分，不参与内容传递。打分是把查询和键做点积，再除以根号九十六——维度越高点积越大，除以根号维度是为了防止 softmax 饱和、梯度消失。接着把分数矩阵的上三角置成负无穷，因为预训练的任务是预测下一个词，如果当前位置能看到右边，那就是在抄答案。最后用归一化后的权重去加权求和，得到的就是融合了上下文的表示。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因果掩码长什么样？这是五行五列的三角矩阵，行是查询位置，列是它可以看到的键。对角线以下保留分数，对角线以上全部置成负无穷，softmax 之后概率就是零。上三角之所以要挡掉，是因为预训练是预测下一个词，能看到右边就是抄答案。顺便回答一个常被问到的问题：占位符要不要额外屏蔽？不用。右填充让占位符全排在真实记号之后，因果掩码本来就让真实记号看不到它们；占位符自己虽然能看到前面，但它那个位置的损失已经被标记为不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前馈网络是 SwiGLU 的门控结构：输入分成 gate 和 up 两路并行投影，SiLU 只作用在 gate 一路上，再把两路逐元素相乘，最后由 down 压回七百六十八维。谁接了 SiLU，谁就是那个开关——up 提供内容，gate 决定放行多少。它和注意力的分工完全不同：注意力负责跨位置搬运信息，前馈网络负责单位置加工，这个模型七成的参数都在这里，知识主要存放在这。中间维度两千四百三十二不是随便选的，它是七百六十八乘以圆周率再除以六十四、向上取整后乘回六十四算出来的。另外要主动交代一个差异：图中画了一个 Dropout 框，但代码里并没有实现它。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账算清楚：这个模型大约六千三百九十万个参数。其中前馈网络每层约五点六百万，八层合计四千四百八十万，占到七成；注意力加输出投影每层约一百七十七万，八层合计一千四百二十万；嵌入表是六千四百乘七百六十八，约四百九十二万，而且因为与输出层共享，只算一份。还有两笔省：权重共享省下约四点九百万，分组查询让键值参数与缓存减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出口三步：先做最后一次归一化，形状不变；再经过输出层把七百六十八维映射到六千四百维，得到每个位置对全词表的原始打分。这里的伏笔兑现了：输出层用的就是输入嵌入那一块权重，正着用是查表的嵌入，反着用就是打分的输出层。权重共享不是省事的技巧，读入词的字典和输出词的字典本来就是同一本。图顶部的 softmax 和解码器属于推理视角，预训练走到损失就结束了，并不会真的解码。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预训练只学一件事：看左边，猜右边。把打分的最后一位丢掉，把标签的第一位丢掉，于是位置 i 的输出就在预测位置 i 加一那个记号，整行错开一位。交叉熵内部做四步：先 softmax 把六千四百个打分变成概率，再用答案编号当索引取出正确记号的概率，取负对数，最后求平均，占位符的位置被标记为不计。这个批次一共算了十八个有效位置——短句剩六个，长句剩十二个。之后是梯度累积、反向传播、梯度裁剪、参数更新，重复成千上万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把架构图还给代码。这张表是主链路上十二个框的对账清单，每一行给出三件事：架构图上的元素、对应的代码位置、以及它在本次分享里的页码。从分词器、嵌入表，到层和双残差，再到前馈网络的四个组件，最后到顶部的归一化、输出层和 softmax。有两处要特别注意：前馈网络的 Dropout 框是图中预留、代码未实现；而 softmax 与解码器属于推理路径，预训练时它藏在交叉熵内部。把这张表画上勾，架构图就不再是图，是代码。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链路对完账，再把全片最重的一段——注意力——也对完。这九项与第八页的九步一一对应：归一化、三路投影、每个头的归一化、位置旋转、键值复制、打分、掩码、加权求和、以及输出投影加残差。每一行同样给出代码位置和页码。九个框，九行代码，一章讲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带走五条原则。第一，形状即约束：一路七百六十八，只有两处膨胀，这是调试的第一把尺子。第二，位置只参与打分：位置编码只旋转查询和键，理解这条就理解了它的边界。第三，残差是让深度可训练的设计，它不是加法，是信息高速公路。第四，图与代码允许有差异，但差异必须被解释，就像那个图中预留、代码未实现的 Dropout 框。第五，监督信号只有一个：看左边猜右边，所有能力都从这一个信号里长出来。架构讲完了，但一次前向只是训练时的一半——推理阶段走得完全不一样，缓存、左填充、采样、终止条件，那是下一讲的内容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完整的一次前向张量形状速查表，按执行顺序排列，一共十行。从分词器输出的二乘三百四十，到嵌入后的二乘三百四十乘七百六十八，中间经过拆分头、复制键值、打分、加权、拼回头，最后到六千四百维的原始打分，再塌缩成一个标量。其中橙色标记的两行，正是全场仅有的两个膨胀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十二个术语，每个一句话。记号是模型处理文本的最小单位，对应一个整数编号；嵌入是编号到语义向量的查表；原始打分是 softmax 之前的分数。头是把七百六十八维切成八份各自独立做注意力；分组查询注意力让键值头比查询头少，多组查询共享一份键值；位置旋转给查询和键按位置旋转，让点积带上相对位置。残差把子层输出加回输入，是信息高速公路；均方根归一化按向量长度归一化，稳定每层输入；门控前馈网络用 SiLU 乘上另一路再压回。因果掩码只许看过去、不许看未来；交叉熵是正确记号概率的负对数；负一百是约定俗成的「此位置不计损失」的标记。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答三个常被问到的问题。第一，为什么序列长度是三百四十？它是这个项目预训练的截断和补齐长度，由训练脚本的默认参数决定，补齐之后才能拼成矩形张量并行计算。第二，为什么是八层？这是六千万参数量级下深度与宽度的取舍，层数越深越难训，而残差与前置归一化让八层成为一个稳定可训的配置。第三，稠密结构和混合专家差在哪？打开混合专家开关时，前馈网络会换成专家层，每个记号打分之后只激活排名靠前的专家，对外张量形状完全不变，只是把参数总量和激活量解耦了。以上三问的完整版，以及缓存、左填充、采样、终止条件这些推理细节，都在姊妹篇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inimind-principle-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10/7/26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nimind-principle-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10/7/26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603504" y="594360"/>
            <a:ext cx="10984992" cy="272415"/>
            <a:chOff x="603504" y="594360"/>
            <a:chExt cx="10984992" cy="272415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594360"/>
              <a:ext cx="3088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MINIMIND · 原理 01 · 一次前向的完整旅程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594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857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hero-shape"/>
          <p:cNvGrpSpPr/>
          <p:nvPr/>
        </p:nvGrpSpPr>
        <p:grpSpPr>
          <a:xfrm>
            <a:off x="914400" y="2038350"/>
            <a:ext cx="7203338" cy="2137601"/>
            <a:chOff x="914400" y="2038350"/>
            <a:chExt cx="7203338" cy="2137601"/>
          </a:xfrm>
        </p:grpSpPr>
        <p:sp>
          <p:nvSpPr>
            <p:cNvPr id="36" name="Freeform 36"/>
            <p:cNvSpPr/>
            <p:nvPr/>
          </p:nvSpPr>
          <p:spPr>
            <a:xfrm>
              <a:off x="914400" y="2038350"/>
              <a:ext cx="7162800" cy="1295400"/>
            </a:xfrm>
            <a:prstGeom prst="bracketPair">
              <a:avLst>
                <a:gd name="adj" fmla="val 3000"/>
              </a:avLst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38250" y="2122170"/>
              <a:ext cx="6879488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295400" y="3733800"/>
              <a:ext cx="6248400" cy="9525"/>
            </a:xfrm>
            <a:custGeom>
              <a:avLst/>
              <a:gdLst/>
              <a:ahLst/>
              <a:cxnLst/>
              <a:rect l="l" t="t" r="r" b="b"/>
              <a:pathLst>
                <a:path w="6248400" h="9525">
                  <a:moveTo>
                    <a:pt x="0" y="0"/>
                  </a:moveTo>
                  <a:lnTo>
                    <a:pt x="6248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9"/>
            <p:cNvSpPr/>
            <p:nvPr/>
          </p:nvSpPr>
          <p:spPr>
            <a:xfrm>
              <a:off x="1295400" y="3657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/>
            <p:cNvSpPr/>
            <p:nvPr/>
          </p:nvSpPr>
          <p:spPr>
            <a:xfrm>
              <a:off x="3886200" y="3657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1"/>
            <p:cNvSpPr/>
            <p:nvPr/>
          </p:nvSpPr>
          <p:spPr>
            <a:xfrm>
              <a:off x="6477000" y="3657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2"/>
            <p:cNvSpPr/>
            <p:nvPr/>
          </p:nvSpPr>
          <p:spPr>
            <a:xfrm>
              <a:off x="7543800" y="3657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88542" y="39119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batch =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79342" y="39119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seq = 340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0142" y="39119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hidden = 768</a:t>
              </a:r>
            </a:p>
          </p:txBody>
        </p:sp>
      </p:grpSp>
      <p:grpSp>
        <p:nvGrpSpPr>
          <p:cNvPr id="49" name="title-block"/>
          <p:cNvGrpSpPr/>
          <p:nvPr/>
        </p:nvGrpSpPr>
        <p:grpSpPr>
          <a:xfrm>
            <a:off x="590550" y="4244340"/>
            <a:ext cx="5897118" cy="1616583"/>
            <a:chOff x="590550" y="4244340"/>
            <a:chExt cx="5897118" cy="1616583"/>
          </a:xfrm>
        </p:grpSpPr>
        <p:sp>
          <p:nvSpPr>
            <p:cNvPr id="47" name="TextBox 47"/>
            <p:cNvSpPr txBox="1"/>
            <p:nvPr/>
          </p:nvSpPr>
          <p:spPr>
            <a:xfrm>
              <a:off x="590550" y="4244340"/>
              <a:ext cx="520750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模型架构与预训练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8932" y="5069205"/>
              <a:ext cx="58887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从两句中文，到一次预训练</a:t>
              </a:r>
              <a:br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对着架构图上的每一个框，说出它对应哪一行代码</a:t>
              </a:r>
            </a:p>
          </p:txBody>
        </p:sp>
      </p:grpSp>
      <p:grpSp>
        <p:nvGrpSpPr>
          <p:cNvPr id="53" name="meta-strip"/>
          <p:cNvGrpSpPr/>
          <p:nvPr/>
        </p:nvGrpSpPr>
        <p:grpSpPr>
          <a:xfrm>
            <a:off x="603504" y="5905500"/>
            <a:ext cx="10978896" cy="543306"/>
            <a:chOff x="603504" y="5905500"/>
            <a:chExt cx="10978896" cy="543306"/>
          </a:xfrm>
        </p:grpSpPr>
        <p:sp>
          <p:nvSpPr>
            <p:cNvPr id="50" name="Line 5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3504" y="6004560"/>
              <a:ext cx="6038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hidden 768 · 8 层 · Q 头 8 / KV 头 4 · 词表 6400 · seq 340 · batch 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3504" y="6214110"/>
              <a:ext cx="7133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 model/model_minimind.py · 配套架构图 The Structure of MiniMind (Dense Model)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先学会怎么看这张图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" name="figure-img"/>
          <p:cNvGrpSpPr/>
          <p:nvPr/>
        </p:nvGrpSpPr>
        <p:grpSpPr>
          <a:xfrm>
            <a:off x="609600" y="1409700"/>
            <a:ext cx="6096000" cy="3810000"/>
            <a:chOff x="609600" y="1409700"/>
            <a:chExt cx="6096000" cy="3810000"/>
          </a:xfrm>
        </p:grpSpPr>
        <p:sp>
          <p:nvSpPr>
            <p:cNvPr id="36" name="Rectangle 36"/>
            <p:cNvSpPr/>
            <p:nvPr/>
          </p:nvSpPr>
          <p:spPr>
            <a:xfrm>
              <a:off x="609600" y="1409700"/>
              <a:ext cx="6096000" cy="3810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1409700"/>
              <a:ext cx="6096000" cy="3810000"/>
            </a:xfrm>
            <a:prstGeom prst="rect">
              <a:avLst/>
            </a:prstGeom>
          </p:spPr>
        </p:pic>
      </p:grpSp>
      <p:grpSp>
        <p:nvGrpSpPr>
          <p:cNvPr id="47" name="col-legend"/>
          <p:cNvGrpSpPr/>
          <p:nvPr/>
        </p:nvGrpSpPr>
        <p:grpSpPr>
          <a:xfrm>
            <a:off x="602742" y="5334000"/>
            <a:ext cx="6112383" cy="442151"/>
            <a:chOff x="602742" y="5334000"/>
            <a:chExt cx="6112383" cy="442151"/>
          </a:xfrm>
        </p:grpSpPr>
        <p:sp>
          <p:nvSpPr>
            <p:cNvPr id="39" name="Line 39"/>
            <p:cNvSpPr/>
            <p:nvPr/>
          </p:nvSpPr>
          <p:spPr>
            <a:xfrm>
              <a:off x="609600" y="53911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5334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1"/>
            <p:cNvSpPr/>
            <p:nvPr/>
          </p:nvSpPr>
          <p:spPr>
            <a:xfrm>
              <a:off x="2638425" y="5334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2"/>
            <p:cNvSpPr/>
            <p:nvPr/>
          </p:nvSpPr>
          <p:spPr>
            <a:xfrm>
              <a:off x="4676775" y="5334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6705600" y="5334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742" y="55121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ln w="9525">
                    <a:solidFill>
                      <a:schemeClr val="accent3"/>
                    </a:solidFill>
                  </a:ln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左 · 宏观流水线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31567" y="5512118"/>
              <a:ext cx="1066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ln w="9525">
                    <a:solidFill>
                      <a:schemeClr val="accent3"/>
                    </a:solidFill>
                  </a:ln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 · Layer 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69917" y="5512118"/>
              <a:ext cx="1730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ln w="9525">
                    <a:solidFill>
                      <a:schemeClr val="accent3"/>
                    </a:solidFill>
                  </a:ln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右 · GQA + FFN 展开</a:t>
              </a:r>
            </a:p>
          </p:txBody>
        </p:sp>
      </p:grpSp>
      <p:grpSp>
        <p:nvGrpSpPr>
          <p:cNvPr id="76" name="read-panel"/>
          <p:cNvGrpSpPr/>
          <p:nvPr/>
        </p:nvGrpSpPr>
        <p:grpSpPr>
          <a:xfrm>
            <a:off x="7010400" y="1409700"/>
            <a:ext cx="4572000" cy="4419600"/>
            <a:chOff x="7010400" y="1409700"/>
            <a:chExt cx="4572000" cy="4419600"/>
          </a:xfrm>
        </p:grpSpPr>
        <p:sp>
          <p:nvSpPr>
            <p:cNvPr id="48" name="Freeform 48"/>
            <p:cNvSpPr/>
            <p:nvPr/>
          </p:nvSpPr>
          <p:spPr>
            <a:xfrm>
              <a:off x="7010400" y="1409700"/>
              <a:ext cx="4572000" cy="4419600"/>
            </a:xfrm>
            <a:prstGeom prst="snip1Rect">
              <a:avLst>
                <a:gd name="adj" fmla="val 5000"/>
              </a:avLst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06056" y="1691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每个框都能对上三件事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315200" y="20764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7366000" y="2400300"/>
              <a:ext cx="203200" cy="228600"/>
              <a:chOff x="7366000" y="2400300"/>
              <a:chExt cx="203200" cy="228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66000" y="2400300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0"/>
                    </a:moveTo>
                    <a:lnTo>
                      <a:pt x="203199" y="57150"/>
                    </a:lnTo>
                    <a:lnTo>
                      <a:pt x="203199" y="171450"/>
                    </a:lnTo>
                    <a:lnTo>
                      <a:pt x="101600" y="228599"/>
                    </a:ln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7467600" y="24574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7467600" y="2514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7366000" y="2457450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7803642" y="2349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图上的框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02880" y="2581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架构图上的每一个几何体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378700" y="3257550"/>
              <a:ext cx="177800" cy="228599"/>
              <a:chOff x="7378700" y="3257550"/>
              <a:chExt cx="177800" cy="228599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493000" y="32575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7378700" y="32575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7429500" y="33337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7429500" y="33845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7429500" y="343534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7803642" y="3207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代码哪一行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02880" y="343852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model/model_minimind.py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7353300" y="4100970"/>
              <a:ext cx="228599" cy="256247"/>
              <a:chOff x="7353300" y="4100970"/>
              <a:chExt cx="228599" cy="256247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53300" y="4100970"/>
                <a:ext cx="228599" cy="256247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56247">
                    <a:moveTo>
                      <a:pt x="228599" y="179031"/>
                    </a:moveTo>
                    <a:lnTo>
                      <a:pt x="228599" y="77203"/>
                    </a:lnTo>
                    <a:cubicBezTo>
                      <a:pt x="228584" y="68183"/>
                      <a:pt x="223737" y="59862"/>
                      <a:pt x="215899" y="55397"/>
                    </a:cubicBezTo>
                    <a:lnTo>
                      <a:pt x="127000" y="4496"/>
                    </a:lnTo>
                    <a:cubicBezTo>
                      <a:pt x="119130" y="0"/>
                      <a:pt x="109470" y="0"/>
                      <a:pt x="101600" y="4496"/>
                    </a:cubicBezTo>
                    <a:lnTo>
                      <a:pt x="12700" y="55397"/>
                    </a:lnTo>
                    <a:cubicBezTo>
                      <a:pt x="4839" y="59906"/>
                      <a:pt x="0" y="68224"/>
                      <a:pt x="0" y="77216"/>
                    </a:cubicBezTo>
                    <a:lnTo>
                      <a:pt x="0" y="179044"/>
                    </a:lnTo>
                    <a:cubicBezTo>
                      <a:pt x="0" y="188048"/>
                      <a:pt x="4839" y="196354"/>
                      <a:pt x="12700" y="200850"/>
                    </a:cubicBezTo>
                    <a:lnTo>
                      <a:pt x="101600" y="251751"/>
                    </a:lnTo>
                    <a:cubicBezTo>
                      <a:pt x="109470" y="256247"/>
                      <a:pt x="119130" y="256247"/>
                      <a:pt x="127000" y="251751"/>
                    </a:cubicBezTo>
                    <a:lnTo>
                      <a:pt x="215899" y="200850"/>
                    </a:lnTo>
                    <a:cubicBezTo>
                      <a:pt x="223761" y="196341"/>
                      <a:pt x="228599" y="188023"/>
                      <a:pt x="228599" y="179031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7467600" y="42291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1270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7467600" y="4165092"/>
                <a:ext cx="110871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64008">
                    <a:moveTo>
                      <a:pt x="0" y="64008"/>
                    </a:moveTo>
                    <a:lnTo>
                      <a:pt x="110871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7356729" y="4165092"/>
                <a:ext cx="110871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64008">
                    <a:moveTo>
                      <a:pt x="0" y="0"/>
                    </a:moveTo>
                    <a:lnTo>
                      <a:pt x="110871" y="6400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" name="TextBox 71"/>
            <p:cNvSpPr txBox="1"/>
            <p:nvPr/>
          </p:nvSpPr>
          <p:spPr>
            <a:xfrm>
              <a:off x="7803642" y="4064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张量什么形状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02880" y="4295775"/>
              <a:ext cx="2377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[2,340,768] · 一路不变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7315200" y="48577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08342" y="5035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配置基准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08342" y="5340668"/>
              <a:ext cx="2942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Dense（非 MoE）· 8 层 · 768 维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609600" y="6000750"/>
            <a:ext cx="10972800" cy="386334"/>
            <a:chOff x="609600" y="6000750"/>
            <a:chExt cx="10972800" cy="386334"/>
          </a:xfrm>
        </p:grpSpPr>
        <p:sp>
          <p:nvSpPr>
            <p:cNvPr id="77" name="Rectangle 77"/>
            <p:cNvSpPr/>
            <p:nvPr/>
          </p:nvSpPr>
          <p:spPr>
            <a:xfrm>
              <a:off x="609600" y="6000750"/>
              <a:ext cx="10972800" cy="3238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9600" y="6000750"/>
              <a:ext cx="28575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9056" y="60350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左栏是整条流水线，中栏是一层，右栏是层里的两个子层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51407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一路 768，只有两处会变胖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" name="chain"/>
          <p:cNvGrpSpPr/>
          <p:nvPr/>
        </p:nvGrpSpPr>
        <p:grpSpPr>
          <a:xfrm>
            <a:off x="602742" y="1721168"/>
            <a:ext cx="10951083" cy="1724977"/>
            <a:chOff x="602742" y="1721168"/>
            <a:chExt cx="10951083" cy="1724977"/>
          </a:xfrm>
        </p:grpSpPr>
        <p:sp>
          <p:nvSpPr>
            <p:cNvPr id="36" name="TextBox 36"/>
            <p:cNvSpPr txBox="1"/>
            <p:nvPr/>
          </p:nvSpPr>
          <p:spPr>
            <a:xfrm>
              <a:off x="602742" y="1721168"/>
              <a:ext cx="468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一次前向的七站 —— 箭头上的数字是这一站之后的张量形状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7468" y="225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原始文本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14600" y="2254568"/>
              <a:ext cx="1028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① Tokenizer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77462" y="2254568"/>
              <a:ext cx="1065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② Embedding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97337" y="2254568"/>
              <a:ext cx="987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③ Layer × 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87123" y="2254568"/>
              <a:ext cx="970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④ RMSNorm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24153" y="2254568"/>
              <a:ext cx="858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⑤ lm_head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89674" y="2254568"/>
              <a:ext cx="1337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⑥ Softmax + CE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3817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21932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380047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38162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696277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854392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10125075" y="2514600"/>
              <a:ext cx="1428750" cy="495300"/>
            </a:xfrm>
            <a:prstGeom prst="chevron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7285" y="3152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字符串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32615" y="31527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91642" y="315277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72792" y="315277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53942" y="315277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79561" y="31527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[2,340,6400]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47496" y="3152775"/>
              <a:ext cx="974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标量 loss</a:t>
              </a:r>
            </a:p>
          </p:txBody>
        </p:sp>
      </p:grpSp>
      <p:grpSp>
        <p:nvGrpSpPr>
          <p:cNvPr id="69" name="expansion"/>
          <p:cNvGrpSpPr/>
          <p:nvPr/>
        </p:nvGrpSpPr>
        <p:grpSpPr>
          <a:xfrm>
            <a:off x="600456" y="3787140"/>
            <a:ext cx="10981944" cy="1665161"/>
            <a:chOff x="600456" y="3787140"/>
            <a:chExt cx="10981944" cy="1665161"/>
          </a:xfrm>
        </p:grpSpPr>
        <p:sp>
          <p:nvSpPr>
            <p:cNvPr id="59" name="TextBox 59"/>
            <p:cNvSpPr txBox="1"/>
            <p:nvPr/>
          </p:nvSpPr>
          <p:spPr>
            <a:xfrm>
              <a:off x="600456" y="37871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全程只有这两个张量会膨胀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09600" y="4152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4381500"/>
              <a:ext cx="5334000" cy="1066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9442" y="4616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③ 层内 · 注意力打分阵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8680" y="494347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[2, 8, 340, 340]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9442" y="51882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序列长度的平方 —— 注意力唯一的代价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381500"/>
              <a:ext cx="5334000" cy="1066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08242" y="461676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⑤ 出口 · lm_head 输出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07480" y="49434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 340, 6400]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08242" y="5188268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每个位置对全词表 6400 个 token 的打分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70" name="Rectangle 70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9056" y="5901690"/>
              <a:ext cx="7663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层进出一模一样，变的只是内容 —— 记住这一句，架构图就记住了一半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59111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Tokenizer：模型只认识整数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" name="tokenizer-demo"/>
          <p:cNvGrpSpPr/>
          <p:nvPr/>
        </p:nvGrpSpPr>
        <p:grpSpPr>
          <a:xfrm>
            <a:off x="609600" y="1428750"/>
            <a:ext cx="6286500" cy="2762250"/>
            <a:chOff x="609600" y="1428750"/>
            <a:chExt cx="6286500" cy="2762250"/>
          </a:xfrm>
        </p:grpSpPr>
        <p:sp>
          <p:nvSpPr>
            <p:cNvPr id="36" name="Rectangle 36"/>
            <p:cNvSpPr/>
            <p:nvPr/>
          </p:nvSpPr>
          <p:spPr>
            <a:xfrm>
              <a:off x="609600" y="1428750"/>
              <a:ext cx="6286500" cy="2762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442" y="1625918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以句子 B「我爱蔚蓝的天空」为例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76300" y="19050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8680" y="2124075"/>
              <a:ext cx="5168265" cy="1855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文本: "我爱蔚蓝的天空"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分词: 我 | 爱 | 蔚蓝 | 的 | 天空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加框: [bos] 我 爱 蔚蓝 的 天空 [eos]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补齐到340: [bos] 我 爱 蔚蓝 的 天空 [eos] </a:t>
              </a:r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pad × 333</a:t>
              </a:r>
            </a:p>
            <a:p>
              <a:pPr algn="l">
                <a:lnSpc>
                  <a:spcPts val="3000"/>
                </a:lnSpc>
                <a:spcBef>
                  <a:spcPts val="300"/>
                </a:spcBef>
              </a:pPr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input_ids [2, 340] · labels [2, 340]</a:t>
              </a:r>
            </a:p>
          </p:txBody>
        </p:sp>
      </p:grpSp>
      <p:grpSp>
        <p:nvGrpSpPr>
          <p:cNvPr id="74" name="token-notes"/>
          <p:cNvGrpSpPr/>
          <p:nvPr/>
        </p:nvGrpSpPr>
        <p:grpSpPr>
          <a:xfrm>
            <a:off x="7200900" y="1428750"/>
            <a:ext cx="4381500" cy="2785301"/>
            <a:chOff x="7200900" y="1428750"/>
            <a:chExt cx="4381500" cy="2785301"/>
          </a:xfrm>
        </p:grpSpPr>
        <p:sp>
          <p:nvSpPr>
            <p:cNvPr id="41" name="Rectangle 41"/>
            <p:cNvSpPr/>
            <p:nvPr/>
          </p:nvSpPr>
          <p:spPr>
            <a:xfrm>
              <a:off x="7200900" y="1428750"/>
              <a:ext cx="4381500" cy="6286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7543800" y="1628775"/>
              <a:ext cx="165100" cy="228600"/>
              <a:chOff x="7543800" y="1628775"/>
              <a:chExt cx="165100" cy="228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543800" y="1628775"/>
                <a:ext cx="25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88900">
                    <a:moveTo>
                      <a:pt x="25400" y="88900"/>
                    </a:moveTo>
                    <a:lnTo>
                      <a:pt x="25400" y="0"/>
                    </a:ln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7543800" y="1768475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cubicBezTo>
                      <a:pt x="39428" y="0"/>
                      <a:pt x="50800" y="11372"/>
                      <a:pt x="50800" y="25400"/>
                    </a:cubicBezTo>
                    <a:cubicBezTo>
                      <a:pt x="50800" y="32906"/>
                      <a:pt x="43167" y="43942"/>
                      <a:pt x="38100" y="50800"/>
                    </a:cubicBezTo>
                    <a:lnTo>
                      <a:pt x="0" y="88900"/>
                    </a:lnTo>
                    <a:lnTo>
                      <a:pt x="50800" y="889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7658100" y="1692275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76200"/>
                    </a:moveTo>
                    <a:cubicBezTo>
                      <a:pt x="0" y="90228"/>
                      <a:pt x="11372" y="101600"/>
                      <a:pt x="25400" y="101600"/>
                    </a:cubicBezTo>
                    <a:cubicBezTo>
                      <a:pt x="39428" y="101600"/>
                      <a:pt x="50800" y="90228"/>
                      <a:pt x="50800" y="76200"/>
                    </a:cubicBezTo>
                    <a:cubicBezTo>
                      <a:pt x="50800" y="62172"/>
                      <a:pt x="39428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7550150" y="17176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7915656" y="1577340"/>
              <a:ext cx="29751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是模型世界的「字」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17942" y="18354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模型只认识 id，不认识汉字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200900" y="2133600"/>
              <a:ext cx="4381500" cy="6286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7531100" y="2333625"/>
              <a:ext cx="177800" cy="228599"/>
              <a:chOff x="7531100" y="2333625"/>
              <a:chExt cx="177800" cy="22859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645400" y="2333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7531100" y="2333625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7581900" y="2409825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7581900" y="24606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7581900" y="2511424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7915656" y="2282190"/>
              <a:ext cx="21961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bos / eos 首尾标记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17942" y="25403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句子边界唯一的显式信号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200900" y="2838450"/>
              <a:ext cx="4381500" cy="6286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518400" y="3038475"/>
              <a:ext cx="203200" cy="228600"/>
              <a:chOff x="7518400" y="3038475"/>
              <a:chExt cx="203200" cy="2286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518400" y="3038475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0"/>
                    </a:moveTo>
                    <a:lnTo>
                      <a:pt x="203199" y="57150"/>
                    </a:lnTo>
                    <a:lnTo>
                      <a:pt x="203199" y="171450"/>
                    </a:lnTo>
                    <a:lnTo>
                      <a:pt x="101600" y="228599"/>
                    </a:ln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7620000" y="309562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7620000" y="31527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7518400" y="309562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7915656" y="2987040"/>
              <a:ext cx="19683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是补齐占位符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17942" y="32451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 batch 能并行的那笔账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200900" y="3543300"/>
              <a:ext cx="4381500" cy="6286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7505700" y="3729495"/>
              <a:ext cx="228599" cy="256247"/>
              <a:chOff x="7505700" y="3729495"/>
              <a:chExt cx="228599" cy="256247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505700" y="3729495"/>
                <a:ext cx="228599" cy="256247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56247">
                    <a:moveTo>
                      <a:pt x="228599" y="179031"/>
                    </a:moveTo>
                    <a:lnTo>
                      <a:pt x="228599" y="77203"/>
                    </a:lnTo>
                    <a:cubicBezTo>
                      <a:pt x="228584" y="68183"/>
                      <a:pt x="223737" y="59862"/>
                      <a:pt x="215899" y="55397"/>
                    </a:cubicBezTo>
                    <a:lnTo>
                      <a:pt x="127000" y="4496"/>
                    </a:lnTo>
                    <a:cubicBezTo>
                      <a:pt x="119130" y="0"/>
                      <a:pt x="109470" y="0"/>
                      <a:pt x="101600" y="4496"/>
                    </a:cubicBezTo>
                    <a:lnTo>
                      <a:pt x="12700" y="55397"/>
                    </a:lnTo>
                    <a:cubicBezTo>
                      <a:pt x="4839" y="59906"/>
                      <a:pt x="0" y="68224"/>
                      <a:pt x="0" y="77216"/>
                    </a:cubicBezTo>
                    <a:lnTo>
                      <a:pt x="0" y="179044"/>
                    </a:lnTo>
                    <a:cubicBezTo>
                      <a:pt x="0" y="188048"/>
                      <a:pt x="4839" y="196354"/>
                      <a:pt x="12700" y="200850"/>
                    </a:cubicBezTo>
                    <a:lnTo>
                      <a:pt x="101600" y="251751"/>
                    </a:lnTo>
                    <a:cubicBezTo>
                      <a:pt x="109470" y="256247"/>
                      <a:pt x="119130" y="256247"/>
                      <a:pt x="127000" y="251751"/>
                    </a:cubicBezTo>
                    <a:lnTo>
                      <a:pt x="215899" y="200850"/>
                    </a:lnTo>
                    <a:cubicBezTo>
                      <a:pt x="223761" y="196341"/>
                      <a:pt x="228599" y="188023"/>
                      <a:pt x="228599" y="179031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7620000" y="385762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1270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7620000" y="3793617"/>
                <a:ext cx="110871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64008">
                    <a:moveTo>
                      <a:pt x="0" y="64008"/>
                    </a:moveTo>
                    <a:lnTo>
                      <a:pt x="110871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7509129" y="3793617"/>
                <a:ext cx="110871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110871" h="64008">
                    <a:moveTo>
                      <a:pt x="0" y="0"/>
                    </a:moveTo>
                    <a:lnTo>
                      <a:pt x="110871" y="64008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7915656" y="3691890"/>
              <a:ext cx="2248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数字逐位切分 patch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17942" y="395001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任何数字 0-9 都是一个独立 token</a:t>
              </a:r>
            </a:p>
          </p:txBody>
        </p:sp>
      </p:grpSp>
      <p:grpSp>
        <p:nvGrpSpPr>
          <p:cNvPr id="78" name="source-code"/>
          <p:cNvGrpSpPr/>
          <p:nvPr/>
        </p:nvGrpSpPr>
        <p:grpSpPr>
          <a:xfrm>
            <a:off x="601980" y="4540568"/>
            <a:ext cx="10980420" cy="1039177"/>
            <a:chOff x="601980" y="4540568"/>
            <a:chExt cx="10980420" cy="1039177"/>
          </a:xfrm>
        </p:grpSpPr>
        <p:sp>
          <p:nvSpPr>
            <p:cNvPr id="75" name="TextBox 75"/>
            <p:cNvSpPr txBox="1"/>
            <p:nvPr/>
          </p:nvSpPr>
          <p:spPr>
            <a:xfrm>
              <a:off x="602742" y="4540568"/>
              <a:ext cx="5544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dataset/lm_dataset.py · PretrainDataset.__getitem__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09600" y="4819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1980" y="4981575"/>
              <a:ext cx="88163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tokens = [self.tokenizer.bos_token_id] + tokens + [self.tokenizer.eos_token_id]</a:t>
              </a:r>
              <a:br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input_ids = tokens + [self.tokenizer.pad_token_id] * (self.max_length - len(tokens))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79" name="Rectangle 79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9056" y="5901690"/>
              <a:ext cx="8741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不是没用的填充 —— 它是让同一个 batch 里不等长的句子能并行计算的那笔账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33788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查表，不是计算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7" name="embed-matrix"/>
          <p:cNvGrpSpPr/>
          <p:nvPr/>
        </p:nvGrpSpPr>
        <p:grpSpPr>
          <a:xfrm>
            <a:off x="945642" y="1549718"/>
            <a:ext cx="4481132" cy="2969133"/>
            <a:chOff x="945642" y="1549718"/>
            <a:chExt cx="4481132" cy="2969133"/>
          </a:xfrm>
        </p:grpSpPr>
        <p:sp>
          <p:nvSpPr>
            <p:cNvPr id="36" name="TextBox 36"/>
            <p:cNvSpPr txBox="1"/>
            <p:nvPr/>
          </p:nvSpPr>
          <p:spPr>
            <a:xfrm>
              <a:off x="945642" y="154971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嵌入矩阵 —— 一本 6400 行的字典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381125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809750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38375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667000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095625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24250" y="18859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2500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381125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809750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238375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667000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95625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524250" y="21431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2500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381125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809750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238375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67000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095625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524250" y="2400300"/>
              <a:ext cx="381000" cy="2095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2500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381125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809750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238375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667000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095625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24250" y="265747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52500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381125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809750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238375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667000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70"/>
            <p:cNvSpPr/>
            <p:nvPr/>
          </p:nvSpPr>
          <p:spPr>
            <a:xfrm>
              <a:off x="3095625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524250" y="291465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52500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381125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809750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238375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667000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095625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524250" y="3171825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52500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381125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809750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238375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83"/>
            <p:cNvSpPr/>
            <p:nvPr/>
          </p:nvSpPr>
          <p:spPr>
            <a:xfrm>
              <a:off x="2667000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095625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524250" y="3429000"/>
              <a:ext cx="381000" cy="20955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6"/>
            <p:cNvSpPr/>
            <p:nvPr/>
          </p:nvSpPr>
          <p:spPr>
            <a:xfrm flipH="1">
              <a:off x="4038600" y="2505075"/>
              <a:ext cx="266700" cy="1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411980" y="240982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id = 2456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952500" y="37719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89"/>
            <p:cNvSpPr/>
            <p:nvPr/>
          </p:nvSpPr>
          <p:spPr>
            <a:xfrm>
              <a:off x="952500" y="37147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90"/>
            <p:cNvSpPr/>
            <p:nvPr/>
          </p:nvSpPr>
          <p:spPr>
            <a:xfrm>
              <a:off x="3905250" y="37147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45642" y="3892868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768 维 →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4038600" y="1905000"/>
              <a:ext cx="9525" cy="1733550"/>
            </a:xfrm>
            <a:custGeom>
              <a:avLst/>
              <a:gdLst/>
              <a:ahLst/>
              <a:cxnLst/>
              <a:rect l="l" t="t" r="r" b="b"/>
              <a:pathLst>
                <a:path w="9525" h="1733550">
                  <a:moveTo>
                    <a:pt x="0" y="0"/>
                  </a:moveTo>
                  <a:lnTo>
                    <a:pt x="0" y="173355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3"/>
            <p:cNvSpPr/>
            <p:nvPr/>
          </p:nvSpPr>
          <p:spPr>
            <a:xfrm>
              <a:off x="3981450" y="19050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94"/>
            <p:cNvSpPr/>
            <p:nvPr/>
          </p:nvSpPr>
          <p:spPr>
            <a:xfrm>
              <a:off x="3981450" y="3638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84142" y="27117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6400 行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45642" y="4254818"/>
              <a:ext cx="3603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每一行 = 一个 token 的 768 维初始语义向量</a:t>
              </a:r>
            </a:p>
          </p:txBody>
        </p:sp>
      </p:grpSp>
      <p:grpSp>
        <p:nvGrpSpPr>
          <p:cNvPr id="108" name="embed-notes"/>
          <p:cNvGrpSpPr/>
          <p:nvPr/>
        </p:nvGrpSpPr>
        <p:grpSpPr>
          <a:xfrm>
            <a:off x="6248400" y="1428750"/>
            <a:ext cx="5334000" cy="3143250"/>
            <a:chOff x="6248400" y="1428750"/>
            <a:chExt cx="5334000" cy="3143250"/>
          </a:xfrm>
        </p:grpSpPr>
        <p:sp>
          <p:nvSpPr>
            <p:cNvPr id="98" name="Rectangle 98"/>
            <p:cNvSpPr/>
            <p:nvPr/>
          </p:nvSpPr>
          <p:spPr>
            <a:xfrm>
              <a:off x="6248400" y="1428750"/>
              <a:ext cx="5334000" cy="31432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507480" y="1704975"/>
              <a:ext cx="2582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nn.Embedding(6400, 768)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507480" y="212407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[2,340] ──查表──▶ [2,340,768]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6515100" y="2533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505956" y="2663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这个向量是可学习的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508242" y="29784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预训练的大部分学习，就发生在调整这张表</a:t>
              </a:r>
            </a:p>
          </p:txBody>
        </p:sp>
        <p:sp>
          <p:nvSpPr>
            <p:cNvPr id="104" name="Line 104"/>
            <p:cNvSpPr/>
            <p:nvPr/>
          </p:nvSpPr>
          <p:spPr>
            <a:xfrm>
              <a:off x="6515100" y="33528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507480" y="3514725"/>
              <a:ext cx="2910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tie_word_embeddings = True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508242" y="3797618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与输出层 lm_head 共享同一份权重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508242" y="4064318"/>
              <a:ext cx="3443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省下约 4.9M 参数 —— 出口那一页会兑现它</a:t>
              </a:r>
            </a:p>
          </p:txBody>
        </p:sp>
      </p:grpSp>
      <p:grpSp>
        <p:nvGrpSpPr>
          <p:cNvPr id="113" name="source-code"/>
          <p:cNvGrpSpPr/>
          <p:nvPr/>
        </p:nvGrpSpPr>
        <p:grpSpPr>
          <a:xfrm>
            <a:off x="601980" y="4731068"/>
            <a:ext cx="10980420" cy="1020127"/>
            <a:chOff x="601980" y="4731068"/>
            <a:chExt cx="10980420" cy="1020127"/>
          </a:xfrm>
        </p:grpSpPr>
        <p:sp>
          <p:nvSpPr>
            <p:cNvPr id="109" name="TextBox 109"/>
            <p:cNvSpPr txBox="1"/>
            <p:nvPr/>
          </p:nvSpPr>
          <p:spPr>
            <a:xfrm>
              <a:off x="602742" y="4731068"/>
              <a:ext cx="3812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model/model_minimind.py:206 / :219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609600" y="501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01980" y="5172075"/>
              <a:ext cx="9463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self.embed_tokens = nn.Embedding(config.vocab_size, config.hidden_size) </a:t>
              </a: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# [6400, 768]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01980" y="5457825"/>
              <a:ext cx="64568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hidden_states = self.dropout(self.embed_tokens(input_ids))</a:t>
              </a:r>
            </a:p>
          </p:txBody>
        </p:sp>
      </p:grpSp>
      <p:grpSp>
        <p:nvGrpSpPr>
          <p:cNvPr id="117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114" name="Rectangle 114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29056" y="5901690"/>
              <a:ext cx="6972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这张字典，和最后的输出层是同一张 —— 先记住，出口那一页兑现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50088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表：位置信息从哪来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rope-table"/>
          <p:cNvGrpSpPr/>
          <p:nvPr/>
        </p:nvGrpSpPr>
        <p:grpSpPr>
          <a:xfrm>
            <a:off x="945642" y="1549718"/>
            <a:ext cx="5574392" cy="2702433"/>
            <a:chOff x="945642" y="1549718"/>
            <a:chExt cx="5574392" cy="2702433"/>
          </a:xfrm>
        </p:grpSpPr>
        <p:sp>
          <p:nvSpPr>
            <p:cNvPr id="36" name="TextBox 36"/>
            <p:cNvSpPr txBox="1"/>
            <p:nvPr/>
          </p:nvSpPr>
          <p:spPr>
            <a:xfrm>
              <a:off x="945642" y="1549718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预计算：48 个频率 × 位置 0 ~ 32767（示意图，非等比）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1828800"/>
              <a:ext cx="952500" cy="1714500"/>
            </a:xfrm>
            <a:prstGeom prst="rect">
              <a:avLst/>
            </a:prstGeom>
            <a:solidFill>
              <a:schemeClr val="accent6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05000" y="1828800"/>
              <a:ext cx="952500" cy="1714500"/>
            </a:xfrm>
            <a:prstGeom prst="rect">
              <a:avLst/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9"/>
            <p:cNvSpPr/>
            <p:nvPr/>
          </p:nvSpPr>
          <p:spPr>
            <a:xfrm>
              <a:off x="1905000" y="18288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54538" y="26003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07038" y="26003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86542" y="370522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[32768, 96]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067050" y="2686050"/>
              <a:ext cx="6286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06500" y="2406968"/>
              <a:ext cx="74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 batch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905250" y="1828800"/>
              <a:ext cx="1714500" cy="133350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05250" y="2019300"/>
              <a:ext cx="1714500" cy="13335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7"/>
            <p:cNvSpPr/>
            <p:nvPr/>
          </p:nvSpPr>
          <p:spPr>
            <a:xfrm>
              <a:off x="3905250" y="23431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8"/>
            <p:cNvSpPr/>
            <p:nvPr/>
          </p:nvSpPr>
          <p:spPr>
            <a:xfrm>
              <a:off x="3905250" y="2286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9"/>
            <p:cNvSpPr/>
            <p:nvPr/>
          </p:nvSpPr>
          <p:spPr>
            <a:xfrm>
              <a:off x="5619750" y="2286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7714" y="26165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只取前 340 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255103" y="370522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[340, 96]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98392" y="3988118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token 只用一个位置的角度</a:t>
              </a:r>
            </a:p>
          </p:txBody>
        </p:sp>
      </p:grpSp>
      <p:grpSp>
        <p:nvGrpSpPr>
          <p:cNvPr id="63" name="rope-notes"/>
          <p:cNvGrpSpPr/>
          <p:nvPr/>
        </p:nvGrpSpPr>
        <p:grpSpPr>
          <a:xfrm>
            <a:off x="6819900" y="1428750"/>
            <a:ext cx="4762500" cy="2762250"/>
            <a:chOff x="6819900" y="1428750"/>
            <a:chExt cx="4762500" cy="2762250"/>
          </a:xfrm>
        </p:grpSpPr>
        <p:sp>
          <p:nvSpPr>
            <p:cNvPr id="54" name="Rectangle 54"/>
            <p:cNvSpPr/>
            <p:nvPr/>
          </p:nvSpPr>
          <p:spPr>
            <a:xfrm>
              <a:off x="6819900" y="1428750"/>
              <a:ext cx="4762500" cy="27622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7456" y="16725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没有位置编码会怎样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79742" y="1987868"/>
              <a:ext cx="25597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「蔚蓝」在第 3 位还是第 30 位，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它与「天空」的打分完全一样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7086600" y="26289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77456" y="2739390"/>
              <a:ext cx="3104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给每个位置一个旋转角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086600" y="31623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77456" y="3272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是缓冲区，不是参数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79742" y="3588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只预计算一次，训练不更新它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79742" y="3854768"/>
              <a:ext cx="2617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稍后在注意力内部只旋转 Q 和 K</a:t>
              </a:r>
            </a:p>
          </p:txBody>
        </p:sp>
      </p:grpSp>
      <p:sp>
        <p:nvSpPr>
          <p:cNvPr id="64" name="rope-frequency"/>
          <p:cNvSpPr txBox="1">
            <a:spLocks noGrp="1"/>
          </p:cNvSpPr>
          <p:nvPr/>
        </p:nvSpPr>
        <p:spPr>
          <a:xfrm>
            <a:off x="609600" y="424815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 lang="zh-CN" sz="24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sSubPr>
                    <m:e>
                      <m:r>
                        <a:rPr lang="zh-CN" sz="24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</m:e>
                    <m:sub>
                      <m:r>
                        <a:rPr lang="zh-CN" sz="24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</m:sub>
                  </m:sSub>
                  <m:r>
                    <a:rPr lang="zh-CN" sz="2400" dirty="0">
                      <a:solidFill>
                        <a:srgbClr val="7FB2E5"/>
                      </a:solidFill>
                      <a:latin typeface="Cambria Math"/>
                      <a:ea typeface="Cambria Math"/>
                      <a:cs typeface="Cambria Math"/>
                    </a:rPr>
                    <m:t>=1</m:t>
                  </m:r>
                  <m:sSup>
                    <m:sSupPr>
                      <m:ctrlPr>
                        <a:rPr lang="zh-CN" sz="24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sSupPr>
                    <m:e>
                      <m:r>
                        <a:rPr lang="zh-CN" sz="24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e>
                    <m:sup>
                      <m:r>
                        <a:rPr lang="zh-CN" sz="24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6⋅</m:t>
                      </m:r>
                      <m:d>
                        <m:dPr>
                          <m:ctrlPr>
                            <a:rPr lang="zh-CN" sz="24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4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−2</m:t>
                          </m:r>
                          <m:r>
                            <a:rPr lang="zh-CN" sz="24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  <m:r>
                            <a:rPr lang="zh-CN" sz="24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/96</m:t>
                          </m:r>
                        </m:e>
                      </m:d>
                    </m:sup>
                  </m:sSup>
                </m:oMath>
              </m:oMathPara>
            </a14:m>
            <a:endParaRPr/>
          </a:p>
        </p:txBody>
      </p:sp>
      <p:grpSp>
        <p:nvGrpSpPr>
          <p:cNvPr id="69" name="source-code"/>
          <p:cNvGrpSpPr/>
          <p:nvPr/>
        </p:nvGrpSpPr>
        <p:grpSpPr>
          <a:xfrm>
            <a:off x="601980" y="5016818"/>
            <a:ext cx="10980420" cy="829627"/>
            <a:chOff x="601980" y="5016818"/>
            <a:chExt cx="10980420" cy="829627"/>
          </a:xfrm>
        </p:grpSpPr>
        <p:sp>
          <p:nvSpPr>
            <p:cNvPr id="65" name="TextBox 65"/>
            <p:cNvSpPr txBox="1"/>
            <p:nvPr/>
          </p:nvSpPr>
          <p:spPr>
            <a:xfrm>
              <a:off x="602742" y="5016818"/>
              <a:ext cx="613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model/model_minimind.py:62-78（预计算）· :224（取本批位置）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09600" y="5295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1980" y="5343525"/>
              <a:ext cx="8233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position_embeddings = (self.freqs_cos[start_pos : start_pos + seq_length],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1980" y="5553075"/>
              <a:ext cx="56793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self.freqs_sin[start_pos : start_pos + seq_length])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609600" y="5867400"/>
            <a:ext cx="10972800" cy="405384"/>
            <a:chOff x="609600" y="5867400"/>
            <a:chExt cx="10972800" cy="405384"/>
          </a:xfrm>
        </p:grpSpPr>
        <p:sp>
          <p:nvSpPr>
            <p:cNvPr id="70" name="Rectangle 70"/>
            <p:cNvSpPr/>
            <p:nvPr/>
          </p:nvSpPr>
          <p:spPr>
            <a:xfrm>
              <a:off x="609600" y="5867400"/>
              <a:ext cx="10972800" cy="3429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9600" y="5867400"/>
              <a:ext cx="28575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9056" y="5920740"/>
              <a:ext cx="79773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不作用在嵌入向量上 —— 它只在注意力里旋转 Q 和 K，而且 V 不旋转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70808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一层 = 两次「归一化 → 子层 → 加回」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" name="layer-skeleton"/>
          <p:cNvGrpSpPr/>
          <p:nvPr/>
        </p:nvGrpSpPr>
        <p:grpSpPr>
          <a:xfrm>
            <a:off x="1714500" y="1619250"/>
            <a:ext cx="3896106" cy="3314700"/>
            <a:chOff x="1714500" y="1619250"/>
            <a:chExt cx="3896106" cy="3314700"/>
          </a:xfrm>
        </p:grpSpPr>
        <p:sp>
          <p:nvSpPr>
            <p:cNvPr id="36" name="Rectangle 36"/>
            <p:cNvSpPr/>
            <p:nvPr/>
          </p:nvSpPr>
          <p:spPr>
            <a:xfrm>
              <a:off x="1714500" y="1619250"/>
              <a:ext cx="2286000" cy="381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27980" y="17049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[2,340,768]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2857500" y="2000250"/>
              <a:ext cx="1" cy="2095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14500" y="2266950"/>
              <a:ext cx="22860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88880" y="2371725"/>
              <a:ext cx="1537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RMSNorm → GQA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2857500" y="2686050"/>
              <a:ext cx="1" cy="1714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Ellipse 42"/>
            <p:cNvSpPr/>
            <p:nvPr/>
          </p:nvSpPr>
          <p:spPr>
            <a:xfrm>
              <a:off x="2705100" y="2876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94349" y="29337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857500" y="3181350"/>
              <a:ext cx="1" cy="2095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714500" y="3409950"/>
              <a:ext cx="22860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09873" y="3514725"/>
              <a:ext cx="1495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RMSNorm → FFN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2857500" y="3829050"/>
              <a:ext cx="1" cy="1714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Ellipse 48"/>
            <p:cNvSpPr/>
            <p:nvPr/>
          </p:nvSpPr>
          <p:spPr>
            <a:xfrm>
              <a:off x="2705100" y="4019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94349" y="40767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2857500" y="4324350"/>
              <a:ext cx="1" cy="2095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714500" y="4552950"/>
              <a:ext cx="2286000" cy="381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39042" y="463867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grpSp>
          <p:nvGrpSpPr>
            <p:cNvPr id="56" name="residual-1"/>
            <p:cNvGrpSpPr/>
            <p:nvPr/>
          </p:nvGrpSpPr>
          <p:grpSpPr>
            <a:xfrm>
              <a:off x="3009900" y="1809750"/>
              <a:ext cx="2600706" cy="1228725"/>
              <a:chOff x="3009900" y="1809750"/>
              <a:chExt cx="2600706" cy="1228725"/>
            </a:xfrm>
          </p:grpSpPr>
          <p:cxnSp>
            <p:nvCxnSpPr>
              <p:cNvPr id="53" name="Freeform 53"/>
              <p:cNvCxnSpPr/>
              <p:nvPr/>
            </p:nvCxnSpPr>
            <p:spPr>
              <a:xfrm>
                <a:off x="4000500" y="1809750"/>
                <a:ext cx="762000" cy="1219200"/>
              </a:xfrm>
              <a:prstGeom prst="bentConnector2">
                <a:avLst/>
              </a:prstGeom>
              <a:noFill/>
              <a:ln w="14288">
                <a:solidFill>
                  <a:schemeClr val="accent3"/>
                </a:solidFill>
              </a:ln>
            </p:spPr>
          </p:cxnSp>
          <p:sp>
            <p:nvSpPr>
              <p:cNvPr id="54" name="Line 54"/>
              <p:cNvSpPr/>
              <p:nvPr/>
            </p:nvSpPr>
            <p:spPr>
              <a:xfrm>
                <a:off x="3009900" y="30289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1752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869942" y="2711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残差捷径</a:t>
                </a:r>
              </a:p>
            </p:txBody>
          </p:sp>
        </p:grpSp>
        <p:grpSp>
          <p:nvGrpSpPr>
            <p:cNvPr id="61" name="residual-2"/>
            <p:cNvGrpSpPr/>
            <p:nvPr/>
          </p:nvGrpSpPr>
          <p:grpSpPr>
            <a:xfrm>
              <a:off x="2857500" y="3276600"/>
              <a:ext cx="2753106" cy="904875"/>
              <a:chOff x="2857500" y="3276600"/>
              <a:chExt cx="2753106" cy="90487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2857500" y="32766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58" name="Freeform 58"/>
              <p:cNvCxnSpPr/>
              <p:nvPr/>
            </p:nvCxnSpPr>
            <p:spPr>
              <a:xfrm>
                <a:off x="4000500" y="3276600"/>
                <a:ext cx="762000" cy="895350"/>
              </a:xfrm>
              <a:prstGeom prst="bentConnector2">
                <a:avLst/>
              </a:prstGeom>
              <a:noFill/>
              <a:ln w="14288">
                <a:solidFill>
                  <a:schemeClr val="accent3"/>
                </a:solidFill>
              </a:ln>
            </p:spPr>
          </p:cxnSp>
          <p:sp>
            <p:nvSpPr>
              <p:cNvPr id="59" name="Line 59"/>
              <p:cNvSpPr/>
              <p:nvPr/>
            </p:nvSpPr>
            <p:spPr>
              <a:xfrm>
                <a:off x="3009900" y="41719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1752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869942" y="3854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残差捷径</a:t>
                </a:r>
              </a:p>
            </p:txBody>
          </p:sp>
        </p:grpSp>
      </p:grpSp>
      <p:grpSp>
        <p:nvGrpSpPr>
          <p:cNvPr id="75" name="layer-notes"/>
          <p:cNvGrpSpPr/>
          <p:nvPr/>
        </p:nvGrpSpPr>
        <p:grpSpPr>
          <a:xfrm>
            <a:off x="6248400" y="1381125"/>
            <a:ext cx="5334000" cy="3810000"/>
            <a:chOff x="6248400" y="1381125"/>
            <a:chExt cx="5334000" cy="3810000"/>
          </a:xfrm>
        </p:grpSpPr>
        <p:sp>
          <p:nvSpPr>
            <p:cNvPr id="63" name="Rectangle 63"/>
            <p:cNvSpPr/>
            <p:nvPr/>
          </p:nvSpPr>
          <p:spPr>
            <a:xfrm>
              <a:off x="6248400" y="1381125"/>
              <a:ext cx="5334000" cy="38100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05956" y="1634490"/>
              <a:ext cx="2631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两次 += 就是那两条虚线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515100" y="2019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05956" y="2148840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 = 信息高速公路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08242" y="2464118"/>
              <a:ext cx="287693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即使某个子层学得不好（输出 ≈ 0），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信息也能无损通过，几十层才训得动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515100" y="30861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05956" y="3215640"/>
              <a:ext cx="31760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Pre-Norm 而非 Post-Norm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08242" y="35309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归一化放在子层之前，训练更稳定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6515100" y="39052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05956" y="4034790"/>
              <a:ext cx="2657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层结构相同，权重独立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08242" y="4350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逐层从字面语义提炼到上下文语义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08242" y="4731068"/>
              <a:ext cx="3376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图中两条虚线 = MiniMindBlock 里两次 +=</a:t>
              </a:r>
            </a:p>
          </p:txBody>
        </p:sp>
      </p:grpSp>
      <p:grpSp>
        <p:nvGrpSpPr>
          <p:cNvPr id="80" name="source-code"/>
          <p:cNvGrpSpPr/>
          <p:nvPr/>
        </p:nvGrpSpPr>
        <p:grpSpPr>
          <a:xfrm>
            <a:off x="601980" y="5378768"/>
            <a:ext cx="10980420" cy="620077"/>
            <a:chOff x="601980" y="5378768"/>
            <a:chExt cx="10980420" cy="620077"/>
          </a:xfrm>
        </p:grpSpPr>
        <p:sp>
          <p:nvSpPr>
            <p:cNvPr id="76" name="TextBox 76"/>
            <p:cNvSpPr txBox="1"/>
            <p:nvPr/>
          </p:nvSpPr>
          <p:spPr>
            <a:xfrm>
              <a:off x="602742" y="5378768"/>
              <a:ext cx="5026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model/model_minimind.py:183-199 · MiniMindBlock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609600" y="5657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1980" y="570547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hidden_states += residual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421380" y="5705475"/>
              <a:ext cx="7900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hidden_states += self.mlp(self.post_attention_layernorm(hidden_states))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609600" y="5981700"/>
            <a:ext cx="10972800" cy="405384"/>
            <a:chOff x="609600" y="5981700"/>
            <a:chExt cx="10972800" cy="405384"/>
          </a:xfrm>
        </p:grpSpPr>
        <p:sp>
          <p:nvSpPr>
            <p:cNvPr id="81" name="Rectangle 81"/>
            <p:cNvSpPr/>
            <p:nvPr/>
          </p:nvSpPr>
          <p:spPr>
            <a:xfrm>
              <a:off x="609600" y="5981700"/>
              <a:ext cx="10972800" cy="3429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09600" y="5981700"/>
              <a:ext cx="28575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9056" y="6035040"/>
              <a:ext cx="5312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虚线不是装饰 —— 它是让 8 层能叠起来的那个设计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注意力九步，全程唯一会变胖的张量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" name="step-grid"/>
          <p:cNvGrpSpPr/>
          <p:nvPr/>
        </p:nvGrpSpPr>
        <p:grpSpPr>
          <a:xfrm>
            <a:off x="609600" y="1390650"/>
            <a:ext cx="10972800" cy="3810000"/>
            <a:chOff x="609600" y="1390650"/>
            <a:chExt cx="10972800" cy="3810000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004" y="15659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/ 行 113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0956" y="1824990"/>
              <a:ext cx="1080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QKV 投影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2480" y="218122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343400" y="13906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27804" y="15659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/ 行 114–116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24756" y="1824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切头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26280" y="2133600"/>
              <a:ext cx="165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 [2,340,8,96]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27042" y="2368868"/>
              <a:ext cx="1703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K,V [2,340,4,96]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77200" y="13906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61604" y="15659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 / 行 117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58556" y="1824990"/>
              <a:ext cx="11302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QK-Norm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080" y="2181225"/>
              <a:ext cx="1813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形状不变 · V 不做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" y="27241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4004" y="28994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 / 行 119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0956" y="3158490"/>
              <a:ext cx="1166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旋转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2480" y="3514725"/>
              <a:ext cx="2015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形状不变 · V 不旋转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343400" y="2724150"/>
              <a:ext cx="3505200" cy="114300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27804" y="28994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/ 行 128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24756" y="3158490"/>
              <a:ext cx="19815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 Q·Kᵀ ÷ √96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26280" y="3514725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[2,8,340,340] ← 膨胀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077200" y="27241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61604" y="28994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行 129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58556" y="3158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因果掩码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60080" y="351472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上三角置 −inf · 形状不变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40576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4004" y="42329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 / 行 131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0956" y="4491990"/>
              <a:ext cx="18561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加权 V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2480" y="484822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[2,8,340,96]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343400" y="40576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527804" y="42329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/ 行 124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24756" y="4491990"/>
              <a:ext cx="18526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 repeat_kv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26280" y="4848225"/>
              <a:ext cx="27083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头 → 8 头 · KV 缓存减半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077200" y="4057650"/>
              <a:ext cx="3505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61604" y="42329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 / 行 133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58556" y="4491990"/>
              <a:ext cx="15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合头 + o_proj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0080" y="48482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拼回 [2,340,768]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609600" y="5867400"/>
            <a:ext cx="10972800" cy="424434"/>
            <a:chOff x="609600" y="5867400"/>
            <a:chExt cx="10972800" cy="424434"/>
          </a:xfrm>
        </p:grpSpPr>
        <p:sp>
          <p:nvSpPr>
            <p:cNvPr id="74" name="Rectangle 74"/>
            <p:cNvSpPr/>
            <p:nvPr/>
          </p:nvSpPr>
          <p:spPr>
            <a:xfrm>
              <a:off x="609600" y="58674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9600" y="58674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9056" y="5939790"/>
              <a:ext cx="79783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注意力的全部代价都写在一个形状里 —— [2,8,340,340]，序列长度的平方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88998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 问、K 答、V 给 —— 而 8 个 Q 只要 4 份 K/V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role-cards"/>
          <p:cNvGrpSpPr/>
          <p:nvPr/>
        </p:nvGrpSpPr>
        <p:grpSpPr>
          <a:xfrm>
            <a:off x="609600" y="1390650"/>
            <a:ext cx="10972800" cy="1143000"/>
            <a:chOff x="609600" y="1390650"/>
            <a:chExt cx="109728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3505200" cy="11430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80" y="159067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056" y="1863090"/>
              <a:ext cx="1557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· 查询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342" y="2178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当前位置「我想找什么」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343400" y="1390650"/>
              <a:ext cx="3505200" cy="11430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64380" y="159067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2856" y="1863090"/>
              <a:ext cx="9864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Key · 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5142" y="2178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每个位置「我有什么可以被找到」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77200" y="1390650"/>
              <a:ext cx="3505200" cy="11430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98180" y="159067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96656" y="1863090"/>
              <a:ext cx="11997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· 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98942" y="2178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被关注后实际给出的内容</a:t>
              </a:r>
            </a:p>
          </p:txBody>
        </p:sp>
      </p:grpSp>
      <p:grpSp>
        <p:nvGrpSpPr>
          <p:cNvPr id="82" name="projection-share"/>
          <p:cNvGrpSpPr/>
          <p:nvPr/>
        </p:nvGrpSpPr>
        <p:grpSpPr>
          <a:xfrm>
            <a:off x="609600" y="2724150"/>
            <a:ext cx="10972800" cy="2476500"/>
            <a:chOff x="609600" y="2724150"/>
            <a:chExt cx="10972800" cy="2476500"/>
          </a:xfrm>
        </p:grpSpPr>
        <p:sp>
          <p:nvSpPr>
            <p:cNvPr id="49" name="Rectangle 49"/>
            <p:cNvSpPr/>
            <p:nvPr/>
          </p:nvSpPr>
          <p:spPr>
            <a:xfrm>
              <a:off x="609600" y="2724150"/>
              <a:ext cx="10972800" cy="2476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5256" y="2910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三路投影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6780" y="328612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q_proj 768 → 768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6780" y="359092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k_proj 768 → 384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6780" y="389572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v_proj 768 → 384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14400" y="42862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6780" y="4429125"/>
              <a:ext cx="190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n_rep = 8 / 4 =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7542" y="4731068"/>
              <a:ext cx="4423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组 KV 被 8 个 Q 头共享 · KV 参数与 cache 同时减半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096000" y="2952750"/>
              <a:ext cx="9525" cy="2019300"/>
            </a:xfrm>
            <a:custGeom>
              <a:avLst/>
              <a:gdLst/>
              <a:ahLst/>
              <a:cxnLst/>
              <a:rect l="l" t="t" r="r" b="b"/>
              <a:pathLst>
                <a:path w="9525" h="2019300">
                  <a:moveTo>
                    <a:pt x="0" y="0"/>
                  </a:moveTo>
                  <a:lnTo>
                    <a:pt x="0" y="20193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0642" y="3245168"/>
              <a:ext cx="1184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 Query 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10565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4380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98195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42010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5825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29640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734550" y="3505200"/>
              <a:ext cx="381000" cy="266700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7"/>
            <p:cNvSpPr/>
            <p:nvPr/>
          </p:nvSpPr>
          <p:spPr>
            <a:xfrm>
              <a:off x="6858000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219075" y="666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8"/>
            <p:cNvSpPr/>
            <p:nvPr/>
          </p:nvSpPr>
          <p:spPr>
            <a:xfrm>
              <a:off x="7077075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0" y="66675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9"/>
            <p:cNvSpPr/>
            <p:nvPr/>
          </p:nvSpPr>
          <p:spPr>
            <a:xfrm>
              <a:off x="7734300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219075" y="666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0"/>
            <p:cNvSpPr/>
            <p:nvPr/>
          </p:nvSpPr>
          <p:spPr>
            <a:xfrm>
              <a:off x="7953375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0" y="66675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1"/>
            <p:cNvSpPr/>
            <p:nvPr/>
          </p:nvSpPr>
          <p:spPr>
            <a:xfrm>
              <a:off x="8610600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219075" y="666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2"/>
            <p:cNvSpPr/>
            <p:nvPr/>
          </p:nvSpPr>
          <p:spPr>
            <a:xfrm>
              <a:off x="8829675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0" y="66675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3"/>
            <p:cNvSpPr/>
            <p:nvPr/>
          </p:nvSpPr>
          <p:spPr>
            <a:xfrm>
              <a:off x="9486900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219075" y="666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4"/>
            <p:cNvSpPr/>
            <p:nvPr/>
          </p:nvSpPr>
          <p:spPr>
            <a:xfrm>
              <a:off x="9705975" y="3771900"/>
              <a:ext cx="219075" cy="666750"/>
            </a:xfrm>
            <a:custGeom>
              <a:avLst/>
              <a:gdLst/>
              <a:ahLst/>
              <a:cxnLst/>
              <a:rect l="l" t="t" r="r" b="b"/>
              <a:pathLst>
                <a:path w="219075" h="666750">
                  <a:moveTo>
                    <a:pt x="0" y="66675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60642" y="4845368"/>
              <a:ext cx="1078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组 K / V 头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667500" y="4438650"/>
              <a:ext cx="819150" cy="266700"/>
            </a:xfrm>
            <a:prstGeom prst="rect">
              <a:avLst/>
            </a:prstGeom>
            <a:solidFill>
              <a:schemeClr val="accent3">
                <a:alpha val="22000"/>
              </a:schemeClr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543800" y="4438650"/>
              <a:ext cx="819150" cy="266700"/>
            </a:xfrm>
            <a:prstGeom prst="rect">
              <a:avLst/>
            </a:prstGeom>
            <a:solidFill>
              <a:schemeClr val="accent3">
                <a:alpha val="22000"/>
              </a:schemeClr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420100" y="4438650"/>
              <a:ext cx="819150" cy="266700"/>
            </a:xfrm>
            <a:prstGeom prst="rect">
              <a:avLst/>
            </a:prstGeom>
            <a:solidFill>
              <a:schemeClr val="accent3">
                <a:alpha val="22000"/>
              </a:schemeClr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296400" y="4438650"/>
              <a:ext cx="819150" cy="266700"/>
            </a:xfrm>
            <a:prstGeom prst="rect">
              <a:avLst/>
            </a:prstGeom>
            <a:solidFill>
              <a:schemeClr val="accent3">
                <a:alpha val="22000"/>
              </a:schemeClr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80"/>
            <p:cNvSpPr/>
            <p:nvPr/>
          </p:nvSpPr>
          <p:spPr>
            <a:xfrm>
              <a:off x="10306050" y="4152900"/>
              <a:ext cx="209550" cy="457200"/>
            </a:xfrm>
            <a:prstGeom prst="rightBrace">
              <a:avLst>
                <a:gd name="adj1" fmla="val 40000"/>
                <a:gd name="adj2" fmla="val 50000"/>
              </a:avLst>
            </a:prstGeom>
            <a:noFill/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23042" y="4292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</p:grpSp>
      <p:grpSp>
        <p:nvGrpSpPr>
          <p:cNvPr id="88" name="source-code"/>
          <p:cNvGrpSpPr/>
          <p:nvPr/>
        </p:nvGrpSpPr>
        <p:grpSpPr>
          <a:xfrm>
            <a:off x="601980" y="5378768"/>
            <a:ext cx="10980420" cy="620077"/>
            <a:chOff x="601980" y="5378768"/>
            <a:chExt cx="10980420" cy="620077"/>
          </a:xfrm>
        </p:grpSpPr>
        <p:sp>
          <p:nvSpPr>
            <p:cNvPr id="83" name="TextBox 83"/>
            <p:cNvSpPr txBox="1"/>
            <p:nvPr/>
          </p:nvSpPr>
          <p:spPr>
            <a:xfrm>
              <a:off x="602742" y="5378768"/>
              <a:ext cx="8622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model/model_minimind.py:100-103（三路投影）· :104-105（QK-Norm）· :124（repeat_kv）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609600" y="5657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1980" y="5705475"/>
              <a:ext cx="3250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q_proj = nn.Linear(768, 8*96)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802380" y="5705475"/>
              <a:ext cx="3250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k_proj = nn.Linear(768, 4*96)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002780" y="5705475"/>
              <a:ext cx="3250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v_proj = nn.Linear(768, 4*96)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609600" y="5981700"/>
            <a:ext cx="10972800" cy="405384"/>
            <a:chOff x="609600" y="5981700"/>
            <a:chExt cx="10972800" cy="405384"/>
          </a:xfrm>
        </p:grpSpPr>
        <p:sp>
          <p:nvSpPr>
            <p:cNvPr id="89" name="Rectangle 89"/>
            <p:cNvSpPr/>
            <p:nvPr/>
          </p:nvSpPr>
          <p:spPr>
            <a:xfrm>
              <a:off x="609600" y="5981700"/>
              <a:ext cx="10972800" cy="3429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09600" y="5981700"/>
              <a:ext cx="28575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29056" y="6035040"/>
              <a:ext cx="7554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省下的一半不是近似，是精确的共享 —— KV 参数与 KV cache 同时减半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76407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 不旋转，因为位置只影响「我要看谁」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rotate-panel"/>
          <p:cNvGrpSpPr/>
          <p:nvPr/>
        </p:nvGrpSpPr>
        <p:grpSpPr>
          <a:xfrm>
            <a:off x="609600" y="1390650"/>
            <a:ext cx="5334000" cy="2404301"/>
            <a:chOff x="609600" y="1390650"/>
            <a:chExt cx="5334000" cy="2404301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5334000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256" y="1577340"/>
              <a:ext cx="16506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只转一半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14400" y="19621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952976" y="2210064"/>
              <a:ext cx="155921" cy="159663"/>
            </a:xfrm>
            <a:custGeom>
              <a:avLst/>
              <a:gdLst/>
              <a:ahLst/>
              <a:cxnLst/>
              <a:rect l="l" t="t" r="r" b="b"/>
              <a:pathLst>
                <a:path w="155921" h="159663">
                  <a:moveTo>
                    <a:pt x="0" y="66411"/>
                  </a:moveTo>
                  <a:cubicBezTo>
                    <a:pt x="4983" y="28393"/>
                    <a:pt x="37439" y="0"/>
                    <a:pt x="75782" y="115"/>
                  </a:cubicBezTo>
                  <a:cubicBezTo>
                    <a:pt x="114124" y="229"/>
                    <a:pt x="146409" y="28816"/>
                    <a:pt x="151165" y="66863"/>
                  </a:cubicBezTo>
                  <a:cubicBezTo>
                    <a:pt x="155921" y="104909"/>
                    <a:pt x="131666" y="140564"/>
                    <a:pt x="94531" y="150113"/>
                  </a:cubicBezTo>
                  <a:cubicBezTo>
                    <a:pt x="57397" y="159663"/>
                    <a:pt x="18951" y="140132"/>
                    <a:pt x="4762" y="104511"/>
                  </a:cubicBezTo>
                  <a:moveTo>
                    <a:pt x="0" y="152136"/>
                  </a:moveTo>
                  <a:lnTo>
                    <a:pt x="0" y="104511"/>
                  </a:lnTo>
                  <a:lnTo>
                    <a:pt x="47625" y="104511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9680" y="2200275"/>
              <a:ext cx="165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 [2,340,8,96]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84142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旋转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52976" y="2667264"/>
              <a:ext cx="155921" cy="159663"/>
            </a:xfrm>
            <a:custGeom>
              <a:avLst/>
              <a:gdLst/>
              <a:ahLst/>
              <a:cxnLst/>
              <a:rect l="l" t="t" r="r" b="b"/>
              <a:pathLst>
                <a:path w="155921" h="159663">
                  <a:moveTo>
                    <a:pt x="0" y="66411"/>
                  </a:moveTo>
                  <a:cubicBezTo>
                    <a:pt x="4983" y="28393"/>
                    <a:pt x="37439" y="0"/>
                    <a:pt x="75782" y="115"/>
                  </a:cubicBezTo>
                  <a:cubicBezTo>
                    <a:pt x="114124" y="229"/>
                    <a:pt x="146409" y="28816"/>
                    <a:pt x="151165" y="66863"/>
                  </a:cubicBezTo>
                  <a:cubicBezTo>
                    <a:pt x="155921" y="104909"/>
                    <a:pt x="131666" y="140564"/>
                    <a:pt x="94531" y="150113"/>
                  </a:cubicBezTo>
                  <a:cubicBezTo>
                    <a:pt x="57397" y="159663"/>
                    <a:pt x="18951" y="140132"/>
                    <a:pt x="4762" y="104511"/>
                  </a:cubicBezTo>
                  <a:moveTo>
                    <a:pt x="0" y="152136"/>
                  </a:moveTo>
                  <a:lnTo>
                    <a:pt x="0" y="104511"/>
                  </a:lnTo>
                  <a:lnTo>
                    <a:pt x="47625" y="104511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49680" y="2657475"/>
              <a:ext cx="165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[2,340,4,96]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84142" y="2673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旋转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942975" y="3114675"/>
              <a:ext cx="171450" cy="171450"/>
              <a:chOff x="942975" y="3114675"/>
              <a:chExt cx="171450" cy="1714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007784" y="3186941"/>
                <a:ext cx="34385" cy="34380"/>
              </a:xfrm>
              <a:custGeom>
                <a:avLst/>
                <a:gdLst/>
                <a:ahLst/>
                <a:cxnLst/>
                <a:rect l="l" t="t" r="r" b="b"/>
                <a:pathLst>
                  <a:path w="34385" h="34380">
                    <a:moveTo>
                      <a:pt x="7438" y="0"/>
                    </a:moveTo>
                    <a:cubicBezTo>
                      <a:pt x="0" y="7441"/>
                      <a:pt x="2" y="19503"/>
                      <a:pt x="7443" y="26941"/>
                    </a:cubicBezTo>
                    <a:cubicBezTo>
                      <a:pt x="14884" y="34380"/>
                      <a:pt x="26946" y="34378"/>
                      <a:pt x="34385" y="26937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942975" y="3143235"/>
                <a:ext cx="171450" cy="1144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419">
                    <a:moveTo>
                      <a:pt x="130312" y="101675"/>
                    </a:moveTo>
                    <a:cubicBezTo>
                      <a:pt x="116950" y="110035"/>
                      <a:pt x="101486" y="114419"/>
                      <a:pt x="85725" y="114315"/>
                    </a:cubicBezTo>
                    <a:cubicBezTo>
                      <a:pt x="51435" y="114315"/>
                      <a:pt x="22860" y="95265"/>
                      <a:pt x="0" y="57165"/>
                    </a:cubicBezTo>
                    <a:cubicBezTo>
                      <a:pt x="12116" y="36972"/>
                      <a:pt x="25832" y="22132"/>
                      <a:pt x="41148" y="12645"/>
                    </a:cubicBezTo>
                    <a:moveTo>
                      <a:pt x="68390" y="1730"/>
                    </a:moveTo>
                    <a:cubicBezTo>
                      <a:pt x="74095" y="574"/>
                      <a:pt x="79903" y="0"/>
                      <a:pt x="85725" y="15"/>
                    </a:cubicBezTo>
                    <a:cubicBezTo>
                      <a:pt x="120015" y="15"/>
                      <a:pt x="148590" y="19065"/>
                      <a:pt x="171450" y="57165"/>
                    </a:cubicBezTo>
                    <a:cubicBezTo>
                      <a:pt x="165106" y="67738"/>
                      <a:pt x="158315" y="76853"/>
                      <a:pt x="151086" y="84502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942975" y="31146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171450" y="17145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249680" y="3114675"/>
              <a:ext cx="165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 [2,340,4,96]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4142" y="31308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不旋转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14400" y="34480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7542" y="35309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位置只需参与打分，不需参与内容传递</a:t>
              </a:r>
            </a:p>
          </p:txBody>
        </p:sp>
      </p:grpSp>
      <p:grpSp>
        <p:nvGrpSpPr>
          <p:cNvPr id="63" name="score-panel"/>
          <p:cNvGrpSpPr/>
          <p:nvPr/>
        </p:nvGrpSpPr>
        <p:grpSpPr>
          <a:xfrm>
            <a:off x="6248400" y="1390650"/>
            <a:ext cx="5334000" cy="2381250"/>
            <a:chOff x="6248400" y="1390650"/>
            <a:chExt cx="5334000" cy="2381250"/>
          </a:xfrm>
        </p:grpSpPr>
        <p:sp>
          <p:nvSpPr>
            <p:cNvPr id="54" name="Rectangle 54"/>
            <p:cNvSpPr/>
            <p:nvPr/>
          </p:nvSpPr>
          <p:spPr>
            <a:xfrm>
              <a:off x="6248400" y="1390650"/>
              <a:ext cx="5334000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44056" y="15773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打分与掩码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553200" y="19621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45580" y="2162175"/>
              <a:ext cx="2155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scores = Q·Kᵀ ÷ √96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46342" y="2445068"/>
              <a:ext cx="3921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维度越高点积越大，除以 √维度防 softmax 饱和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553200" y="27813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45580" y="2943225"/>
              <a:ext cx="3806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scores[:, :, :, -L:] += triu(-inf)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46342" y="322611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预训练是「预测下一个词」——能看到右边就是抄答案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46342" y="3492818"/>
              <a:ext cx="3246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softmax @ V：所有位置内容按权重混合</a:t>
              </a:r>
            </a:p>
          </p:txBody>
        </p:sp>
      </p:grpSp>
      <p:sp>
        <p:nvSpPr>
          <p:cNvPr id="64" name="score-formula"/>
          <p:cNvSpPr txBox="1">
            <a:spLocks noGrp="1"/>
          </p:cNvSpPr>
          <p:nvPr/>
        </p:nvSpPr>
        <p:spPr>
          <a:xfrm>
            <a:off x="609600" y="392430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 lang="zh-CN" sz="2700" dirty="0">
                      <a:solidFill>
                        <a:srgbClr val="7FB2E5"/>
                      </a:solidFill>
                      <a:latin typeface="Cambria Math"/>
                      <a:ea typeface="Cambria Math"/>
                      <a:cs typeface="Cambria Math"/>
                    </a:rPr>
                    <m:t>𝑠𝑐𝑜𝑟𝑒𝑠</m:t>
                  </m:r>
                  <m:r>
                    <a:rPr lang="zh-CN" sz="2700" dirty="0">
                      <a:solidFill>
                        <a:srgbClr val="7FB2E5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fPr>
                      <m:ctrlPr>
                        <a:rPr lang="zh-CN" sz="27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fPr>
                    <m:num>
                      <m:r>
                        <a:rPr lang="zh-CN" sz="27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𝑄</m:t>
                      </m:r>
                      <m:sSup>
                        <m:sSupPr>
                          <m:ctrlPr>
                            <a:rPr lang="zh-CN" sz="27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zh-CN" sz="27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𝐾</m:t>
                          </m:r>
                        </m:e>
                        <m:sup>
                          <m:r>
                            <a:rPr lang="zh-CN" sz="27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𝑇</m:t>
                          </m:r>
                        </m:sup>
                      </m:sSup>
                    </m:num>
                    <m:den>
                      <m:rad>
                        <m:radPr>
                          <m:degHide m:val="on"/>
                          <m:ctrlPr>
                            <a:rPr lang="zh-CN" sz="2700" i="1" dirty="0">
                              <a:solidFill>
                                <a:srgbClr val="7FB2E5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27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96</m:t>
                          </m:r>
                        </m:e>
                      </m:rad>
                    </m:den>
                  </m:f>
                </m:oMath>
              </m:oMathPara>
            </a14:m>
            <a:endParaRPr/>
          </a:p>
        </p:txBody>
      </p:sp>
      <p:grpSp>
        <p:nvGrpSpPr>
          <p:cNvPr id="68" name="source-code"/>
          <p:cNvGrpSpPr/>
          <p:nvPr/>
        </p:nvGrpSpPr>
        <p:grpSpPr>
          <a:xfrm>
            <a:off x="601980" y="4826318"/>
            <a:ext cx="10980420" cy="962977"/>
            <a:chOff x="601980" y="4826318"/>
            <a:chExt cx="10980420" cy="962977"/>
          </a:xfrm>
        </p:grpSpPr>
        <p:sp>
          <p:nvSpPr>
            <p:cNvPr id="65" name="TextBox 65"/>
            <p:cNvSpPr txBox="1"/>
            <p:nvPr/>
          </p:nvSpPr>
          <p:spPr>
            <a:xfrm>
              <a:off x="602742" y="4826318"/>
              <a:ext cx="8478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model/model_minimind.py:119（RoPE 仅 Q/K）· :128（打分）· :129（掩码）· :131（加权）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09600" y="5105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1980" y="5229225"/>
              <a:ext cx="6092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xq, xk = apply_rotary_pos_emb(xq, xk, cos, sin)</a:t>
              </a:r>
              <a:br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output = self.attn_dropout(F.softmax(scores, dim=-1)) @ xv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69" name="Rectangle 69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056" y="5901690"/>
              <a:ext cx="7267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位置信息只需参与打分，不需参与内容传递 —— 这就是为什么 V 不动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5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因果掩码长什么样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mask-visual"/>
          <p:cNvGrpSpPr/>
          <p:nvPr/>
        </p:nvGrpSpPr>
        <p:grpSpPr>
          <a:xfrm>
            <a:off x="935010" y="1482821"/>
            <a:ext cx="10494990" cy="3165379"/>
            <a:chOff x="935010" y="1482821"/>
            <a:chExt cx="10494990" cy="3165379"/>
          </a:xfrm>
        </p:grpSpPr>
        <p:sp>
          <p:nvSpPr>
            <p:cNvPr id="36" name="TextBox 36"/>
            <p:cNvSpPr txBox="1"/>
            <p:nvPr/>
          </p:nvSpPr>
          <p:spPr>
            <a:xfrm>
              <a:off x="935010" y="1482821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行 = 查询位置 / 列 = 被看的 key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07324" y="17592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3623" y="17592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69055" y="1759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蔚蓝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6224" y="17592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21655" y="1759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21155" y="21974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05000" y="20574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41899" y="22002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81300" y="20574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18199" y="22002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657600" y="20574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94499" y="22002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33900" y="20574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70799" y="22002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410200" y="20574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47099" y="22002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21155" y="2730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爱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905000" y="25908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241899" y="2733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781300" y="25908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18199" y="2733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657600" y="25908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94499" y="2733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533900" y="25908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70799" y="2733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410200" y="25908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47099" y="2733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39418" y="3264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蔚蓝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905000" y="31242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241899" y="32670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781300" y="31242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118199" y="32670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657600" y="31242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94499" y="32670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533900" y="31242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70799" y="32670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410200" y="31242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747099" y="32670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621155" y="37976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905000" y="36576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241899" y="3800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781300" y="36576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118199" y="3800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3657600" y="36576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994499" y="3800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533900" y="36576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70799" y="3800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410200" y="3657600"/>
              <a:ext cx="80010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747099" y="3800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439418" y="4331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天空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905000" y="41910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241899" y="4333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781300" y="41910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118199" y="4333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3657600" y="41910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994499" y="4333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533900" y="41910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870799" y="4333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410200" y="4191000"/>
              <a:ext cx="8001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747099" y="4333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97" name="Freeform 97"/>
            <p:cNvSpPr/>
            <p:nvPr/>
          </p:nvSpPr>
          <p:spPr>
            <a:xfrm>
              <a:off x="6667500" y="2857500"/>
              <a:ext cx="4762500" cy="1238250"/>
            </a:xfrm>
            <a:prstGeom prst="accentCallout1">
              <a:avLst/>
            </a:prstGeom>
            <a:noFill/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86956" y="3044190"/>
              <a:ext cx="2452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要不要额外屏蔽？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889242" y="3359468"/>
              <a:ext cx="392277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不用。右 padding 让 pad 全排在真实 token 之后，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因果掩码本来就让真实 token 看不到它们。</a:t>
              </a:r>
              <a:br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pad 自己虽能看到前面，但它的 loss 已标 −100。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888480" y="4276725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 分数保留　　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374380" y="427672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✗ 加 −inf → 概率 0</a:t>
              </a:r>
            </a:p>
          </p:txBody>
        </p:sp>
      </p:grpSp>
      <p:grpSp>
        <p:nvGrpSpPr>
          <p:cNvPr id="106" name="source-code"/>
          <p:cNvGrpSpPr/>
          <p:nvPr/>
        </p:nvGrpSpPr>
        <p:grpSpPr>
          <a:xfrm>
            <a:off x="601980" y="5016818"/>
            <a:ext cx="10980420" cy="715327"/>
            <a:chOff x="601980" y="5016818"/>
            <a:chExt cx="10980420" cy="715327"/>
          </a:xfrm>
        </p:grpSpPr>
        <p:sp>
          <p:nvSpPr>
            <p:cNvPr id="103" name="TextBox 103"/>
            <p:cNvSpPr txBox="1"/>
            <p:nvPr/>
          </p:nvSpPr>
          <p:spPr>
            <a:xfrm>
              <a:off x="602742" y="5016818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model/model_minimind.py:129 · 因果掩码</a:t>
              </a:r>
            </a:p>
          </p:txBody>
        </p:sp>
        <p:sp>
          <p:nvSpPr>
            <p:cNvPr id="104" name="Line 104"/>
            <p:cNvSpPr/>
            <p:nvPr/>
          </p:nvSpPr>
          <p:spPr>
            <a:xfrm>
              <a:off x="609600" y="5295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01980" y="5438775"/>
              <a:ext cx="92333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scores[:, :, :, -seq_len:] += torch.full((seq_len, seq_len), float("-inf")).triu(1)</a:t>
              </a:r>
            </a:p>
          </p:txBody>
        </p:sp>
      </p:grpSp>
      <p:grpSp>
        <p:nvGrpSpPr>
          <p:cNvPr id="110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107" name="Rectangle 107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29056" y="5901690"/>
              <a:ext cx="80874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 padding + 因果掩码 + labels = −100，三件事合起来，pad 就自动隐形了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5584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 提供内容，gate 提供开关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" name="ffn-flow"/>
          <p:cNvGrpSpPr/>
          <p:nvPr/>
        </p:nvGrpSpPr>
        <p:grpSpPr>
          <a:xfrm>
            <a:off x="609600" y="1390650"/>
            <a:ext cx="5905500" cy="2095500"/>
            <a:chOff x="609600" y="1390650"/>
            <a:chExt cx="5905500" cy="2095500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59055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256" y="1577340"/>
              <a:ext cx="21671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SwiGLU 前向数据流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14400" y="19621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4400" y="2171700"/>
              <a:ext cx="571500" cy="38100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3314" y="22736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1485900" y="23622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2"/>
            <p:cNvSpPr/>
            <p:nvPr/>
          </p:nvSpPr>
          <p:spPr>
            <a:xfrm>
              <a:off x="1657350" y="20193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1657350" y="2019300"/>
              <a:ext cx="95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4"/>
            <p:cNvSpPr/>
            <p:nvPr/>
          </p:nvSpPr>
          <p:spPr>
            <a:xfrm>
              <a:off x="1657350" y="2705100"/>
              <a:ext cx="95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809750" y="1866900"/>
              <a:ext cx="1047750" cy="304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76968" y="19307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gate_proj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809750" y="2552700"/>
              <a:ext cx="1047750" cy="304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76923" y="26165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up_proj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2857500" y="2019300"/>
              <a:ext cx="95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990850" y="1866900"/>
              <a:ext cx="723900" cy="30480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37545" y="1930718"/>
              <a:ext cx="430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SiLU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3714750" y="2019300"/>
              <a:ext cx="266700" cy="228600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Ellipse 53"/>
            <p:cNvSpPr/>
            <p:nvPr/>
          </p:nvSpPr>
          <p:spPr>
            <a:xfrm>
              <a:off x="3943350" y="22288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51649" y="2314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⊙</a:t>
              </a:r>
            </a:p>
          </p:txBody>
        </p:sp>
        <p:sp>
          <p:nvSpPr>
            <p:cNvPr id="55" name="Line 55"/>
            <p:cNvSpPr/>
            <p:nvPr/>
          </p:nvSpPr>
          <p:spPr>
            <a:xfrm flipV="1">
              <a:off x="2857500" y="2552700"/>
              <a:ext cx="1123950" cy="152400"/>
            </a:xfrm>
            <a:prstGeom prst="line">
              <a:avLst/>
            </a:prstGeom>
            <a:noFill/>
            <a:ln w="14288">
              <a:solidFill>
                <a:schemeClr val="accent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6"/>
            <p:cNvSpPr/>
            <p:nvPr/>
          </p:nvSpPr>
          <p:spPr>
            <a:xfrm>
              <a:off x="4286250" y="2400300"/>
              <a:ext cx="95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419600" y="2209800"/>
              <a:ext cx="10477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86818" y="23117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down_proj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5467350" y="2400300"/>
              <a:ext cx="95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600700" y="2209800"/>
              <a:ext cx="571500" cy="38100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79637" y="23117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x′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7542" y="3130868"/>
              <a:ext cx="4591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SiLU 只作用在 gate 路上 —— 谁接 SiLU，谁就是那个开关</a:t>
              </a:r>
            </a:p>
          </p:txBody>
        </p:sp>
      </p:grpSp>
      <p:grpSp>
        <p:nvGrpSpPr>
          <p:cNvPr id="71" name="ffn-notes"/>
          <p:cNvGrpSpPr/>
          <p:nvPr/>
        </p:nvGrpSpPr>
        <p:grpSpPr>
          <a:xfrm>
            <a:off x="609600" y="3638550"/>
            <a:ext cx="5905500" cy="1809750"/>
            <a:chOff x="609600" y="3638550"/>
            <a:chExt cx="5905500" cy="1809750"/>
          </a:xfrm>
        </p:grpSpPr>
        <p:sp>
          <p:nvSpPr>
            <p:cNvPr id="64" name="Rectangle 64"/>
            <p:cNvSpPr/>
            <p:nvPr/>
          </p:nvSpPr>
          <p:spPr>
            <a:xfrm>
              <a:off x="609600" y="3638550"/>
              <a:ext cx="5905500" cy="18097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5256" y="3825240"/>
              <a:ext cx="25616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注意力和 FFN 分工不同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14400" y="42100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7542" y="43881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注意力 · 跨位置通信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7542" y="4635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让「天空」看到「我爱蔚蓝的」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7542" y="4921568"/>
              <a:ext cx="1460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FFN · 单位置加工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7542" y="51692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每个位置独立做 768 → 2432 → 768</a:t>
              </a:r>
            </a:p>
          </p:txBody>
        </p:sp>
      </p:grpSp>
      <p:grpSp>
        <p:nvGrpSpPr>
          <p:cNvPr id="105" name="ffn_box_map"/>
          <p:cNvGrpSpPr/>
          <p:nvPr/>
        </p:nvGrpSpPr>
        <p:grpSpPr>
          <a:xfrm>
            <a:off x="6819900" y="1390650"/>
            <a:ext cx="4762500" cy="4029075"/>
            <a:chOff x="6819900" y="1390650"/>
            <a:chExt cx="4762500" cy="4029075"/>
          </a:xfrm>
        </p:grpSpPr>
        <p:sp>
          <p:nvSpPr>
            <p:cNvPr id="72" name="Rectangle 72"/>
            <p:cNvSpPr/>
            <p:nvPr/>
          </p:nvSpPr>
          <p:spPr>
            <a:xfrm>
              <a:off x="6819900" y="1390650"/>
              <a:ext cx="47625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65442" y="1511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图中框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98942" y="1511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08692" y="1511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维度变化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819900" y="1809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65442" y="1987868"/>
              <a:ext cx="811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RMSNorm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98942" y="19878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 token 归一化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108692" y="19878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6819900" y="2324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65442" y="2502218"/>
              <a:ext cx="991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 Linear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98942" y="2502218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gate / up 同时投影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108692" y="2502218"/>
              <a:ext cx="144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 [2,340,2432]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6819900" y="28384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65442" y="3016568"/>
              <a:ext cx="383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SiLU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298942" y="3016568"/>
              <a:ext cx="1032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平滑版 ReLU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08692" y="30165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[2,340,2432]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6819900" y="33528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965442" y="353091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⊙ 逐元素乘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298942" y="353091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门控 × 内容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108692" y="35309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[2,340,2432]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6819900" y="38671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65442" y="4045268"/>
              <a:ext cx="573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98942" y="40452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down_proj 投回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108692" y="40452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6819900" y="4381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965442" y="4559618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Dropout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98942" y="4559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代码未实现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108692" y="45596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——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819900" y="48958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965442" y="5073968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⊕ 残差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298942" y="5073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加回主干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108692" y="50739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[2,340,768]</a:t>
              </a:r>
            </a:p>
          </p:txBody>
        </p:sp>
        <p:sp>
          <p:nvSpPr>
            <p:cNvPr id="104" name="Line 104"/>
            <p:cNvSpPr/>
            <p:nvPr/>
          </p:nvSpPr>
          <p:spPr>
            <a:xfrm>
              <a:off x="6819900" y="54102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106" name="Rectangle 106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29056" y="5901690"/>
              <a:ext cx="8157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注意力负责搬运信息，FFN 负责存放知识 —— 这个模型 70% 的参数在 FFN 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28331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63.9M 花在哪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" name="param_breakdown"/>
          <p:cNvGrpSpPr/>
          <p:nvPr/>
        </p:nvGrpSpPr>
        <p:grpSpPr>
          <a:xfrm>
            <a:off x="600456" y="1577340"/>
            <a:ext cx="10981944" cy="2909316"/>
            <a:chOff x="600456" y="1577340"/>
            <a:chExt cx="10981944" cy="2909316"/>
          </a:xfrm>
        </p:grpSpPr>
        <p:sp>
          <p:nvSpPr>
            <p:cNvPr id="36" name="TextBox 36"/>
            <p:cNvSpPr txBox="1"/>
            <p:nvPr/>
          </p:nvSpPr>
          <p:spPr>
            <a:xfrm>
              <a:off x="600456" y="1577340"/>
              <a:ext cx="3692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参数量构成（单位：百万参数 M）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1962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2247900"/>
              <a:ext cx="19050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7542" y="2216468"/>
              <a:ext cx="1306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FFN（SwiGLU）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36392" y="2216468"/>
              <a:ext cx="3047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44.8M · 3 × 768 × 2432 × 8 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2533650"/>
              <a:ext cx="19050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2502218"/>
              <a:ext cx="733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QKV + O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6392" y="250221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14.2M · 1.77M × 8 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2819400"/>
              <a:ext cx="19050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542" y="278796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嵌入表（与 lm_head 共享）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03142" y="278796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4.92M · 6400 × 768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47185" y="305752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44.8M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4448175" y="3276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14485" y="305752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14.2M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515475" y="3276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52785" y="305752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4.92M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1153775" y="3276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" name="param_breakdown-chartArea"/>
            <p:cNvGrpSpPr/>
            <p:nvPr/>
          </p:nvGrpSpPr>
          <p:grpSpPr>
            <a:xfrm>
              <a:off x="609600" y="3390900"/>
              <a:ext cx="10972800" cy="733425"/>
              <a:chOff x="609600" y="3390900"/>
              <a:chExt cx="10972800" cy="733425"/>
            </a:xfrm>
          </p:grpSpPr>
          <p:sp>
            <p:nvSpPr>
              <p:cNvPr id="53" name="Line 53"/>
              <p:cNvSpPr/>
              <p:nvPr/>
            </p:nvSpPr>
            <p:spPr>
              <a:xfrm>
                <a:off x="609600" y="41148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09600" y="3390900"/>
                <a:ext cx="7689532" cy="723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299132" y="3390900"/>
                <a:ext cx="2437448" cy="723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0736580" y="3390900"/>
                <a:ext cx="844868" cy="723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609600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3504" y="42519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2324100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229155" y="4251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4038600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43655" y="4251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762625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667680" y="4251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7477125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2180" y="4251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191625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96680" y="4251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10906125" y="4114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11180" y="4251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  <p:grpSp>
        <p:nvGrpSpPr>
          <p:cNvPr id="79" name="savings"/>
          <p:cNvGrpSpPr/>
          <p:nvPr/>
        </p:nvGrpSpPr>
        <p:grpSpPr>
          <a:xfrm>
            <a:off x="609600" y="4781550"/>
            <a:ext cx="10972800" cy="914400"/>
            <a:chOff x="609600" y="4781550"/>
            <a:chExt cx="10972800" cy="914400"/>
          </a:xfrm>
        </p:grpSpPr>
        <p:sp>
          <p:nvSpPr>
            <p:cNvPr id="73" name="Rectangle 73"/>
            <p:cNvSpPr/>
            <p:nvPr/>
          </p:nvSpPr>
          <p:spPr>
            <a:xfrm>
              <a:off x="609600" y="4781550"/>
              <a:ext cx="5334000" cy="914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8680" y="4981575"/>
              <a:ext cx="2910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tie_word_embeddings = True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9442" y="5302568"/>
              <a:ext cx="3388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嵌入表与 lm_head 共享，省约 4.9M 参数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4781550"/>
              <a:ext cx="5334000" cy="914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07480" y="4981575"/>
              <a:ext cx="190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n_rep = 8 / 4 = 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08242" y="5302568"/>
              <a:ext cx="3448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KV 头 4 / Q 头 8，参数与 cache 同时减半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80" name="Rectangle 80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9056" y="5901690"/>
              <a:ext cx="71151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70% 的参数在 FFN 里 —— 注意力负责搬运信息，FFN 负责存放知识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同一本字典，正着查是输入，反着用是输出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exit-chain"/>
          <p:cNvGrpSpPr/>
          <p:nvPr/>
        </p:nvGrpSpPr>
        <p:grpSpPr>
          <a:xfrm>
            <a:off x="609600" y="1390650"/>
            <a:ext cx="5905500" cy="2804351"/>
            <a:chOff x="609600" y="1390650"/>
            <a:chExt cx="5905500" cy="2804351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5905500" cy="2667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256" y="1577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出口三步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14400" y="19621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4400" y="2171700"/>
              <a:ext cx="33909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22702" y="2292668"/>
              <a:ext cx="1974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RMSNorm [2,340,768]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2609850" y="2590800"/>
              <a:ext cx="1" cy="1905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" y="2819400"/>
              <a:ext cx="33909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03394" y="29403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lm_head 768 → 6400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609850" y="3238500"/>
              <a:ext cx="1" cy="1905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4400" y="3467100"/>
              <a:ext cx="3390900" cy="41910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53416" y="35880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logits [2,340,6400]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7542" y="3930968"/>
              <a:ext cx="3675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每个位置对全词表 6400 个 token 的原始打分</a:t>
              </a:r>
            </a:p>
          </p:txBody>
        </p:sp>
      </p:grpSp>
      <p:grpSp>
        <p:nvGrpSpPr>
          <p:cNvPr id="61" name="share-notes"/>
          <p:cNvGrpSpPr/>
          <p:nvPr/>
        </p:nvGrpSpPr>
        <p:grpSpPr>
          <a:xfrm>
            <a:off x="6819900" y="1390650"/>
            <a:ext cx="4762500" cy="2690051"/>
            <a:chOff x="6819900" y="1390650"/>
            <a:chExt cx="4762500" cy="2690051"/>
          </a:xfrm>
        </p:grpSpPr>
        <p:sp>
          <p:nvSpPr>
            <p:cNvPr id="49" name="Rectangle 49"/>
            <p:cNvSpPr/>
            <p:nvPr/>
          </p:nvSpPr>
          <p:spPr>
            <a:xfrm>
              <a:off x="6819900" y="1390650"/>
              <a:ext cx="4762500" cy="26670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77456" y="1577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同一块权重，两种读法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086600" y="19621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086600" y="2190750"/>
              <a:ext cx="1619250" cy="104775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39613" y="265461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[6400, 768]</a:t>
              </a:r>
            </a:p>
          </p:txBody>
        </p:sp>
        <p:sp>
          <p:nvSpPr>
            <p:cNvPr id="54" name="Line 54"/>
            <p:cNvSpPr/>
            <p:nvPr/>
          </p:nvSpPr>
          <p:spPr>
            <a:xfrm flipV="1">
              <a:off x="8763000" y="2343150"/>
              <a:ext cx="628650" cy="20955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60992" y="2235518"/>
              <a:ext cx="1576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查表 → embedding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763000" y="2857500"/>
              <a:ext cx="628650" cy="209550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0992" y="2959418"/>
              <a:ext cx="1376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打分 → lm_head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086600" y="34290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79742" y="3588068"/>
              <a:ext cx="2642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SoftMax → Decoder 是推理视角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79742" y="3816668"/>
              <a:ext cx="3021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预训练走到 loss 就结束，不真的解码</a:t>
              </a:r>
            </a:p>
          </p:txBody>
        </p:sp>
      </p:grpSp>
      <p:grpSp>
        <p:nvGrpSpPr>
          <p:cNvPr id="69" name="source-code"/>
          <p:cNvGrpSpPr/>
          <p:nvPr/>
        </p:nvGrpSpPr>
        <p:grpSpPr>
          <a:xfrm>
            <a:off x="601980" y="4273868"/>
            <a:ext cx="10980420" cy="1305877"/>
            <a:chOff x="601980" y="4273868"/>
            <a:chExt cx="10980420" cy="1305877"/>
          </a:xfrm>
        </p:grpSpPr>
        <p:sp>
          <p:nvSpPr>
            <p:cNvPr id="62" name="TextBox 62"/>
            <p:cNvSpPr txBox="1"/>
            <p:nvPr/>
          </p:nvSpPr>
          <p:spPr>
            <a:xfrm>
              <a:off x="602742" y="4273868"/>
              <a:ext cx="9373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 · model/model_minimind.py:235（norm 调用）· :246（lm_head 定义）· :247（权重共享）· :253（调用）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09600" y="4552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980" y="46767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hidden_states = self.norm(hidden_states)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16880" y="46767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# [2,340,768]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980" y="4981575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logits = self.lm_head(hidden_states)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16880" y="498157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# [768→6400] → [2,340,6400]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1980" y="5286375"/>
              <a:ext cx="9788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self.config.tie_word_embeddings: self.model.embed_tokens.weight = self.lm_head.weight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70" name="Rectangle 70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9056" y="5901690"/>
              <a:ext cx="81843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权重共享不是省事的技巧 —— 读入词的字典和输出词的字典，本来就是同一本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看左边，猜右边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" name="shift-viz"/>
          <p:cNvGrpSpPr/>
          <p:nvPr/>
        </p:nvGrpSpPr>
        <p:grpSpPr>
          <a:xfrm>
            <a:off x="600456" y="1539240"/>
            <a:ext cx="10981944" cy="1489710"/>
            <a:chOff x="600456" y="1539240"/>
            <a:chExt cx="10981944" cy="1489710"/>
          </a:xfrm>
        </p:grpSpPr>
        <p:sp>
          <p:nvSpPr>
            <p:cNvPr id="36" name="TextBox 36"/>
            <p:cNvSpPr txBox="1"/>
            <p:nvPr/>
          </p:nvSpPr>
          <p:spPr>
            <a:xfrm>
              <a:off x="600456" y="1539240"/>
              <a:ext cx="68001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输入行与预测行错开一位 —— 每个位置都在猜它右边那个 token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190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8868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3350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53004" y="2216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[bos]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8125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59773" y="22164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2900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07523" y="22164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爱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47675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64405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蔚蓝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03024" y="22164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57225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59905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天空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2000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39504" y="2216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[eos]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667750" y="2114550"/>
              <a:ext cx="952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87209" y="22164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96618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381250" y="2647950"/>
              <a:ext cx="952500" cy="3810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759773" y="27498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429000" y="2647950"/>
              <a:ext cx="952500" cy="3810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807523" y="27498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爱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476750" y="2647950"/>
              <a:ext cx="952500" cy="3810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64405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蔚蓝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524500" y="2647950"/>
              <a:ext cx="952500" cy="3810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903024" y="27498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72250" y="2647950"/>
              <a:ext cx="952500" cy="3810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59905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天空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20000" y="2647950"/>
              <a:ext cx="952500" cy="3810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39504" y="27498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[eos]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667750" y="2647950"/>
              <a:ext cx="952500" cy="3810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46274" y="27498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？</a:t>
              </a:r>
            </a:p>
          </p:txBody>
        </p:sp>
      </p:grpSp>
      <p:sp>
        <p:nvSpPr>
          <p:cNvPr id="71" name="loss-formula"/>
          <p:cNvSpPr txBox="1">
            <a:spLocks noGrp="1"/>
          </p:cNvSpPr>
          <p:nvPr/>
        </p:nvSpPr>
        <p:spPr>
          <a:xfrm>
            <a:off x="609600" y="3295650"/>
            <a:ext cx="1097280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 lang="zh-CN" sz="2100" dirty="0">
                      <a:solidFill>
                        <a:srgbClr val="7FB2E5"/>
                      </a:solidFill>
                      <a:latin typeface="Cambria Math"/>
                      <a:ea typeface="Cambria Math"/>
                      <a:cs typeface="Cambria Math"/>
                    </a:rPr>
                    <m:t>𝐿</m:t>
                  </m:r>
                  <m:r>
                    <a:rPr lang="zh-CN" sz="2100" dirty="0">
                      <a:solidFill>
                        <a:srgbClr val="7FB2E5"/>
                      </a:solidFill>
                      <a:latin typeface="Cambria Math"/>
                      <a:ea typeface="Cambria Math"/>
                      <a:cs typeface="Cambria Math"/>
                    </a:rPr>
                    <m:t>=−</m:t>
                  </m:r>
                  <m:f>
                    <m:fPr>
                      <m:ctrlP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fPr>
                    <m:num>
                      <m: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num>
                    <m:den>
                      <m: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𝑁</m:t>
                      </m:r>
                    </m:den>
                  </m:f>
                  <m:nary>
                    <m:naryPr>
                      <m:chr m:val="∑"/>
                      <m:limLoc m:val="undOvr"/>
                      <m:ctrlP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naryPr>
                    <m:sub>
                      <m: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</m:t>
                      </m:r>
                      <m: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sub>
                    <m:sup>
                      <m:r>
                        <a:rPr lang="zh-CN" sz="2100" dirty="0">
                          <a:solidFill>
                            <a:srgbClr val="7FB2E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𝑁</m:t>
                      </m:r>
                    </m:sup>
                    <m:e>
                      <m:func>
                        <m:funcPr>
                          <m:ctrlPr>
                            <a:rPr lang="zh-CN" sz="21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</m:t>
                          </m:r>
                        </m:fName>
                        <m:e>
                          <m:r>
                            <a:rPr lang="zh-CN" sz="2100" dirty="0">
                              <a:solidFill>
                                <a:srgbClr val="7FB2E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zh-CN" sz="2100" i="1" dirty="0">
                                  <a:solidFill>
                                    <a:srgbClr val="7FB2E5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sz="2100" dirty="0">
                                  <a:solidFill>
                                    <a:srgbClr val="7FB2E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≤</m:t>
                                  </m:r>
                                  <m:r>
                                    <a:rPr lang="zh-CN" sz="2100" dirty="0">
                                      <a:solidFill>
                                        <a:srgbClr val="7FB2E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e>
                  </m:nary>
                </m:oMath>
              </m:oMathPara>
            </a14:m>
            <a:endParaRPr/>
          </a:p>
        </p:txBody>
      </p:sp>
      <p:grpSp>
        <p:nvGrpSpPr>
          <p:cNvPr id="79" name="entropy-steps"/>
          <p:cNvGrpSpPr/>
          <p:nvPr/>
        </p:nvGrpSpPr>
        <p:grpSpPr>
          <a:xfrm>
            <a:off x="609600" y="3905250"/>
            <a:ext cx="5334000" cy="1866900"/>
            <a:chOff x="609600" y="3905250"/>
            <a:chExt cx="5334000" cy="1866900"/>
          </a:xfrm>
        </p:grpSpPr>
        <p:sp>
          <p:nvSpPr>
            <p:cNvPr id="72" name="Rectangle 72"/>
            <p:cNvSpPr/>
            <p:nvPr/>
          </p:nvSpPr>
          <p:spPr>
            <a:xfrm>
              <a:off x="609600" y="3905250"/>
              <a:ext cx="5334000" cy="1866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5256" y="4034790"/>
              <a:ext cx="2883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cross_entropy 内部四步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14400" y="44196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7542" y="4578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① softmax 把 6400 个打分变概率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7542" y="4845368"/>
              <a:ext cx="3221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② 用答案 id 索引取出正确 token 的概率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7542" y="5112068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③ 取 −log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7542" y="5378768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④ 平均，pad 位置被 −100 跳过</a:t>
              </a:r>
            </a:p>
          </p:txBody>
        </p:sp>
      </p:grpSp>
      <p:grpSp>
        <p:nvGrpSpPr>
          <p:cNvPr id="88" name="training-loop"/>
          <p:cNvGrpSpPr/>
          <p:nvPr/>
        </p:nvGrpSpPr>
        <p:grpSpPr>
          <a:xfrm>
            <a:off x="6248400" y="3905250"/>
            <a:ext cx="5334000" cy="1870901"/>
            <a:chOff x="6248400" y="3905250"/>
            <a:chExt cx="5334000" cy="1870901"/>
          </a:xfrm>
        </p:grpSpPr>
        <p:sp>
          <p:nvSpPr>
            <p:cNvPr id="80" name="Rectangle 80"/>
            <p:cNvSpPr/>
            <p:nvPr/>
          </p:nvSpPr>
          <p:spPr>
            <a:xfrm>
              <a:off x="6248400" y="3905250"/>
              <a:ext cx="5334000" cy="1866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44056" y="4034790"/>
              <a:ext cx="2809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这个 batch 算了几个位置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6553200" y="44196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545580" y="4581525"/>
              <a:ext cx="13580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18 个有效预测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46342" y="4864418"/>
              <a:ext cx="2521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句子 B：7 个真实 token → 剩 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46342" y="5112068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句子 A：13 个真实 token → 剩 12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6553200" y="54483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546342" y="5512118"/>
              <a:ext cx="3157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累积 → backward → 梯度裁剪 → AdamW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609600" y="5867400"/>
            <a:ext cx="10972800" cy="405384"/>
            <a:chOff x="609600" y="5867400"/>
            <a:chExt cx="10972800" cy="405384"/>
          </a:xfrm>
        </p:grpSpPr>
        <p:sp>
          <p:nvSpPr>
            <p:cNvPr id="89" name="Rectangle 89"/>
            <p:cNvSpPr/>
            <p:nvPr/>
          </p:nvSpPr>
          <p:spPr>
            <a:xfrm>
              <a:off x="609600" y="5867400"/>
              <a:ext cx="10972800" cy="3429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09600" y="5867400"/>
              <a:ext cx="28575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29056" y="5920740"/>
              <a:ext cx="5749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整个预训练只学这一件事 —— 18 份 −log 概率，取平均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全图检查清单（一）：主链路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9" name="mainline_checklist"/>
          <p:cNvGrpSpPr/>
          <p:nvPr/>
        </p:nvGrpSpPr>
        <p:grpSpPr>
          <a:xfrm>
            <a:off x="609600" y="1390650"/>
            <a:ext cx="10972800" cy="4772025"/>
            <a:chOff x="609600" y="1390650"/>
            <a:chExt cx="10972800" cy="4772025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109728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142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架构图元素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74642" y="1473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对应代码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1142" y="1473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章节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175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1844992"/>
              <a:ext cx="163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Tokenizer Encoder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74642" y="1844992"/>
              <a:ext cx="2671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PretrainDataset.__getitem__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61142" y="18449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P04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09600" y="21193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142" y="2211705"/>
              <a:ext cx="1424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 Embedding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74642" y="2211705"/>
              <a:ext cx="1249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embed_tokens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61142" y="2211705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P05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09600" y="2486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5142" y="2573655"/>
              <a:ext cx="2704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Transformer Layer ×K（红圈）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74642" y="2573655"/>
              <a:ext cx="1532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MiniMindBlock × 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61142" y="2573655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P07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2852738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142" y="2940368"/>
              <a:ext cx="2155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Layer k 双残差 ⊕（虚线）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74642" y="2940368"/>
              <a:ext cx="2730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MiniMindBlock.forward 两次 +=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61142" y="29403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P07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09600" y="3219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142" y="3307080"/>
              <a:ext cx="1289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FFN: RMSNorm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74642" y="3307080"/>
              <a:ext cx="2358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post_attention_layernorm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61142" y="3307080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09600" y="358616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5142" y="3669030"/>
              <a:ext cx="2190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FFN: 双 Linear + SiLU + 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74642" y="3669030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gate_proj / up_proj / act_fn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61142" y="3669030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609600" y="3952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142" y="4035742"/>
              <a:ext cx="1847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FFN: Linear（down）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374642" y="4035742"/>
              <a:ext cx="904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down_proj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61142" y="403574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09600" y="4319588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5142" y="4397692"/>
              <a:ext cx="1193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FFN: Dropout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374642" y="43976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图中预留，代码未实现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61142" y="43976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609600" y="4686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5142" y="4764405"/>
              <a:ext cx="1230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顶部 RMSNorm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374642" y="4764405"/>
              <a:ext cx="1040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model.norm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61142" y="4764405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P14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09600" y="50530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5142" y="5126355"/>
              <a:ext cx="991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顶部 Linear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74642" y="5126355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lm_head（与嵌入共享）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661142" y="5126355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P14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609600" y="5419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5142" y="5493068"/>
              <a:ext cx="1678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+ Decoder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374642" y="5493068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推理路径；预训练在 cross_entropy 内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661142" y="54930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P14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609600" y="5786438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5142" y="58550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hello + world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374642" y="5855018"/>
              <a:ext cx="2467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 token 预测 / 推理时解码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661142" y="5855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P15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609600" y="6153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61321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全图检查清单（二）：GQA 九项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" name="gqa_checklist"/>
          <p:cNvGrpSpPr/>
          <p:nvPr/>
        </p:nvGrpSpPr>
        <p:grpSpPr>
          <a:xfrm>
            <a:off x="609600" y="1390650"/>
            <a:ext cx="10972800" cy="4314825"/>
            <a:chOff x="609600" y="1390650"/>
            <a:chExt cx="10972800" cy="4314825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109728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142" y="1492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架构图元素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93642" y="1492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对应代码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1142" y="1492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章节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1771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1892618"/>
              <a:ext cx="1326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RMSNorm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93642" y="1892618"/>
              <a:ext cx="1458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input_layernorm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61142" y="18926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P07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09600" y="220789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142" y="2328862"/>
              <a:ext cx="2647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Linear（Q/K'/V' 三路）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93642" y="2328862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q_proj / k_proj / v_proj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61142" y="232886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P09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09600" y="264414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5142" y="2765108"/>
              <a:ext cx="877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N 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93642" y="276510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q_norm / k_norm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61142" y="276510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P08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307943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142" y="3200400"/>
              <a:ext cx="1981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RoPE（仅 Q、K）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93642" y="3200400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apply_rotary_pos_emb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61142" y="3200400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09600" y="3515678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142" y="3636645"/>
              <a:ext cx="1088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(R) 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93642" y="3636645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repeat_kv(n_rep=2)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61142" y="3636645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P09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09600" y="395192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5142" y="4072890"/>
              <a:ext cx="1058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⊗ 打分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993642" y="4072890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xq @ xkᵀ / √96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61142" y="4072890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609600" y="4388168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142" y="4509135"/>
              <a:ext cx="2298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mask（0/−inf 三角）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993642" y="4509135"/>
              <a:ext cx="144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因果掩码 triu(1)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61142" y="4509135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P11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09600" y="482346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5142" y="4944428"/>
              <a:ext cx="1592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SoftMax → 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93642" y="494442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softmax @ xv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61142" y="494442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609600" y="525970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5142" y="5380673"/>
              <a:ext cx="1401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GQA: Linear + 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993642" y="5380673"/>
              <a:ext cx="1140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o_proj + 残差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61142" y="5380673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09600" y="5695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609600" y="5867400"/>
            <a:ext cx="10972800" cy="405384"/>
            <a:chOff x="609600" y="5867400"/>
            <a:chExt cx="10972800" cy="405384"/>
          </a:xfrm>
        </p:grpSpPr>
        <p:sp>
          <p:nvSpPr>
            <p:cNvPr id="78" name="Rectangle 78"/>
            <p:cNvSpPr/>
            <p:nvPr/>
          </p:nvSpPr>
          <p:spPr>
            <a:xfrm>
              <a:off x="609600" y="5867400"/>
              <a:ext cx="10972800" cy="3429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09600" y="5867400"/>
              <a:ext cx="28575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9056" y="5920740"/>
              <a:ext cx="6415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九个框，九行代码，一章讲完 —— 与第 08 页的九步一一对应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五条带走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" name="principles"/>
          <p:cNvGrpSpPr/>
          <p:nvPr/>
        </p:nvGrpSpPr>
        <p:grpSpPr>
          <a:xfrm>
            <a:off x="609600" y="1390650"/>
            <a:ext cx="10972800" cy="4019550"/>
            <a:chOff x="609600" y="1390650"/>
            <a:chExt cx="10972800" cy="4019550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109728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1571625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5664" y="1683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62456" y="1501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形状即约束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4742" y="18354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一路 768，只有两处膨胀 —— 这是 debug 的第一把尺子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2209800"/>
              <a:ext cx="109728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Ellipse 42"/>
            <p:cNvSpPr/>
            <p:nvPr/>
          </p:nvSpPr>
          <p:spPr>
            <a:xfrm>
              <a:off x="762000" y="2390775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5664" y="25022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2456" y="2320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位置只参与打分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64742" y="2654618"/>
              <a:ext cx="4316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RoPE 只转 Q/K —— 理解这条就理解了位置编码的边界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" y="3028950"/>
              <a:ext cx="109728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Ellipse 47"/>
            <p:cNvSpPr/>
            <p:nvPr/>
          </p:nvSpPr>
          <p:spPr>
            <a:xfrm>
              <a:off x="762000" y="3209925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5664" y="33213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62456" y="3139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残差让深度可训练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64742" y="34737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它不是加法，是让信息在几十层里无损通过的高速公路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9600" y="3848100"/>
              <a:ext cx="109728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Ellipse 52"/>
            <p:cNvSpPr/>
            <p:nvPr/>
          </p:nvSpPr>
          <p:spPr>
            <a:xfrm>
              <a:off x="762000" y="4029075"/>
              <a:ext cx="381000" cy="3810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5664" y="41405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62456" y="39585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图与代码允许有差异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64742" y="4292918"/>
              <a:ext cx="5749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但差异必须被解释 —— 就像 FFN 那个图中有、代码里没有的 Dropout 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9600" y="4667250"/>
              <a:ext cx="109728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Ellipse 57"/>
            <p:cNvSpPr/>
            <p:nvPr/>
          </p:nvSpPr>
          <p:spPr>
            <a:xfrm>
              <a:off x="762000" y="4848225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5664" y="49596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62456" y="4777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监督信号只有一个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64742" y="5112068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看左边猜右边 —— 所有能力都从这一个信号里长出来</a:t>
              </a:r>
            </a:p>
          </p:txBody>
        </p:sp>
      </p:grpSp>
      <p:grpSp>
        <p:nvGrpSpPr>
          <p:cNvPr id="67" name="closing"/>
          <p:cNvGrpSpPr/>
          <p:nvPr/>
        </p:nvGrpSpPr>
        <p:grpSpPr>
          <a:xfrm>
            <a:off x="609600" y="5562600"/>
            <a:ext cx="10972800" cy="762000"/>
            <a:chOff x="609600" y="5562600"/>
            <a:chExt cx="10972800" cy="762000"/>
          </a:xfrm>
        </p:grpSpPr>
        <p:sp>
          <p:nvSpPr>
            <p:cNvPr id="62" name="Rectangle 62"/>
            <p:cNvSpPr/>
            <p:nvPr/>
          </p:nvSpPr>
          <p:spPr>
            <a:xfrm>
              <a:off x="609600" y="5562600"/>
              <a:ext cx="10972800" cy="762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9600" y="5562600"/>
              <a:ext cx="28575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5256" y="57111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架构讲完了，但一次前向只是训练时的一半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7542" y="6045518"/>
              <a:ext cx="9029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推理阶段走得完全不一样 —— KV Cache · 左 Padding · 采样 · EOS → 见姊妹篇《MiniMind 原理 02 · 推理阶段》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9715500" y="5676900"/>
              <a:ext cx="1866900" cy="533400"/>
            </a:xfrm>
            <a:prstGeom prst="rightArrow">
              <a:avLst>
                <a:gd name="adj1" fmla="val 45000"/>
                <a:gd name="adj2" fmla="val 4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5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42000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 A1 · 维度速查表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dim_cheatsheet"/>
          <p:cNvGrpSpPr/>
          <p:nvPr/>
        </p:nvGrpSpPr>
        <p:grpSpPr>
          <a:xfrm>
            <a:off x="609600" y="1390650"/>
            <a:ext cx="10972800" cy="4486275"/>
            <a:chOff x="609600" y="1390650"/>
            <a:chExt cx="10972800" cy="4486275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109728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142" y="1492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31642" y="1492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张量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9642" y="1492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形状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1771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1892618"/>
              <a:ext cx="873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Tokenizer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31642" y="18926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input_ids / labels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9642" y="18926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 340]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09600" y="2181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142" y="2302192"/>
              <a:ext cx="1424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 Embedding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31642" y="2302192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hidden_states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9642" y="2302192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 340, 768]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09600" y="259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5142" y="2711768"/>
              <a:ext cx="669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31642" y="2711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cos / sin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79642" y="27117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[340, 96]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30003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142" y="3121342"/>
              <a:ext cx="1151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 投影 + 分头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31642" y="312134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xq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9642" y="3121342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[2,340,8,96] → [2,8,340,96]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09600" y="3409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142" y="3530918"/>
              <a:ext cx="2311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K/V 投影 + 分头（GQA ×2）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231642" y="3530918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xk, xv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9642" y="3530918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[2,340,4,96] → [2,340,8,96] → [2,8,340,96]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09600" y="3819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5142" y="39404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注意力分数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231642" y="3940492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scores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79642" y="3940492"/>
              <a:ext cx="1476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[2, 8, 340, 340]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609600" y="4229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142" y="4350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注意力输出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231642" y="43500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output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79642" y="4350068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[2,8,340,96] → [2,340,768]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09600" y="46386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5142" y="4759642"/>
              <a:ext cx="933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 中间层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231642" y="4759642"/>
              <a:ext cx="822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gate / up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9642" y="4759642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 340, 2432]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5142" y="516921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 logits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231642" y="51692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79642" y="516921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[2, 340, 6400]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09600" y="54578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5142" y="5578792"/>
              <a:ext cx="368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loss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231642" y="55787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79642" y="5578792"/>
              <a:ext cx="2694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标量（本 batch 18 个有效位置）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609600" y="5867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609600" y="5981700"/>
            <a:ext cx="10972800" cy="405384"/>
            <a:chOff x="609600" y="5981700"/>
            <a:chExt cx="10972800" cy="405384"/>
          </a:xfrm>
        </p:grpSpPr>
        <p:sp>
          <p:nvSpPr>
            <p:cNvPr id="82" name="Rectangle 82"/>
            <p:cNvSpPr/>
            <p:nvPr/>
          </p:nvSpPr>
          <p:spPr>
            <a:xfrm>
              <a:off x="609600" y="5981700"/>
              <a:ext cx="10972800" cy="3429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09600" y="5981700"/>
              <a:ext cx="28575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9056" y="6035040"/>
              <a:ext cx="6245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一次前向涉及的全部张量形状 —— 橙色两行是仅有的膨胀点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2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42000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 A2 · 新手术语表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" name="glossary"/>
          <p:cNvGrpSpPr/>
          <p:nvPr/>
        </p:nvGrpSpPr>
        <p:grpSpPr>
          <a:xfrm>
            <a:off x="609600" y="1390650"/>
            <a:ext cx="10972800" cy="4762500"/>
            <a:chOff x="609600" y="1390650"/>
            <a:chExt cx="10972800" cy="4762500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80" y="164782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token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342" y="198786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模型处理文本的最小单位，对应一个 id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43400" y="1390650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4380" y="164782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embedding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65142" y="19878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id 到语义向量的查表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077200" y="1390650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8180" y="16478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98942" y="19878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softmax 之前的原始打分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9600" y="2619375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0580" y="2876550"/>
              <a:ext cx="1065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头（head）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1342" y="3216592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768 维切成 8 份，各自独立做注意力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343400" y="2619375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64380" y="287655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GQA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5142" y="3216592"/>
              <a:ext cx="2800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KV 头比 Q 头少，多组 Q 共享一份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77200" y="2619375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98180" y="2876550"/>
              <a:ext cx="478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RoPE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8942" y="3216592"/>
              <a:ext cx="3210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给 Q/K 按位置旋转，点积带上相对位置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3848100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0580" y="4105275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残差（⊕）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1342" y="44453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子层输出加回输入，信息高速公路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43400" y="3848100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64380" y="4105275"/>
              <a:ext cx="8178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RMSNorm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65142" y="44453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按向量长度归一化，稳定每层输入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077200" y="3848100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98180" y="4105275"/>
              <a:ext cx="706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SwiGLU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98942" y="4445318"/>
              <a:ext cx="2319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FFN 门控：SiLU(gate) ⊙ up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9600" y="5076825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0580" y="53340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因果掩码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1342" y="56740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只许看过去、不许看未来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343400" y="5076825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64380" y="5334000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cross entropy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65142" y="5674042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−log(正确 token 的概率)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077200" y="5076825"/>
              <a:ext cx="3505200" cy="10763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98180" y="533400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-100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8942" y="5674042"/>
              <a:ext cx="30064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PyTorch 约定的「此位置不计 loss」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id-fiel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30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sheet-head"/>
          <p:cNvGrpSpPr/>
          <p:nvPr/>
        </p:nvGrpSpPr>
        <p:grpSpPr>
          <a:xfrm>
            <a:off x="593598" y="612458"/>
            <a:ext cx="10994898" cy="616077"/>
            <a:chOff x="593598" y="612458"/>
            <a:chExt cx="10994898" cy="616077"/>
          </a:xfrm>
        </p:grpSpPr>
        <p:sp>
          <p:nvSpPr>
            <p:cNvPr id="32" name="TextBox 32"/>
            <p:cNvSpPr txBox="1"/>
            <p:nvPr/>
          </p:nvSpPr>
          <p:spPr>
            <a:xfrm>
              <a:off x="593598" y="612458"/>
              <a:ext cx="46240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 A3 · 常见疑问三则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4360" y="8229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faq"/>
          <p:cNvGrpSpPr/>
          <p:nvPr/>
        </p:nvGrpSpPr>
        <p:grpSpPr>
          <a:xfrm>
            <a:off x="609600" y="1390650"/>
            <a:ext cx="10972800" cy="3152775"/>
            <a:chOff x="609600" y="1390650"/>
            <a:chExt cx="10972800" cy="3152775"/>
          </a:xfrm>
        </p:grpSpPr>
        <p:sp>
          <p:nvSpPr>
            <p:cNvPr id="36" name="Rectangle 36"/>
            <p:cNvSpPr/>
            <p:nvPr/>
          </p:nvSpPr>
          <p:spPr>
            <a:xfrm>
              <a:off x="609600" y="1390650"/>
              <a:ext cx="109728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3242" y="1492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50742" y="1492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解答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1771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3242" y="2045018"/>
              <a:ext cx="2021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为什么序列长度是 340？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50742" y="2045018"/>
              <a:ext cx="7128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预训练截断 / 补齐长度，由训练脚本默认参数决定；补齐后才能拼成矩形张量并行计算。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2692718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3242" y="2966085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为什么是 8 层？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50742" y="2966085"/>
              <a:ext cx="7047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64M 规模下深度与宽度的取舍；层数越深越难训，残差与 Pre-Norm 让 8 层稳定可训。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09600" y="361378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3242" y="3887152"/>
              <a:ext cx="199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Dense 与 MoE 差在哪？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50742" y="3887152"/>
              <a:ext cx="7140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use_moe=True 时 FFN 换成专家层，每 token 只激活 top-k 专家；对外形状完全不变。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" name="source-note"/>
          <p:cNvGrpSpPr/>
          <p:nvPr/>
        </p:nvGrpSpPr>
        <p:grpSpPr>
          <a:xfrm>
            <a:off x="602742" y="4997768"/>
            <a:ext cx="9121189" cy="568833"/>
            <a:chOff x="602742" y="4997768"/>
            <a:chExt cx="9121189" cy="568833"/>
          </a:xfrm>
        </p:grpSpPr>
        <p:sp>
          <p:nvSpPr>
            <p:cNvPr id="50" name="TextBox 50"/>
            <p:cNvSpPr txBox="1"/>
            <p:nvPr/>
          </p:nvSpPr>
          <p:spPr>
            <a:xfrm>
              <a:off x="602742" y="4997768"/>
              <a:ext cx="9121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 deck 只讲前向本体。以上三问的完整版，以及 KV Cache / 左 Padding / 采样 / EOS 等推理细节，见姊妹篇。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2742" y="5302568"/>
              <a:ext cx="7207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docs/MiniMind原理01_模型架构与预训练.md　·　docs/MiniMind原理02_推理阶段.md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609600" y="5829300"/>
            <a:ext cx="10972800" cy="424434"/>
            <a:chOff x="609600" y="5829300"/>
            <a:chExt cx="10972800" cy="424434"/>
          </a:xfrm>
        </p:grpSpPr>
        <p:sp>
          <p:nvSpPr>
            <p:cNvPr id="53" name="Rectangle 53"/>
            <p:cNvSpPr/>
            <p:nvPr/>
          </p:nvSpPr>
          <p:spPr>
            <a:xfrm>
              <a:off x="609600" y="5829300"/>
              <a:ext cx="10972800" cy="3810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5829300"/>
              <a:ext cx="2857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056" y="5901690"/>
              <a:ext cx="7542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把这张图和 checklist 对照着看一遍，架构图上就没有你看不懂的框了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minimind-principle-01">
  <a:themeElements>
    <a:clrScheme name="minimind-principle-01">
      <a:dk1>
        <a:srgbClr val="E6ECF5"/>
      </a:dk1>
      <a:lt1>
        <a:srgbClr val="0B1220"/>
      </a:lt1>
      <a:dk2>
        <a:srgbClr val="1F497D"/>
      </a:dk2>
      <a:lt2>
        <a:srgbClr val="121A2B"/>
      </a:lt2>
      <a:accent1>
        <a:srgbClr val="7FB2E5"/>
      </a:accent1>
      <a:accent2>
        <a:srgbClr val="FFB020"/>
      </a:accent2>
      <a:accent3>
        <a:srgbClr val="4A6FA5"/>
      </a:accent3>
      <a:accent4>
        <a:srgbClr val="7FB2E5"/>
      </a:accent4>
      <a:accent5>
        <a:srgbClr val="97A3C4"/>
      </a:accent5>
      <a:accent6>
        <a:srgbClr val="22304A"/>
      </a:accent6>
      <a:hlink>
        <a:srgbClr val="FFB020"/>
      </a:hlink>
      <a:folHlink>
        <a:srgbClr val="4A6FA5"/>
      </a:folHlink>
    </a:clrScheme>
    <a:fontScheme name="minimind-principle-01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principle-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imind-principle-01">
  <a:themeElements>
    <a:clrScheme name="minimind-principle-01">
      <a:dk1>
        <a:srgbClr val="E6ECF5"/>
      </a:dk1>
      <a:lt1>
        <a:srgbClr val="0B1220"/>
      </a:lt1>
      <a:dk2>
        <a:srgbClr val="1F497D"/>
      </a:dk2>
      <a:lt2>
        <a:srgbClr val="121A2B"/>
      </a:lt2>
      <a:accent1>
        <a:srgbClr val="7FB2E5"/>
      </a:accent1>
      <a:accent2>
        <a:srgbClr val="FFB020"/>
      </a:accent2>
      <a:accent3>
        <a:srgbClr val="4A6FA5"/>
      </a:accent3>
      <a:accent4>
        <a:srgbClr val="7FB2E5"/>
      </a:accent4>
      <a:accent5>
        <a:srgbClr val="97A3C4"/>
      </a:accent5>
      <a:accent6>
        <a:srgbClr val="22304A"/>
      </a:accent6>
      <a:hlink>
        <a:srgbClr val="FFB020"/>
      </a:hlink>
      <a:folHlink>
        <a:srgbClr val="4A6FA5"/>
      </a:folHlink>
    </a:clrScheme>
    <a:fontScheme name="minimind-principle-01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principle-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6394</Words>
  <Application>Microsoft Macintosh PowerPoint</Application>
  <PresentationFormat>宽屏</PresentationFormat>
  <Paragraphs>554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Cambria Math</vt:lpstr>
      <vt:lpstr>Consolas</vt:lpstr>
      <vt:lpstr>minimind-principle-01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T179597</cp:lastModifiedBy>
  <cp:revision>2</cp:revision>
  <dcterms:created xsi:type="dcterms:W3CDTF">2026-10-07T14:00:33Z</dcterms:created>
  <dcterms:modified xsi:type="dcterms:W3CDTF">2026-10-07T14:20:21Z</dcterms:modified>
  <cp:category/>
  <cp:contentStatus/>
  <dc:language>zh-CN</dc:language>
</cp:coreProperties>
</file>