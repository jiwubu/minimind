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  <Relationship Id="rId16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这一场只讲怎么用，不讲为什么。这条流水线分四个环节：先做预训练，再做 SFT 让它学会对话，需要的话继续做 RL，最后评测、接进自己的系统。最值得先记住的是右边这三行命令和两个数字——单卡 3090 上，预训练加 SFT 两步合计约二点三一小时、约三元钱，跑完就有第一个能对话的模型。每一页的内容都可以直接拍照照着敲。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先看地图，四个环节对应四张卡，每张卡上写了用哪个脚本、大概花多久。八条命令不必都跑，最小路径只有预训练加 SFT 两条。开工前确认三件事：克隆仓库装依赖、跑一句判断显卡是否可用、把数据放进 dataset 目录；数据不用全下，一开始只要 pretrain_t2t_mini 和 sft_t2t_mini 两个文件，加起来不到三个 G，其余按需再补。最后记住两条通用后缀：想多卡就在命令前面加 torchrun，想断点续训就在命令后面加 from_resume 一，八个脚本都适用。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预训练就是从零开始训，一条命令，单卡 3090 大约一点二一小时、约一块五毛七。注意必须先在 trainer 目录下执行——脚本里所有路径都是相对这个目录写的，在仓库根目录敲会直接找不到文件。默认参数是 batch 三十二乘梯度累积八，等效批大小二五六，学习率五乘十的负四次方，序列长度三百四十，跑两个轮次，产出文件名是 pretrain 七六八点 pth。这里有个反直觉的点要重点说：预训练权重不能直接对话，它只会接着往下写、不会回答问题，想验证得用 eval_llm 加 weight pretrain，脚本对它是走裸续写分支的。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SFT 有三条路，都是在已经训过的模型上继续训，区别只在动多少参数、跟谁学。全参微调是必经一步，大约一点一小时，产出的就是能对话的模型；它的学习率降到一的负五次方，比预训练低了五十倍，因为这一步只是在已有能力上调整表达方式，步子大了会把原来的能力破坏掉。LoRA 用来改身份、补垂域，只需要自己准备几十条对话数据，CPU 都能跑完；使用时最容易出错的是基模必须对得上，用 full_sft 训出来的 LoRA 不能用 pretrain 去加载。蒸馏是拿一个大模型教一个小模型，要同时准备学生和教师两个权重，现在没有这个需求可以跳过。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跑强化学习之前必须先把三样东西备齐，十个跑不起来的问题有九个出在这里。第一样也是最容易漏的是奖励模型，参数默认指向仓库外层的一个目录，没有准备的话初始化阶段就会直接失败。第二样是数据，PPO 和 GRPO 用二十四兆的 rlaif 提示集，DPO 用五十三兆的偏好对。第三样是显存，这个阶段要同时驻留策略、参考、奖励三个模型，比 SFT 高得多。命令上建议先跑 GRPO，它不需要 critic，显存最省，跑通之后再上 PPO。训练开始后盯四个指标：奖励有没有在涨，离参考模型跑了多远，优势的标准差是不是接近零——接近零意味着这一组回答没有区分度、采样就白费了，还有回答长度有没有失控。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Agent RL 不一样的地方在采样过程：模型对一个问题最多来回三轮，先生成、发出工具调用、执行工具、把结果喂回去再生成，直到给出结论。脚本里内置了六个模拟工具——数学、单位、天气、时间、汇率、翻译，都不需要联网。训完必须验，只看损失曲线不算数，要跑工具调用评测、看到它真的把工具调起来才算成。下面这块 SGLang 是可选的加速件：强化学习里时间大头是采样，本地生成又慢又占显存，所以可以另开一个终端起一个推理服务，训练时用 rollout_engine 参数切过去，权重每隔若干步同步一次。建议先用默认的本地引擎跑通，再考虑开这个。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验收只回答一个问题：它现在能不能用。第一步是把权重正确地加载起来，三种方式都在这页：原生权重用 weight 参数，下载的完整模型目录用 load_from，叠加 LoRA 就把两个参数一起给。这里最容易出错的地方是预训练权重必须配 pretrain，脚本对它走的是裸续写分支，拿对话格式去测当然答非所问。然后做三类检查：跑一遍看回答，自动测试会一次问八个问题，适合做前后版本对比；看训练曲线，配合 SwanLab 对照官方走势图判断有没有训歪；如果是 Agent 模型，还要单独验工具调用。右边这张是官方 GRPO 的参考曲线，可以对照自己那条。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很多人训完拿到点 pth 文件就停住了，这一页讲怎么把它用起来，四种方式按使用场景排。演示给别人看用网页界面，记得先把模型文件夹复制到 scripts 目录，脚本会自动扫描那个目录、找不到就直接报错。要接进自己的应用就用 OpenAI 兼容接口，起服务之后任何使用 OpenAI SDK 的下游工具都能直接连上，不需要改代码。本地随手试试可以用 ollama，一行命令；要做压测和批量推理就用 vllm。右上角这张是 Agent 模型跑起来之后的界面，能看到它的思考过程和每一轮工具调用的结果。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最后这一页可以直接拍照留存。上半是八个训练命令和各自的产出文件名，统一在 trainer 目录下执行，多卡加前缀、续训加后缀。左下是显存不够时的四个手段，按推荐顺序来：先降 batch 同时按比例加梯度累积、保持等效批大小不变，再降序列长度，然后关掉 MoE，最后才是开编译加速。右下是八个真实会踩的坑，最常见的就是第一个——忘了先切到 trainer 目录。最后记住一句话：最小的用法是两条命令，最大的用法是八个脚本全跑一遍，先跑通主干，再按需加餐。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inimind-training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inimind-training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bf471d7d9e0a3b0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99df65d8a2084dc.jp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03c8d1c91189f7d.jp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d388077bd0af9f4.jp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301e52af6154c74.jp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cover-title"/>
          <p:cNvGrpSpPr/>
          <p:nvPr/>
        </p:nvGrpSpPr>
        <p:grpSpPr>
          <a:xfrm>
            <a:off x="590550" y="1737360"/>
            <a:ext cx="5099366" cy="2853690"/>
            <a:chOff x="590550" y="1737360"/>
            <a:chExt cx="5099366" cy="2853690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1737360"/>
              <a:ext cx="23536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MINIMIND · 训练流水线使用指南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50" y="2270760"/>
              <a:ext cx="509936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 MiniMind 跑起来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8932" y="3049905"/>
              <a:ext cx="356951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训练 · SFT · RL · 评测推理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01980" y="3571875"/>
              <a:ext cx="46798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不讲为什么，只讲怎么跑——每条命令都可直接复制。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609600" y="4095750"/>
              <a:ext cx="201930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49630" y="4248150"/>
              <a:ext cx="11864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约 2.31 小时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2781300" y="4095750"/>
              <a:ext cx="156210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021330" y="4248150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约 3 元</a:t>
              </a:r>
            </a:p>
          </p:txBody>
        </p:sp>
      </p:grpSp>
      <p:grpSp>
        <p:nvGrpSpPr>
          <p:cNvPr id="22" name="cover-panel"/>
          <p:cNvGrpSpPr/>
          <p:nvPr/>
        </p:nvGrpSpPr>
        <p:grpSpPr>
          <a:xfrm>
            <a:off x="6286500" y="1866900"/>
            <a:ext cx="5295900" cy="2971800"/>
            <a:chOff x="6286500" y="1866900"/>
            <a:chExt cx="5295900" cy="2971800"/>
          </a:xfrm>
        </p:grpSpPr>
        <p:sp>
          <p:nvSpPr>
            <p:cNvPr id="11" name="Rectangle 11"/>
            <p:cNvSpPr/>
            <p:nvPr/>
          </p:nvSpPr>
          <p:spPr>
            <a:xfrm>
              <a:off x="6286500" y="1866900"/>
              <a:ext cx="5295900" cy="2971800"/>
            </a:xfrm>
            <a:prstGeom prst="roundRect">
              <a:avLst>
                <a:gd name="adj" fmla="val 4487"/>
              </a:avLst>
            </a:prstGeom>
            <a:solidFill>
              <a:schemeClr val="accent1"/>
            </a:solidFill>
            <a:ln>
              <a:noFill/>
            </a:ln>
            <a:effectLst>
              <a:outerShdw blurRad="152400" dist="571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6661404" y="2156460"/>
              <a:ext cx="12480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DB4D0"/>
                  </a:solidFill>
                  <a:latin typeface="Consolas"/>
                  <a:ea typeface="Microsoft YaHei"/>
                  <a:cs typeface="Consolas"/>
                </a:rPr>
                <a:t>最小路径 · 三步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660642" y="25974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FA8C8"/>
                  </a:solidFill>
                  <a:latin typeface="Consolas"/>
                  <a:ea typeface="Consolas"/>
                  <a:cs typeface="Consolas"/>
                </a:rPr>
                <a:t>$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870192" y="2597468"/>
              <a:ext cx="10132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cd trainer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60642" y="29594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$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870192" y="2959418"/>
              <a:ext cx="24126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python train_pretrain.py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60642" y="33213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$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870192" y="3321368"/>
              <a:ext cx="24126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python train_full_sft.py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667500" y="3810000"/>
              <a:ext cx="4533900" cy="9525"/>
            </a:xfrm>
            <a:custGeom>
              <a:avLst/>
              <a:gdLst/>
              <a:ahLst/>
              <a:cxnLst/>
              <a:rect l="l" t="t" r="r" b="b"/>
              <a:pathLst>
                <a:path w="4533900" h="9525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59880" y="40481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跑完这两步，你就有一个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59880" y="4352925"/>
              <a:ext cx="19643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会对话的 </a:t>
              </a:r>
              <a:r>
                <a:rPr lang="en-US" sz="1500" b="1" dirty="0">
                  <a:solidFill>
                    <a:srgbClr val="FFB27A"/>
                  </a:solidFill>
                  <a:latin typeface="+mn-lt"/>
                  <a:ea typeface="+mn-ea"/>
                  <a:cs typeface="+mn-cs"/>
                </a:rPr>
                <a:t>64M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小模型</a:t>
              </a:r>
            </a:p>
          </p:txBody>
        </p:sp>
      </p:grpSp>
      <p:grpSp>
        <p:nvGrpSpPr>
          <p:cNvPr id="35" name="cover-stages"/>
          <p:cNvGrpSpPr/>
          <p:nvPr/>
        </p:nvGrpSpPr>
        <p:grpSpPr>
          <a:xfrm>
            <a:off x="609600" y="5105400"/>
            <a:ext cx="10972800" cy="657606"/>
            <a:chOff x="609600" y="5105400"/>
            <a:chExt cx="10972800" cy="657606"/>
          </a:xfrm>
        </p:grpSpPr>
        <p:sp>
          <p:nvSpPr>
            <p:cNvPr id="23" name="Rectangle 23"/>
            <p:cNvSpPr/>
            <p:nvPr/>
          </p:nvSpPr>
          <p:spPr>
            <a:xfrm>
              <a:off x="609600" y="5105400"/>
              <a:ext cx="2628900" cy="647700"/>
            </a:xfrm>
            <a:prstGeom prst="roundRect">
              <a:avLst>
                <a:gd name="adj" fmla="val 2058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0580" y="5267325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训练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2104" y="5528310"/>
              <a:ext cx="15226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B6B7C"/>
                  </a:solidFill>
                  <a:latin typeface="Consolas"/>
                  <a:ea typeface="Consolas"/>
                  <a:cs typeface="Consolas"/>
                </a:rPr>
                <a:t>train_pretrain.py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390900" y="5105400"/>
              <a:ext cx="2628900" cy="647700"/>
            </a:xfrm>
            <a:prstGeom prst="roundRect">
              <a:avLst>
                <a:gd name="adj" fmla="val 2058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611880" y="5267325"/>
              <a:ext cx="5753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SFT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13404" y="5528310"/>
              <a:ext cx="15226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B6B7C"/>
                  </a:solidFill>
                  <a:latin typeface="Consolas"/>
                  <a:ea typeface="Consolas"/>
                  <a:cs typeface="Consolas"/>
                </a:rPr>
                <a:t>train_full_sft.py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172200" y="5105400"/>
              <a:ext cx="2628900" cy="647700"/>
            </a:xfrm>
            <a:prstGeom prst="roundRect">
              <a:avLst>
                <a:gd name="adj" fmla="val 2058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93180" y="5267325"/>
              <a:ext cx="4520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RL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94704" y="5528310"/>
              <a:ext cx="10783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B6B7C"/>
                  </a:solidFill>
                  <a:latin typeface="Consolas"/>
                  <a:ea typeface="Consolas"/>
                  <a:cs typeface="Consolas"/>
                </a:rPr>
                <a:t>grpo / agent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953500" y="5105400"/>
              <a:ext cx="2628900" cy="647700"/>
            </a:xfrm>
            <a:prstGeom prst="roundRect">
              <a:avLst>
                <a:gd name="adj" fmla="val 2058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174480" y="5267325"/>
              <a:ext cx="12051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④ 评测与推理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176004" y="5528310"/>
              <a:ext cx="9895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B6B7C"/>
                  </a:solidFill>
                  <a:latin typeface="Consolas"/>
                  <a:ea typeface="Consolas"/>
                  <a:cs typeface="Consolas"/>
                </a:rPr>
                <a:t>eval_llm.py</a:t>
              </a:r>
            </a:p>
          </p:txBody>
        </p:sp>
      </p:grpSp>
      <p:grpSp>
        <p:nvGrpSpPr>
          <p:cNvPr id="38" name="cover-footer"/>
          <p:cNvGrpSpPr/>
          <p:nvPr/>
        </p:nvGrpSpPr>
        <p:grpSpPr>
          <a:xfrm>
            <a:off x="609600" y="6076950"/>
            <a:ext cx="10978896" cy="429006"/>
            <a:chOff x="609600" y="6076950"/>
            <a:chExt cx="10978896" cy="429006"/>
          </a:xfrm>
        </p:grpSpPr>
        <p:pic>
          <p:nvPicPr>
            <p:cNvPr id="36" name="Image 3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076950"/>
              <a:ext cx="1638300" cy="400050"/>
            </a:xfrm>
            <a:prstGeom prst="rect">
              <a:avLst/>
            </a:prstGeom>
          </p:spPr>
        </p:pic>
        <p:sp>
          <p:nvSpPr>
            <p:cNvPr id="37" name="TextBox 37"/>
            <p:cNvSpPr txBox="1"/>
            <p:nvPr/>
          </p:nvSpPr>
          <p:spPr>
            <a:xfrm>
              <a:off x="8725052" y="6271260"/>
              <a:ext cx="28634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9 页 · 约 30 分钟 · 单卡 3090 成本基准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884" y="699135"/>
            <a:ext cx="10992612" cy="529590"/>
            <a:chOff x="595884" y="699135"/>
            <a:chExt cx="10992612" cy="529590"/>
          </a:xfrm>
        </p:grpSpPr>
        <p:sp>
          <p:nvSpPr>
            <p:cNvPr id="2" name="TextBox 2"/>
            <p:cNvSpPr txBox="1"/>
            <p:nvPr/>
          </p:nvSpPr>
          <p:spPr>
            <a:xfrm>
              <a:off x="595884" y="699135"/>
              <a:ext cx="257175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全景与开工准备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0098176" y="86106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四个环节 · 八条命令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19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</p:grpSp>
      <p:grpSp>
        <p:nvGrpSpPr>
          <p:cNvPr id="34" name="stage-map"/>
          <p:cNvGrpSpPr/>
          <p:nvPr/>
        </p:nvGrpSpPr>
        <p:grpSpPr>
          <a:xfrm>
            <a:off x="609600" y="1447800"/>
            <a:ext cx="10972800" cy="1305306"/>
            <a:chOff x="609600" y="1447800"/>
            <a:chExt cx="10972800" cy="1305306"/>
          </a:xfrm>
        </p:grpSpPr>
        <p:sp>
          <p:nvSpPr>
            <p:cNvPr id="6" name="Rectangle 6"/>
            <p:cNvSpPr/>
            <p:nvPr/>
          </p:nvSpPr>
          <p:spPr>
            <a:xfrm>
              <a:off x="609600" y="1447800"/>
              <a:ext cx="2628900" cy="1295400"/>
            </a:xfrm>
            <a:prstGeom prst="roundRect">
              <a:avLst>
                <a:gd name="adj" fmla="val 1029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6192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5779" y="16802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6330" y="16478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训练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104" y="20040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从零把权重训出来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104" y="2289810"/>
              <a:ext cx="14418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train_pretrain.py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104" y="2518410"/>
              <a:ext cx="19103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约 1.21 小时 · 约 1.57 元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390900" y="1447800"/>
              <a:ext cx="2628900" cy="1295400"/>
            </a:xfrm>
            <a:prstGeom prst="roundRect">
              <a:avLst>
                <a:gd name="adj" fmla="val 1029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3524250" y="16192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07079" y="16802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97630" y="1647825"/>
              <a:ext cx="384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SFT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13404" y="20040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让它学会对话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13404" y="22898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full_sft · lora · distill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13404" y="2518410"/>
              <a:ext cx="19103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约 1.10 小时 · 约 1.43 元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172200" y="1447800"/>
              <a:ext cx="2628900" cy="1295400"/>
            </a:xfrm>
            <a:prstGeom prst="roundRect">
              <a:avLst>
                <a:gd name="adj" fmla="val 1029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6305550" y="16192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388379" y="16802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78930" y="1647825"/>
              <a:ext cx="2616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RL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94704" y="20040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答得更好、会用工具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94704" y="2289810"/>
              <a:ext cx="14499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grpo · ppo · agent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94704" y="2518410"/>
              <a:ext cx="1651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需奖励模型 · 显存更高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953500" y="1447800"/>
              <a:ext cx="2628900" cy="1295400"/>
            </a:xfrm>
            <a:prstGeom prst="roundRect">
              <a:avLst>
                <a:gd name="adj" fmla="val 1029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9086850" y="161925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169679" y="16802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0230" y="16478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评测与推理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176004" y="20040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确认训好了、把它用起来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176004" y="2289810"/>
              <a:ext cx="14095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eval_llm · toolcall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176004" y="2518410"/>
              <a:ext cx="20234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命令行 / 网页 / 接口 / 服务</a:t>
              </a:r>
            </a:p>
          </p:txBody>
        </p:sp>
      </p:grpSp>
      <p:grpSp>
        <p:nvGrpSpPr>
          <p:cNvPr id="47" name="setup-steps"/>
          <p:cNvGrpSpPr/>
          <p:nvPr/>
        </p:nvGrpSpPr>
        <p:grpSpPr>
          <a:xfrm>
            <a:off x="601980" y="3013710"/>
            <a:ext cx="5494020" cy="2967990"/>
            <a:chOff x="601980" y="3013710"/>
            <a:chExt cx="5494020" cy="2967990"/>
          </a:xfrm>
        </p:grpSpPr>
        <p:sp>
          <p:nvSpPr>
            <p:cNvPr id="35" name="TextBox 35"/>
            <p:cNvSpPr txBox="1"/>
            <p:nvPr/>
          </p:nvSpPr>
          <p:spPr>
            <a:xfrm>
              <a:off x="603504" y="30137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开工三步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1980" y="3286125"/>
              <a:ext cx="19436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　克隆仓库、装依赖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2104" y="3547110"/>
              <a:ext cx="17003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git clone --depth 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2104" y="3756660"/>
              <a:ext cx="26211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github.com/jingyaogong/minimind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2104" y="3966210"/>
              <a:ext cx="27665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pip install -r requirements.txt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01980" y="4257675"/>
              <a:ext cx="20198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　自检 GPU 是否可用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2104" y="4518660"/>
              <a:ext cx="28553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print(torch.cuda.is_available())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01980" y="4810125"/>
              <a:ext cx="27110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3　下载数据放进 </a:t>
              </a: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./dataset/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09600" y="5124450"/>
              <a:ext cx="5486400" cy="857250"/>
            </a:xfrm>
            <a:prstGeom prst="roundRect">
              <a:avLst>
                <a:gd name="adj" fmla="val 1555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30580" y="52292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两条通用后缀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32104" y="5509260"/>
              <a:ext cx="35968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多卡：命令前加 </a:t>
              </a:r>
              <a:r>
                <a:rPr lang="en-US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torchrun --nproc_per_node 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2104" y="5737860"/>
              <a:ext cx="25242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续训：命令后加 </a:t>
              </a:r>
              <a:r>
                <a:rPr lang="en-US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--from_resume 1</a:t>
              </a:r>
            </a:p>
          </p:txBody>
        </p:sp>
      </p:grpSp>
      <p:grpSp>
        <p:nvGrpSpPr>
          <p:cNvPr id="58" name="data-column"/>
          <p:cNvGrpSpPr/>
          <p:nvPr/>
        </p:nvGrpSpPr>
        <p:grpSpPr>
          <a:xfrm>
            <a:off x="6318504" y="3013710"/>
            <a:ext cx="5263896" cy="3206496"/>
            <a:chOff x="6318504" y="3013710"/>
            <a:chExt cx="5263896" cy="3206496"/>
          </a:xfrm>
        </p:grpSpPr>
        <p:sp>
          <p:nvSpPr>
            <p:cNvPr id="48" name="TextBox 48"/>
            <p:cNvSpPr txBox="1"/>
            <p:nvPr/>
          </p:nvSpPr>
          <p:spPr>
            <a:xfrm>
              <a:off x="6318504" y="301371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数据：最小复现只要两个文件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318504" y="3318510"/>
              <a:ext cx="20557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pretrain_t2t_mini.jsonl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192512" y="3318510"/>
              <a:ext cx="481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1.2GB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318504" y="3566160"/>
              <a:ext cx="16114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sft_t2t_mini.jsonl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192512" y="3566160"/>
              <a:ext cx="481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1.6GB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318504" y="3870960"/>
              <a:ext cx="38486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其余按需：dpo 53MB · rlaif 24MB · agent_rl 86MB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318504" y="4118610"/>
              <a:ext cx="25645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格式就两种：预训练用 </a:t>
              </a:r>
              <a:r>
                <a:rPr lang="en-U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text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字段，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318504" y="4347210"/>
              <a:ext cx="27180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其余都是 </a:t>
              </a:r>
              <a:r>
                <a:rPr lang="en-U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conversations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多轮对话。</a:t>
              </a:r>
            </a:p>
          </p:txBody>
        </p:sp>
        <p:pic>
          <p:nvPicPr>
            <p:cNvPr id="56" name="Image 5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24600" y="4629150"/>
              <a:ext cx="5257800" cy="1257300"/>
            </a:xfrm>
            <a:prstGeom prst="rect">
              <a:avLst/>
            </a:prstGeom>
          </p:spPr>
        </p:pic>
        <p:sp>
          <p:nvSpPr>
            <p:cNvPr id="57" name="TextBox 57"/>
            <p:cNvSpPr txBox="1"/>
            <p:nvPr/>
          </p:nvSpPr>
          <p:spPr>
            <a:xfrm>
              <a:off x="6318504" y="5985510"/>
              <a:ext cx="40104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主线数据组成示意 · images/dataset.jpg（完整呈现）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603504" y="6309360"/>
            <a:ext cx="10984992" cy="234696"/>
            <a:chOff x="603504" y="6309360"/>
            <a:chExt cx="10984992" cy="234696"/>
          </a:xfrm>
        </p:grpSpPr>
        <p:sp>
          <p:nvSpPr>
            <p:cNvPr id="59" name="TextBox 59"/>
            <p:cNvSpPr txBox="1"/>
            <p:nvPr/>
          </p:nvSpPr>
          <p:spPr>
            <a:xfrm>
              <a:off x="603504" y="6309360"/>
              <a:ext cx="62194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参考硬件（作者环境）：RTX 3090 × 8 · CUDA 12.2 · Python 3.10.16 · 128GB 内存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035132" y="63093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02 / 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884" y="699135"/>
            <a:ext cx="10992612" cy="529590"/>
            <a:chOff x="595884" y="699135"/>
            <a:chExt cx="10992612" cy="529590"/>
          </a:xfrm>
        </p:grpSpPr>
        <p:sp>
          <p:nvSpPr>
            <p:cNvPr id="2" name="TextBox 2"/>
            <p:cNvSpPr txBox="1"/>
            <p:nvPr/>
          </p:nvSpPr>
          <p:spPr>
            <a:xfrm>
              <a:off x="595884" y="699135"/>
              <a:ext cx="220827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预训练怎么跑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15904" y="861060"/>
              <a:ext cx="4725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① 训练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19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</p:grpSp>
      <p:grpSp>
        <p:nvGrpSpPr>
          <p:cNvPr id="12" name="run-block"/>
          <p:cNvGrpSpPr/>
          <p:nvPr/>
        </p:nvGrpSpPr>
        <p:grpSpPr>
          <a:xfrm>
            <a:off x="609600" y="1447800"/>
            <a:ext cx="10972800" cy="1104900"/>
            <a:chOff x="609600" y="1447800"/>
            <a:chExt cx="10972800" cy="1104900"/>
          </a:xfrm>
        </p:grpSpPr>
        <p:sp>
          <p:nvSpPr>
            <p:cNvPr id="6" name="Rectangle 6"/>
            <p:cNvSpPr/>
            <p:nvPr/>
          </p:nvSpPr>
          <p:spPr>
            <a:xfrm>
              <a:off x="609600" y="1447800"/>
              <a:ext cx="10972800" cy="1104900"/>
            </a:xfrm>
            <a:prstGeom prst="roundRect">
              <a:avLst>
                <a:gd name="adj" fmla="val 12069"/>
              </a:avLst>
            </a:prstGeom>
            <a:solidFill>
              <a:schemeClr val="accent1"/>
            </a:solidFill>
            <a:ln>
              <a:noFill/>
            </a:ln>
            <a:effectLst>
              <a:outerShdw blurRad="152400" dist="571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7" name="TextBox 7"/>
            <p:cNvSpPr txBox="1"/>
            <p:nvPr/>
          </p:nvSpPr>
          <p:spPr>
            <a:xfrm>
              <a:off x="908304" y="1623060"/>
              <a:ext cx="19345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DB4D0"/>
                  </a:solidFill>
                  <a:latin typeface="+mn-lt"/>
                  <a:ea typeface="+mn-ea"/>
                  <a:cs typeface="+mn-cs"/>
                </a:rPr>
                <a:t>执行 · 在 trainer/ 目录下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7542" y="19116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$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17092" y="1911668"/>
              <a:ext cx="38120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cd trainer &amp;&amp; python train_pretrain.py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7542" y="22164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$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17092" y="2216468"/>
              <a:ext cx="45187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torchrun --nproc_per_node N train_pretrain.py</a:t>
              </a:r>
            </a:p>
          </p:txBody>
        </p:sp>
      </p:grpSp>
      <p:grpSp>
        <p:nvGrpSpPr>
          <p:cNvPr id="40" name="pretrain-cards"/>
          <p:cNvGrpSpPr/>
          <p:nvPr/>
        </p:nvGrpSpPr>
        <p:grpSpPr>
          <a:xfrm>
            <a:off x="609600" y="2705100"/>
            <a:ext cx="10963275" cy="1771650"/>
            <a:chOff x="609600" y="2705100"/>
            <a:chExt cx="10963275" cy="1771650"/>
          </a:xfrm>
        </p:grpSpPr>
        <p:sp>
          <p:nvSpPr>
            <p:cNvPr id="13" name="Rectangle 13"/>
            <p:cNvSpPr/>
            <p:nvPr/>
          </p:nvSpPr>
          <p:spPr>
            <a:xfrm>
              <a:off x="609600" y="2705100"/>
              <a:ext cx="3552825" cy="1771650"/>
            </a:xfrm>
            <a:prstGeom prst="roundRect">
              <a:avLst>
                <a:gd name="adj" fmla="val 7527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876300" y="2895600"/>
              <a:ext cx="152400" cy="161925"/>
              <a:chOff x="876300" y="2895600"/>
              <a:chExt cx="152400" cy="161925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876300" y="3019425"/>
                <a:ext cx="1524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38100">
                    <a:moveTo>
                      <a:pt x="0" y="0"/>
                    </a:moveTo>
                    <a:lnTo>
                      <a:pt x="0" y="19050"/>
                    </a:lnTo>
                    <a:cubicBezTo>
                      <a:pt x="0" y="29571"/>
                      <a:pt x="8529" y="38100"/>
                      <a:pt x="19050" y="38100"/>
                    </a:cubicBezTo>
                    <a:lnTo>
                      <a:pt x="133350" y="38100"/>
                    </a:lnTo>
                    <a:cubicBezTo>
                      <a:pt x="143871" y="38100"/>
                      <a:pt x="152400" y="29571"/>
                      <a:pt x="152400" y="19050"/>
                    </a:cubicBez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904875" y="2962275"/>
                <a:ext cx="952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47625">
                    <a:moveTo>
                      <a:pt x="0" y="0"/>
                    </a:moveTo>
                    <a:lnTo>
                      <a:pt x="47625" y="47625"/>
                    </a:ln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952500" y="28956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154430" y="28670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2104" y="3299460"/>
              <a:ext cx="2419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默认读 pretrain_t2t_mini.jsonl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2104" y="3604260"/>
              <a:ext cx="16841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换数据用 </a:t>
              </a:r>
              <a:r>
                <a:rPr lang="en-US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--data_path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2104" y="4061460"/>
              <a:ext cx="22414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数据格式：每行一个 text 字段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314825" y="2705100"/>
              <a:ext cx="3552825" cy="1771650"/>
            </a:xfrm>
            <a:prstGeom prst="roundRect">
              <a:avLst>
                <a:gd name="adj" fmla="val 7527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4572000" y="2895600"/>
              <a:ext cx="171450" cy="152400"/>
              <a:chOff x="4572000" y="2895600"/>
              <a:chExt cx="171450" cy="1524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4572000" y="2933700"/>
                <a:ext cx="381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6200">
                    <a:moveTo>
                      <a:pt x="38100" y="0"/>
                    </a:moveTo>
                    <a:lnTo>
                      <a:pt x="0" y="38100"/>
                    </a:lnTo>
                    <a:lnTo>
                      <a:pt x="38100" y="762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705350" y="2933700"/>
                <a:ext cx="381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76200">
                    <a:moveTo>
                      <a:pt x="0" y="0"/>
                    </a:moveTo>
                    <a:lnTo>
                      <a:pt x="38100" y="38100"/>
                    </a:ln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638675" y="2895600"/>
                <a:ext cx="381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152400">
                    <a:moveTo>
                      <a:pt x="38100" y="0"/>
                    </a:moveTo>
                    <a:lnTo>
                      <a:pt x="0" y="15240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4859655" y="28670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默认超参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37329" y="3299460"/>
              <a:ext cx="26130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batch 32 × 梯度累积 8（等效 256）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37329" y="3604260"/>
              <a:ext cx="21768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lr 5e-4 · seq 340 · epochs 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37329" y="4061460"/>
              <a:ext cx="2136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lr 大是因为从随机初始化开始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020050" y="2705100"/>
              <a:ext cx="3552825" cy="1771650"/>
            </a:xfrm>
            <a:prstGeom prst="roundRect">
              <a:avLst>
                <a:gd name="adj" fmla="val 7527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8277225" y="2886075"/>
              <a:ext cx="171450" cy="171450"/>
              <a:chOff x="8277225" y="2886075"/>
              <a:chExt cx="171450" cy="17145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8277225" y="2886075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334375" y="2933463"/>
                <a:ext cx="57150" cy="76674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76674">
                    <a:moveTo>
                      <a:pt x="55245" y="9762"/>
                    </a:moveTo>
                    <a:cubicBezTo>
                      <a:pt x="51729" y="3663"/>
                      <a:pt x="45136" y="0"/>
                      <a:pt x="38100" y="237"/>
                    </a:cubicBezTo>
                    <a:lnTo>
                      <a:pt x="19050" y="237"/>
                    </a:lnTo>
                    <a:cubicBezTo>
                      <a:pt x="8529" y="237"/>
                      <a:pt x="0" y="8766"/>
                      <a:pt x="0" y="19287"/>
                    </a:cubicBezTo>
                    <a:cubicBezTo>
                      <a:pt x="0" y="29808"/>
                      <a:pt x="8529" y="38337"/>
                      <a:pt x="19050" y="38337"/>
                    </a:cubicBezTo>
                    <a:lnTo>
                      <a:pt x="38100" y="38337"/>
                    </a:lnTo>
                    <a:cubicBezTo>
                      <a:pt x="48621" y="38337"/>
                      <a:pt x="57150" y="46866"/>
                      <a:pt x="57150" y="57387"/>
                    </a:cubicBezTo>
                    <a:cubicBezTo>
                      <a:pt x="57150" y="67908"/>
                      <a:pt x="48621" y="76437"/>
                      <a:pt x="38100" y="76437"/>
                    </a:cubicBezTo>
                    <a:lnTo>
                      <a:pt x="19050" y="76437"/>
                    </a:lnTo>
                    <a:cubicBezTo>
                      <a:pt x="12014" y="76674"/>
                      <a:pt x="5421" y="73011"/>
                      <a:pt x="1905" y="66912"/>
                    </a:cubicBez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8362950" y="2924175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8564880" y="28670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产出与成本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42554" y="32994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out/pretrain_768.pth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42554" y="3604260"/>
              <a:ext cx="19103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约 1.21 小时 · 约 1.57 元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42554" y="4061460"/>
              <a:ext cx="21768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加 --use_wandb 看 loss 曲线</a:t>
              </a:r>
            </a:p>
          </p:txBody>
        </p:sp>
      </p:grpSp>
      <p:grpSp>
        <p:nvGrpSpPr>
          <p:cNvPr id="50" name="pretrain-notes"/>
          <p:cNvGrpSpPr/>
          <p:nvPr/>
        </p:nvGrpSpPr>
        <p:grpSpPr>
          <a:xfrm>
            <a:off x="609600" y="4629150"/>
            <a:ext cx="10972800" cy="1324356"/>
            <a:chOff x="609600" y="4629150"/>
            <a:chExt cx="10972800" cy="1324356"/>
          </a:xfrm>
        </p:grpSpPr>
        <p:sp>
          <p:nvSpPr>
            <p:cNvPr id="41" name="Rectangle 41"/>
            <p:cNvSpPr/>
            <p:nvPr/>
          </p:nvSpPr>
          <p:spPr>
            <a:xfrm>
              <a:off x="609600" y="4629150"/>
              <a:ext cx="10972800" cy="1276350"/>
            </a:xfrm>
            <a:prstGeom prst="roundRect">
              <a:avLst>
                <a:gd name="adj" fmla="val 10448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854919" y="4804843"/>
              <a:ext cx="176105" cy="151297"/>
              <a:chOff x="854919" y="4804843"/>
              <a:chExt cx="176105" cy="151297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942975" y="4860131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7463">
                <a:solidFill>
                  <a:schemeClr val="accent2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54919" y="4804843"/>
                <a:ext cx="176105" cy="151297"/>
              </a:xfrm>
              <a:custGeom>
                <a:avLst/>
                <a:gdLst/>
                <a:ahLst/>
                <a:cxnLst/>
                <a:rect l="l" t="t" r="r" b="b"/>
                <a:pathLst>
                  <a:path w="176105" h="151297">
                    <a:moveTo>
                      <a:pt x="73763" y="8061"/>
                    </a:moveTo>
                    <a:lnTo>
                      <a:pt x="2987" y="126230"/>
                    </a:lnTo>
                    <a:cubicBezTo>
                      <a:pt x="18" y="131371"/>
                      <a:pt x="0" y="137702"/>
                      <a:pt x="2939" y="142860"/>
                    </a:cubicBezTo>
                    <a:cubicBezTo>
                      <a:pt x="5879" y="148019"/>
                      <a:pt x="11335" y="151230"/>
                      <a:pt x="17271" y="151297"/>
                    </a:cubicBezTo>
                    <a:lnTo>
                      <a:pt x="158840" y="151297"/>
                    </a:lnTo>
                    <a:cubicBezTo>
                      <a:pt x="164774" y="151229"/>
                      <a:pt x="170227" y="148018"/>
                      <a:pt x="173166" y="142863"/>
                    </a:cubicBezTo>
                    <a:cubicBezTo>
                      <a:pt x="176105" y="137707"/>
                      <a:pt x="176089" y="131379"/>
                      <a:pt x="173124" y="126238"/>
                    </a:cubicBezTo>
                    <a:lnTo>
                      <a:pt x="102349" y="8052"/>
                    </a:lnTo>
                    <a:cubicBezTo>
                      <a:pt x="99320" y="3053"/>
                      <a:pt x="93900" y="0"/>
                      <a:pt x="88056" y="0"/>
                    </a:cubicBezTo>
                    <a:cubicBezTo>
                      <a:pt x="82211" y="0"/>
                      <a:pt x="76791" y="3053"/>
                      <a:pt x="73763" y="8052"/>
                    </a:cubicBezTo>
                  </a:path>
                </a:pathLst>
              </a:custGeom>
              <a:noFill/>
              <a:ln w="17463">
                <a:solidFill>
                  <a:schemeClr val="accent2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42975" y="49212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87" y="0"/>
                    </a:lnTo>
                  </a:path>
                </a:pathLst>
              </a:custGeom>
              <a:noFill/>
              <a:ln w="17463">
                <a:solidFill>
                  <a:schemeClr val="accent2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154430" y="478155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两个必须记住的点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30580" y="5153025"/>
              <a:ext cx="49928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　预训练权重不能直接对话——它只会续写，不会应答。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30580" y="5457825"/>
              <a:ext cx="56288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2　脚本里的路径都相对 trainer/，所以必须先 </a:t>
              </a:r>
              <a:r>
                <a:rPr lang="en-US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cd trainer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32104" y="5718810"/>
              <a:ext cx="56016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验证预训练模型：eval_llm.py --weight pretrain（脚本对它走裸续写分支）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603504" y="6309360"/>
            <a:ext cx="10984992" cy="234696"/>
            <a:chOff x="603504" y="6309360"/>
            <a:chExt cx="10984992" cy="234696"/>
          </a:xfrm>
        </p:grpSpPr>
        <p:sp>
          <p:nvSpPr>
            <p:cNvPr id="51" name="TextBox 51"/>
            <p:cNvSpPr txBox="1"/>
            <p:nvPr/>
          </p:nvSpPr>
          <p:spPr>
            <a:xfrm>
              <a:off x="603504" y="6309360"/>
              <a:ext cx="58974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产出文件名规则：{save_weight}_{hidden_size}.pth；MoE 版末尾多一个 _moe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035132" y="63093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03 / 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884" y="699135"/>
            <a:ext cx="10992612" cy="529590"/>
            <a:chOff x="595884" y="699135"/>
            <a:chExt cx="10992612" cy="529590"/>
          </a:xfrm>
        </p:grpSpPr>
        <p:sp>
          <p:nvSpPr>
            <p:cNvPr id="2" name="TextBox 2"/>
            <p:cNvSpPr txBox="1"/>
            <p:nvPr/>
          </p:nvSpPr>
          <p:spPr>
            <a:xfrm>
              <a:off x="595884" y="699135"/>
              <a:ext cx="408503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SFT 三条路怎么选怎么跑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49584" y="861060"/>
              <a:ext cx="438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② SFT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19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</p:grpSp>
      <p:grpSp>
        <p:nvGrpSpPr>
          <p:cNvPr id="40" name="sft-three-paths"/>
          <p:cNvGrpSpPr/>
          <p:nvPr/>
        </p:nvGrpSpPr>
        <p:grpSpPr>
          <a:xfrm>
            <a:off x="609600" y="1447800"/>
            <a:ext cx="10972800" cy="2303145"/>
            <a:chOff x="609600" y="1447800"/>
            <a:chExt cx="10972800" cy="2303145"/>
          </a:xfrm>
        </p:grpSpPr>
        <p:sp>
          <p:nvSpPr>
            <p:cNvPr id="6" name="Rectangle 6"/>
            <p:cNvSpPr/>
            <p:nvPr/>
          </p:nvSpPr>
          <p:spPr>
            <a:xfrm>
              <a:off x="609600" y="1447800"/>
              <a:ext cx="10972800" cy="2286000"/>
            </a:xfrm>
            <a:prstGeom prst="rect">
              <a:avLst/>
            </a:prstGeom>
            <a:noFill/>
            <a:ln w="9525">
              <a:solidFill>
                <a:srgbClr val="DDE4EA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447800"/>
              <a:ext cx="10972800" cy="3429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609600" y="1790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09600" y="2133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09600" y="2476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09600" y="3048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609600" y="3390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1943100" y="144780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5181600" y="144780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8324850" y="144780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35330" y="15144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维度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68830" y="1514475"/>
              <a:ext cx="8559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全参 SFT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307330" y="1514475"/>
              <a:ext cx="5015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LoRA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50580" y="15144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蒸馏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5330" y="18573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68830" y="1857375"/>
              <a:ext cx="18528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sft_t2t_mini.jsonl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07330" y="1857375"/>
              <a:ext cx="22263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lora_xxx.jsonl（自备）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50580" y="1857375"/>
              <a:ext cx="18528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sft_t2t_mini.jsonl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5330" y="22002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起点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068830" y="2200275"/>
              <a:ext cx="2064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pretrain（自动衔接）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307330" y="2200275"/>
              <a:ext cx="8027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full_sft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50580" y="2200275"/>
              <a:ext cx="18629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学生 + 教师两个权重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5330" y="25431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默认超参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068830" y="2524125"/>
              <a:ext cx="17106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batch 16 · lr 1e-5</a:t>
              </a:r>
              <a:br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seq 768 · epochs 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307330" y="2524125"/>
              <a:ext cx="18154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batch 32 · lr 1e-4</a:t>
              </a:r>
              <a:br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seq 340 · epochs 10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50580" y="2524125"/>
              <a:ext cx="17106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batch 32 · lr 5e-6</a:t>
              </a:r>
              <a:br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seq 340 · epochs 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5330" y="31146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产出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068830" y="3114675"/>
              <a:ext cx="16912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full_sft_768.pth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307330" y="3114675"/>
              <a:ext cx="17417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lora_xxx_768.pth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50580" y="3114675"/>
              <a:ext cx="17518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full_dist_768.pth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5330" y="345757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用在哪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068830" y="34575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让它会对话（必经一步）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307330" y="34575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改身份、补垂域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50580" y="34575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有大模型想压小模型</a:t>
              </a:r>
            </a:p>
          </p:txBody>
        </p:sp>
      </p:grpSp>
      <p:grpSp>
        <p:nvGrpSpPr>
          <p:cNvPr id="56" name="sft-commands"/>
          <p:cNvGrpSpPr/>
          <p:nvPr/>
        </p:nvGrpSpPr>
        <p:grpSpPr>
          <a:xfrm>
            <a:off x="609600" y="3886200"/>
            <a:ext cx="10972800" cy="1257300"/>
            <a:chOff x="609600" y="3886200"/>
            <a:chExt cx="10972800" cy="1257300"/>
          </a:xfrm>
        </p:grpSpPr>
        <p:sp>
          <p:nvSpPr>
            <p:cNvPr id="41" name="Rectangle 41"/>
            <p:cNvSpPr/>
            <p:nvPr/>
          </p:nvSpPr>
          <p:spPr>
            <a:xfrm>
              <a:off x="609600" y="3886200"/>
              <a:ext cx="10972800" cy="1257300"/>
            </a:xfrm>
            <a:prstGeom prst="roundRect">
              <a:avLst>
                <a:gd name="adj" fmla="val 1060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06780" y="40671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898142" y="40833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$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107692" y="4083368"/>
              <a:ext cx="24126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python train_full_sft.py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449562" y="4099560"/>
              <a:ext cx="19103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9DB4D0"/>
                  </a:solidFill>
                  <a:latin typeface="+mn-lt"/>
                  <a:ea typeface="+mn-ea"/>
                  <a:cs typeface="+mn-cs"/>
                </a:rPr>
                <a:t>约 1.10 小时 · 约 1.43 元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914400" y="4381500"/>
              <a:ext cx="10363200" cy="9525"/>
            </a:xfrm>
            <a:custGeom>
              <a:avLst/>
              <a:gdLst/>
              <a:ahLst/>
              <a:cxnLst/>
              <a:rect l="l" t="t" r="r" b="b"/>
              <a:pathLst>
                <a:path w="10363200" h="9525">
                  <a:moveTo>
                    <a:pt x="0" y="0"/>
                  </a:moveTo>
                  <a:lnTo>
                    <a:pt x="1036320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06780" y="4524375"/>
              <a:ext cx="5015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LoRA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898142" y="45405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$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107692" y="4540568"/>
              <a:ext cx="4111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python train_lora.py --lora_name lora_xxx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526219" y="4556760"/>
              <a:ext cx="1833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9DB4D0"/>
                  </a:solidFill>
                  <a:latin typeface="+mn-lt"/>
                  <a:ea typeface="+mn-ea"/>
                  <a:cs typeface="+mn-cs"/>
                </a:rPr>
                <a:t>几十条数据 · CPU 也能跑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914400" y="4838700"/>
              <a:ext cx="10363200" cy="9525"/>
            </a:xfrm>
            <a:custGeom>
              <a:avLst/>
              <a:gdLst/>
              <a:ahLst/>
              <a:cxnLst/>
              <a:rect l="l" t="t" r="r" b="b"/>
              <a:pathLst>
                <a:path w="10363200" h="9525">
                  <a:moveTo>
                    <a:pt x="0" y="0"/>
                  </a:moveTo>
                  <a:lnTo>
                    <a:pt x="1036320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06780" y="48482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蒸馏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898142" y="48644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$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107692" y="4864418"/>
              <a:ext cx="28124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python train_distillation.py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570720" y="48806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9DB4D0"/>
                  </a:solidFill>
                  <a:latin typeface="+mn-lt"/>
                  <a:ea typeface="+mn-ea"/>
                  <a:cs typeface="+mn-cs"/>
                </a:rPr>
                <a:t>要备学生与教师两个权重</a:t>
              </a:r>
            </a:p>
          </p:txBody>
        </p:sp>
      </p:grpSp>
      <p:grpSp>
        <p:nvGrpSpPr>
          <p:cNvPr id="59" name="sft-notes"/>
          <p:cNvGrpSpPr/>
          <p:nvPr/>
        </p:nvGrpSpPr>
        <p:grpSpPr>
          <a:xfrm>
            <a:off x="601980" y="5381625"/>
            <a:ext cx="7609046" cy="579120"/>
            <a:chOff x="601980" y="5381625"/>
            <a:chExt cx="7609046" cy="579120"/>
          </a:xfrm>
        </p:grpSpPr>
        <p:sp>
          <p:nvSpPr>
            <p:cNvPr id="57" name="TextBox 57"/>
            <p:cNvSpPr txBox="1"/>
            <p:nvPr/>
          </p:nvSpPr>
          <p:spPr>
            <a:xfrm>
              <a:off x="601980" y="5381625"/>
              <a:ext cx="76090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选择建议：要会对话走全参；改身份、补垂域走 LoRA；有大模型想压小模型走蒸馏。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01980" y="5667375"/>
              <a:ext cx="72051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LoRA 使用时基模必须对得上：</a:t>
              </a:r>
              <a:r>
                <a:rPr lang="en-US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--weight full_sft --lora_weight lora_xxx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603504" y="6309360"/>
            <a:ext cx="10984992" cy="234696"/>
            <a:chOff x="603504" y="6309360"/>
            <a:chExt cx="10984992" cy="234696"/>
          </a:xfrm>
        </p:grpSpPr>
        <p:sp>
          <p:nvSpPr>
            <p:cNvPr id="60" name="TextBox 60"/>
            <p:cNvSpPr txBox="1"/>
            <p:nvPr/>
          </p:nvSpPr>
          <p:spPr>
            <a:xfrm>
              <a:off x="603504" y="6309360"/>
              <a:ext cx="51260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LoRA 可选合并成独立权重：cd scripts &amp;&amp; python convert_model.py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035132" y="63093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04 / 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884" y="699135"/>
            <a:ext cx="10992612" cy="529590"/>
            <a:chOff x="595884" y="699135"/>
            <a:chExt cx="10992612" cy="529590"/>
          </a:xfrm>
        </p:grpSpPr>
        <p:sp>
          <p:nvSpPr>
            <p:cNvPr id="2" name="TextBox 2"/>
            <p:cNvSpPr txBox="1"/>
            <p:nvPr/>
          </p:nvSpPr>
          <p:spPr>
            <a:xfrm>
              <a:off x="595884" y="699135"/>
              <a:ext cx="541411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RL：准备 + PPO / GRPO 怎么跑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243462" y="861060"/>
              <a:ext cx="3450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③ RL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19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</p:grpSp>
      <p:grpSp>
        <p:nvGrpSpPr>
          <p:cNvPr id="21" name="rl-prep"/>
          <p:cNvGrpSpPr/>
          <p:nvPr/>
        </p:nvGrpSpPr>
        <p:grpSpPr>
          <a:xfrm>
            <a:off x="601980" y="1546860"/>
            <a:ext cx="4148480" cy="3092196"/>
            <a:chOff x="601980" y="1546860"/>
            <a:chExt cx="4148480" cy="3092196"/>
          </a:xfrm>
        </p:grpSpPr>
        <p:sp>
          <p:nvSpPr>
            <p:cNvPr id="6" name="TextBox 6"/>
            <p:cNvSpPr txBox="1"/>
            <p:nvPr/>
          </p:nvSpPr>
          <p:spPr>
            <a:xfrm>
              <a:off x="603504" y="15468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跑之前必须备齐的三样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626319" y="1890193"/>
              <a:ext cx="176105" cy="151297"/>
              <a:chOff x="626319" y="1890193"/>
              <a:chExt cx="176105" cy="15129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714375" y="1945481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17463">
                <a:solidFill>
                  <a:schemeClr val="accent2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26319" y="1890193"/>
                <a:ext cx="176105" cy="151297"/>
              </a:xfrm>
              <a:custGeom>
                <a:avLst/>
                <a:gdLst/>
                <a:ahLst/>
                <a:cxnLst/>
                <a:rect l="l" t="t" r="r" b="b"/>
                <a:pathLst>
                  <a:path w="176105" h="151297">
                    <a:moveTo>
                      <a:pt x="73763" y="8061"/>
                    </a:moveTo>
                    <a:lnTo>
                      <a:pt x="2987" y="126230"/>
                    </a:lnTo>
                    <a:cubicBezTo>
                      <a:pt x="18" y="131371"/>
                      <a:pt x="0" y="137702"/>
                      <a:pt x="2939" y="142860"/>
                    </a:cubicBezTo>
                    <a:cubicBezTo>
                      <a:pt x="5879" y="148019"/>
                      <a:pt x="11335" y="151230"/>
                      <a:pt x="17271" y="151297"/>
                    </a:cubicBezTo>
                    <a:lnTo>
                      <a:pt x="158840" y="151297"/>
                    </a:lnTo>
                    <a:cubicBezTo>
                      <a:pt x="164774" y="151229"/>
                      <a:pt x="170227" y="148018"/>
                      <a:pt x="173166" y="142863"/>
                    </a:cubicBezTo>
                    <a:cubicBezTo>
                      <a:pt x="176105" y="137707"/>
                      <a:pt x="176089" y="131379"/>
                      <a:pt x="173124" y="126238"/>
                    </a:cubicBezTo>
                    <a:lnTo>
                      <a:pt x="102349" y="8052"/>
                    </a:lnTo>
                    <a:cubicBezTo>
                      <a:pt x="99320" y="3053"/>
                      <a:pt x="93900" y="0"/>
                      <a:pt x="88056" y="0"/>
                    </a:cubicBezTo>
                    <a:cubicBezTo>
                      <a:pt x="82211" y="0"/>
                      <a:pt x="76791" y="3053"/>
                      <a:pt x="73763" y="8052"/>
                    </a:cubicBezTo>
                  </a:path>
                </a:pathLst>
              </a:custGeom>
              <a:noFill/>
              <a:ln w="17463">
                <a:solidFill>
                  <a:schemeClr val="accent2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714375" y="2006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87" y="0"/>
                    </a:lnTo>
                  </a:path>
                </a:pathLst>
              </a:custGeom>
              <a:noFill/>
              <a:ln w="17463">
                <a:solidFill>
                  <a:schemeClr val="accent2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906780" y="1876425"/>
              <a:ext cx="22147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奖励模型（最容易漏）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8304" y="21945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默认路径在仓库外层：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8304" y="2423160"/>
              <a:ext cx="24111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../../internlm2-1_8b-reward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8304" y="265176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没准备就会在初始化阶段直接失败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1980" y="2981325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数据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8304" y="3299460"/>
              <a:ext cx="38421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PPO / GRPO 用 rlaif.jsonl（24MB，只有 prompt）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8304" y="3528060"/>
              <a:ext cx="38016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DPO 用 dpo.jsonl（53MB，chosen / rejected 对）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1980" y="3857625"/>
              <a:ext cx="12051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显存与起点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8304" y="4175760"/>
              <a:ext cx="28069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要同时驻留策略 / 参考 / 奖励三个模型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8304" y="4404360"/>
              <a:ext cx="29846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起点权重统一 </a:t>
              </a:r>
              <a:r>
                <a:rPr lang="en-US" sz="12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--from_weight full_sft</a:t>
              </a:r>
            </a:p>
          </p:txBody>
        </p:sp>
      </p:grpSp>
      <p:grpSp>
        <p:nvGrpSpPr>
          <p:cNvPr id="30" name="rl-commands"/>
          <p:cNvGrpSpPr/>
          <p:nvPr/>
        </p:nvGrpSpPr>
        <p:grpSpPr>
          <a:xfrm>
            <a:off x="609600" y="4629150"/>
            <a:ext cx="5486400" cy="1085850"/>
            <a:chOff x="609600" y="4629150"/>
            <a:chExt cx="5486400" cy="1085850"/>
          </a:xfrm>
        </p:grpSpPr>
        <p:sp>
          <p:nvSpPr>
            <p:cNvPr id="22" name="Rectangle 22"/>
            <p:cNvSpPr/>
            <p:nvPr/>
          </p:nvSpPr>
          <p:spPr>
            <a:xfrm>
              <a:off x="609600" y="4629150"/>
              <a:ext cx="5486400" cy="1085850"/>
            </a:xfrm>
            <a:prstGeom prst="roundRect">
              <a:avLst>
                <a:gd name="adj" fmla="val 1228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08304" y="4766310"/>
              <a:ext cx="16280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DB4D0"/>
                  </a:solidFill>
                  <a:latin typeface="+mn-lt"/>
                  <a:ea typeface="+mn-ea"/>
                  <a:cs typeface="+mn-cs"/>
                </a:rPr>
                <a:t>两条命令 · 先跑 GRPO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7542" y="50739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$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17092" y="50739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python train_grpo.py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7542" y="53787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$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17092" y="53787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python train_ppo.py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376672" y="50901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9DB4D0"/>
                  </a:solidFill>
                  <a:latin typeface="+mn-lt"/>
                  <a:ea typeface="+mn-ea"/>
                  <a:cs typeface="+mn-cs"/>
                </a:rPr>
                <a:t>省显存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198974" y="5394960"/>
              <a:ext cx="674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9DB4D0"/>
                  </a:solidFill>
                  <a:latin typeface="+mn-lt"/>
                  <a:ea typeface="+mn-ea"/>
                  <a:cs typeface="+mn-cs"/>
                </a:rPr>
                <a:t>需 critic</a:t>
              </a:r>
            </a:p>
          </p:txBody>
        </p:sp>
      </p:grpSp>
      <p:grpSp>
        <p:nvGrpSpPr>
          <p:cNvPr id="65" name="rl-hyperparams"/>
          <p:cNvGrpSpPr/>
          <p:nvPr/>
        </p:nvGrpSpPr>
        <p:grpSpPr>
          <a:xfrm>
            <a:off x="6324600" y="1447800"/>
            <a:ext cx="5257800" cy="1864995"/>
            <a:chOff x="6324600" y="1447800"/>
            <a:chExt cx="5257800" cy="1864995"/>
          </a:xfrm>
        </p:grpSpPr>
        <p:sp>
          <p:nvSpPr>
            <p:cNvPr id="31" name="Rectangle 31"/>
            <p:cNvSpPr/>
            <p:nvPr/>
          </p:nvSpPr>
          <p:spPr>
            <a:xfrm>
              <a:off x="6324600" y="1447800"/>
              <a:ext cx="5257800" cy="1828800"/>
            </a:xfrm>
            <a:prstGeom prst="rect">
              <a:avLst/>
            </a:prstGeom>
            <a:noFill/>
            <a:ln w="9525">
              <a:solidFill>
                <a:srgbClr val="DDE4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324600" y="1447800"/>
              <a:ext cx="5257800" cy="3048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3" name="Line 33"/>
            <p:cNvSpPr/>
            <p:nvPr/>
          </p:nvSpPr>
          <p:spPr>
            <a:xfrm>
              <a:off x="6324600" y="1752600"/>
              <a:ext cx="5257800" cy="9525"/>
            </a:xfrm>
            <a:custGeom>
              <a:avLst/>
              <a:gdLst/>
              <a:ahLst/>
              <a:cxnLst/>
              <a:rect l="l" t="t" r="r" b="b"/>
              <a:pathLst>
                <a:path w="5257800" h="9525">
                  <a:moveTo>
                    <a:pt x="0" y="0"/>
                  </a:moveTo>
                  <a:lnTo>
                    <a:pt x="52578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6324600" y="2057400"/>
              <a:ext cx="5257800" cy="9525"/>
            </a:xfrm>
            <a:custGeom>
              <a:avLst/>
              <a:gdLst/>
              <a:ahLst/>
              <a:cxnLst/>
              <a:rect l="l" t="t" r="r" b="b"/>
              <a:pathLst>
                <a:path w="5257800" h="9525">
                  <a:moveTo>
                    <a:pt x="0" y="0"/>
                  </a:moveTo>
                  <a:lnTo>
                    <a:pt x="52578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6324600" y="2362200"/>
              <a:ext cx="5257800" cy="9525"/>
            </a:xfrm>
            <a:custGeom>
              <a:avLst/>
              <a:gdLst/>
              <a:ahLst/>
              <a:cxnLst/>
              <a:rect l="l" t="t" r="r" b="b"/>
              <a:pathLst>
                <a:path w="5257800" h="9525">
                  <a:moveTo>
                    <a:pt x="0" y="0"/>
                  </a:moveTo>
                  <a:lnTo>
                    <a:pt x="52578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6324600" y="2667000"/>
              <a:ext cx="5257800" cy="9525"/>
            </a:xfrm>
            <a:custGeom>
              <a:avLst/>
              <a:gdLst/>
              <a:ahLst/>
              <a:cxnLst/>
              <a:rect l="l" t="t" r="r" b="b"/>
              <a:pathLst>
                <a:path w="5257800" h="9525">
                  <a:moveTo>
                    <a:pt x="0" y="0"/>
                  </a:moveTo>
                  <a:lnTo>
                    <a:pt x="52578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6324600" y="2971800"/>
              <a:ext cx="5257800" cy="9525"/>
            </a:xfrm>
            <a:custGeom>
              <a:avLst/>
              <a:gdLst/>
              <a:ahLst/>
              <a:cxnLst/>
              <a:rect l="l" t="t" r="r" b="b"/>
              <a:pathLst>
                <a:path w="5257800" h="9525">
                  <a:moveTo>
                    <a:pt x="0" y="0"/>
                  </a:moveTo>
                  <a:lnTo>
                    <a:pt x="52578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7658100" y="1447800"/>
              <a:ext cx="9525" cy="1828800"/>
            </a:xfrm>
            <a:custGeom>
              <a:avLst/>
              <a:gdLst/>
              <a:ahLst/>
              <a:cxnLst/>
              <a:rect l="l" t="t" r="r" b="b"/>
              <a:pathLst>
                <a:path w="9525" h="1828800">
                  <a:moveTo>
                    <a:pt x="0" y="0"/>
                  </a:moveTo>
                  <a:lnTo>
                    <a:pt x="0" y="182880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8963025" y="1447800"/>
              <a:ext cx="9525" cy="1828800"/>
            </a:xfrm>
            <a:custGeom>
              <a:avLst/>
              <a:gdLst/>
              <a:ahLst/>
              <a:cxnLst/>
              <a:rect l="l" t="t" r="r" b="b"/>
              <a:pathLst>
                <a:path w="9525" h="1828800">
                  <a:moveTo>
                    <a:pt x="0" y="0"/>
                  </a:moveTo>
                  <a:lnTo>
                    <a:pt x="0" y="182880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10267950" y="1447800"/>
              <a:ext cx="9525" cy="1828800"/>
            </a:xfrm>
            <a:custGeom>
              <a:avLst/>
              <a:gdLst/>
              <a:ahLst/>
              <a:cxnLst/>
              <a:rect l="l" t="t" r="r" b="b"/>
              <a:pathLst>
                <a:path w="9525" h="1828800">
                  <a:moveTo>
                    <a:pt x="0" y="0"/>
                  </a:moveTo>
                  <a:lnTo>
                    <a:pt x="0" y="182880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50330" y="14954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维度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783830" y="1495425"/>
              <a:ext cx="4296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PPO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088755" y="1495425"/>
              <a:ext cx="5529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GRPO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393680" y="1495425"/>
              <a:ext cx="4296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DPO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50330" y="1800225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batch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783830" y="18002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088755" y="18002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393680" y="18002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50330" y="21050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学习率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783830" y="21050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3e-7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088755" y="21050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3e-7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393680" y="21050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4e-8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50330" y="24098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生成上限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783830" y="24098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1024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088755" y="24098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1024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393680" y="24098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50330" y="2714625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epochs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783830" y="27146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088755" y="27146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393680" y="271462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50330" y="30194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额外模型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783830" y="3019425"/>
              <a:ext cx="7522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+ critic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088755" y="30194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393680" y="3019425"/>
              <a:ext cx="994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+ 参考模型</a:t>
              </a:r>
            </a:p>
          </p:txBody>
        </p:sp>
      </p:grpSp>
      <p:grpSp>
        <p:nvGrpSpPr>
          <p:cNvPr id="71" name="rl-metrics"/>
          <p:cNvGrpSpPr/>
          <p:nvPr/>
        </p:nvGrpSpPr>
        <p:grpSpPr>
          <a:xfrm>
            <a:off x="6316980" y="3489960"/>
            <a:ext cx="3876403" cy="1632585"/>
            <a:chOff x="6316980" y="3489960"/>
            <a:chExt cx="3876403" cy="1632585"/>
          </a:xfrm>
        </p:grpSpPr>
        <p:sp>
          <p:nvSpPr>
            <p:cNvPr id="66" name="TextBox 66"/>
            <p:cNvSpPr txBox="1"/>
            <p:nvPr/>
          </p:nvSpPr>
          <p:spPr>
            <a:xfrm>
              <a:off x="6318504" y="34899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训练时盯这四个指标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316980" y="3800475"/>
              <a:ext cx="24886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Reward —— 奖励有没有在涨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316980" y="4143375"/>
              <a:ext cx="2865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KL_ref —— 离参考模型跑了多远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316980" y="4486275"/>
              <a:ext cx="35288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Adv Std —— 接近 0 = 这组回答没区分度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316980" y="4829175"/>
              <a:ext cx="38764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Avg Response Len —— 回答长度有没有失控</a:t>
              </a:r>
            </a:p>
          </p:txBody>
        </p:sp>
      </p:grpSp>
      <p:grpSp>
        <p:nvGrpSpPr>
          <p:cNvPr id="75" name="rl-knobs"/>
          <p:cNvGrpSpPr/>
          <p:nvPr/>
        </p:nvGrpSpPr>
        <p:grpSpPr>
          <a:xfrm>
            <a:off x="6316980" y="5394960"/>
            <a:ext cx="3357182" cy="794385"/>
            <a:chOff x="6316980" y="5394960"/>
            <a:chExt cx="3357182" cy="794385"/>
          </a:xfrm>
        </p:grpSpPr>
        <p:sp>
          <p:nvSpPr>
            <p:cNvPr id="72" name="TextBox 72"/>
            <p:cNvSpPr txBox="1"/>
            <p:nvPr/>
          </p:nvSpPr>
          <p:spPr>
            <a:xfrm>
              <a:off x="6318504" y="53949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两个常用旋钮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316980" y="5629275"/>
              <a:ext cx="33571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--num_generations 6 · --beta 0.1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316980" y="5895975"/>
              <a:ext cx="31047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切回标准裁剪：--loss_type grpo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603504" y="6309360"/>
            <a:ext cx="10984992" cy="234696"/>
            <a:chOff x="603504" y="6309360"/>
            <a:chExt cx="10984992" cy="234696"/>
          </a:xfrm>
        </p:grpSpPr>
        <p:sp>
          <p:nvSpPr>
            <p:cNvPr id="76" name="TextBox 76"/>
            <p:cNvSpPr txBox="1"/>
            <p:nvPr/>
          </p:nvSpPr>
          <p:spPr>
            <a:xfrm>
              <a:off x="603504" y="6309360"/>
              <a:ext cx="58357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DPO 也在这个环节：batch 4 · lr 4e-8 · epochs 1，学习率比 SFT 小三个数量级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035132" y="63093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05 / 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884" y="699135"/>
            <a:ext cx="10992612" cy="529590"/>
            <a:chOff x="595884" y="699135"/>
            <a:chExt cx="10992612" cy="529590"/>
          </a:xfrm>
        </p:grpSpPr>
        <p:sp>
          <p:nvSpPr>
            <p:cNvPr id="2" name="TextBox 2"/>
            <p:cNvSpPr txBox="1"/>
            <p:nvPr/>
          </p:nvSpPr>
          <p:spPr>
            <a:xfrm>
              <a:off x="595884" y="699135"/>
              <a:ext cx="438793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 RL 与 SGLang 加速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243462" y="861060"/>
              <a:ext cx="3450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③ RL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19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</p:grpSp>
      <p:grpSp>
        <p:nvGrpSpPr>
          <p:cNvPr id="23" name="agent-loop"/>
          <p:cNvGrpSpPr/>
          <p:nvPr/>
        </p:nvGrpSpPr>
        <p:grpSpPr>
          <a:xfrm>
            <a:off x="603504" y="1546860"/>
            <a:ext cx="5492496" cy="1939290"/>
            <a:chOff x="603504" y="1546860"/>
            <a:chExt cx="5492496" cy="1939290"/>
          </a:xfrm>
        </p:grpSpPr>
        <p:sp>
          <p:nvSpPr>
            <p:cNvPr id="6" name="TextBox 6"/>
            <p:cNvSpPr txBox="1"/>
            <p:nvPr/>
          </p:nvSpPr>
          <p:spPr>
            <a:xfrm>
              <a:off x="603504" y="154686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它在做什么：一轮最多三步，来回三轮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1866900"/>
              <a:ext cx="1428750" cy="419100"/>
            </a:xfrm>
            <a:prstGeom prst="roundRect">
              <a:avLst>
                <a:gd name="adj" fmla="val 27273"/>
              </a:avLst>
            </a:prstGeom>
            <a:solidFill>
              <a:schemeClr val="accent6"/>
            </a:solidFill>
            <a:ln w="19050">
              <a:solidFill>
                <a:schemeClr val="accent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156335" y="20040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生成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2076450" y="2076450"/>
              <a:ext cx="2667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381250" y="1866900"/>
              <a:ext cx="1428750" cy="419100"/>
            </a:xfrm>
            <a:prstGeom prst="roundRect">
              <a:avLst>
                <a:gd name="adj" fmla="val 27273"/>
              </a:avLst>
            </a:prstGeom>
            <a:solidFill>
              <a:schemeClr val="accent6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766441" y="20040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执行工具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3848100" y="2076450"/>
              <a:ext cx="2667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152900" y="1866900"/>
              <a:ext cx="1428750" cy="419100"/>
            </a:xfrm>
            <a:prstGeom prst="roundRect">
              <a:avLst>
                <a:gd name="adj" fmla="val 27273"/>
              </a:avLst>
            </a:prstGeom>
            <a:solidFill>
              <a:schemeClr val="accent6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618863" y="20040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再生成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4867275" y="2286000"/>
              <a:ext cx="9525" cy="152400"/>
            </a:xfrm>
            <a:custGeom>
              <a:avLst/>
              <a:gdLst/>
              <a:ahLst/>
              <a:cxnLst/>
              <a:rect l="l" t="t" r="r" b="b"/>
              <a:pathLst>
                <a:path w="9525" h="152400">
                  <a:moveTo>
                    <a:pt x="0" y="0"/>
                  </a:moveTo>
                  <a:lnTo>
                    <a:pt x="0" y="15240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6" name="Line 16"/>
            <p:cNvSpPr/>
            <p:nvPr/>
          </p:nvSpPr>
          <p:spPr>
            <a:xfrm flipH="1">
              <a:off x="1400175" y="2438400"/>
              <a:ext cx="34671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7" name="Line 17"/>
            <p:cNvSpPr/>
            <p:nvPr/>
          </p:nvSpPr>
          <p:spPr>
            <a:xfrm flipV="1">
              <a:off x="1323975" y="2324100"/>
              <a:ext cx="1" cy="11430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3504" y="2594610"/>
              <a:ext cx="43415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模型发出 tool_call → 工具返回 → 结果喂回去，直到给出结论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9600" y="2895600"/>
              <a:ext cx="5486400" cy="590550"/>
            </a:xfrm>
            <a:prstGeom prst="roundRect">
              <a:avLst>
                <a:gd name="adj" fmla="val 2258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7542" y="311181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$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17092" y="3111818"/>
              <a:ext cx="2112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python train_agent.py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245864" y="31280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9DB4D0"/>
                  </a:solidFill>
                  <a:latin typeface="+mn-lt"/>
                  <a:ea typeface="+mn-ea"/>
                  <a:cs typeface="+mn-cs"/>
                </a:rPr>
                <a:t>多卡加 torchrun 前缀</a:t>
              </a:r>
            </a:p>
          </p:txBody>
        </p:sp>
      </p:grpSp>
      <p:grpSp>
        <p:nvGrpSpPr>
          <p:cNvPr id="32" name="agent-notes"/>
          <p:cNvGrpSpPr/>
          <p:nvPr/>
        </p:nvGrpSpPr>
        <p:grpSpPr>
          <a:xfrm>
            <a:off x="6316980" y="1546860"/>
            <a:ext cx="3710559" cy="2101596"/>
            <a:chOff x="6316980" y="1546860"/>
            <a:chExt cx="3710559" cy="2101596"/>
          </a:xfrm>
        </p:grpSpPr>
        <p:sp>
          <p:nvSpPr>
            <p:cNvPr id="24" name="TextBox 24"/>
            <p:cNvSpPr txBox="1"/>
            <p:nvPr/>
          </p:nvSpPr>
          <p:spPr>
            <a:xfrm>
              <a:off x="6318504" y="15468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数据与默认超参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18504" y="1851660"/>
              <a:ext cx="31600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数据：agent_rl.jsonl（86MB）或纯数学版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18504" y="2080260"/>
              <a:ext cx="3475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agent_rl_math.jsonl（18MB，奖励更好判定）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18504" y="2366010"/>
              <a:ext cx="32996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batch 2 · lr 3e-7 · num_generations 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18504" y="2594610"/>
              <a:ext cx="32107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max_gen_len 768 · max_total_len 2500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16980" y="2886075"/>
              <a:ext cx="3276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六个内置工具：数学 · 单位 · 天气 ·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16980" y="3152775"/>
              <a:ext cx="37105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时间 · 汇率 · 翻译（本地模拟，不联网）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18504" y="3413760"/>
              <a:ext cx="23817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额外盯 GrpStd：组内奖励标准差</a:t>
              </a:r>
            </a:p>
          </p:txBody>
        </p:sp>
      </p:grpSp>
      <p:grpSp>
        <p:nvGrpSpPr>
          <p:cNvPr id="44" name="sglang-blocks"/>
          <p:cNvGrpSpPr/>
          <p:nvPr/>
        </p:nvGrpSpPr>
        <p:grpSpPr>
          <a:xfrm>
            <a:off x="603504" y="3642360"/>
            <a:ext cx="6063996" cy="2339340"/>
            <a:chOff x="603504" y="3642360"/>
            <a:chExt cx="6063996" cy="2339340"/>
          </a:xfrm>
        </p:grpSpPr>
        <p:sp>
          <p:nvSpPr>
            <p:cNvPr id="33" name="TextBox 33"/>
            <p:cNvSpPr txBox="1"/>
            <p:nvPr/>
          </p:nvSpPr>
          <p:spPr>
            <a:xfrm>
              <a:off x="603504" y="3642360"/>
              <a:ext cx="32248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SGLang 加速（可选件，先把上面跑通再开）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09600" y="3924300"/>
              <a:ext cx="6057900" cy="971550"/>
            </a:xfrm>
            <a:prstGeom prst="roundRect">
              <a:avLst>
                <a:gd name="adj" fmla="val 1372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08304" y="4061460"/>
              <a:ext cx="32673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DB4D0"/>
                  </a:solidFill>
                  <a:latin typeface="+mn-lt"/>
                  <a:ea typeface="+mn-ea"/>
                  <a:cs typeface="+mn-cs"/>
                </a:rPr>
                <a:t>第一步 · 另开一个终端，先把推理服务起起来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8304" y="43662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$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98804" y="4366260"/>
              <a:ext cx="26776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python -m sglang.launch_server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98804" y="4613910"/>
              <a:ext cx="32996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--model-path ./minimind-3 --port 8998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09600" y="5010150"/>
              <a:ext cx="6057900" cy="971550"/>
            </a:xfrm>
            <a:prstGeom prst="roundRect">
              <a:avLst>
                <a:gd name="adj" fmla="val 1372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08304" y="5147310"/>
              <a:ext cx="18134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DB4D0"/>
                  </a:solidFill>
                  <a:latin typeface="+mn-lt"/>
                  <a:ea typeface="+mn-ea"/>
                  <a:cs typeface="+mn-cs"/>
                </a:rPr>
                <a:t>第二步 · 训练时切换引擎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08304" y="54521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$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98804" y="5452110"/>
              <a:ext cx="40104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python train_agent.py --rollout_engine sglang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98804" y="5699760"/>
              <a:ext cx="34773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--sglang_base_url http://localhost:8998</a:t>
              </a:r>
            </a:p>
          </p:txBody>
        </p:sp>
      </p:grpSp>
      <p:grpSp>
        <p:nvGrpSpPr>
          <p:cNvPr id="48" name="sglang-figure"/>
          <p:cNvGrpSpPr/>
          <p:nvPr/>
        </p:nvGrpSpPr>
        <p:grpSpPr>
          <a:xfrm>
            <a:off x="6890004" y="3733800"/>
            <a:ext cx="4520946" cy="2543556"/>
            <a:chOff x="6890004" y="3733800"/>
            <a:chExt cx="4520946" cy="2543556"/>
          </a:xfrm>
        </p:grpSpPr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67550" y="3733800"/>
              <a:ext cx="4343400" cy="2000250"/>
            </a:xfrm>
            <a:prstGeom prst="rect">
              <a:avLst/>
            </a:prstGeom>
          </p:spPr>
        </p:pic>
        <p:sp>
          <p:nvSpPr>
            <p:cNvPr id="46" name="TextBox 46"/>
            <p:cNvSpPr txBox="1"/>
            <p:nvPr/>
          </p:nvSpPr>
          <p:spPr>
            <a:xfrm>
              <a:off x="6890004" y="5814060"/>
              <a:ext cx="29119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训推分离：训练侧 / 轨迹侧 / rollout 侧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90004" y="6042660"/>
              <a:ext cx="24757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权重每 save_interval 步同步一次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603504" y="6309360"/>
            <a:ext cx="10984992" cy="234696"/>
            <a:chOff x="603504" y="6309360"/>
            <a:chExt cx="10984992" cy="234696"/>
          </a:xfrm>
        </p:grpSpPr>
        <p:sp>
          <p:nvSpPr>
            <p:cNvPr id="49" name="TextBox 49"/>
            <p:cNvSpPr txBox="1"/>
            <p:nvPr/>
          </p:nvSpPr>
          <p:spPr>
            <a:xfrm>
              <a:off x="603504" y="6309360"/>
              <a:ext cx="69114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Agent RL 的成败不看 loss，看它会不会用工具——训完必须跑 eval_toolcall.py --weight agent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035132" y="63093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06 / 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884" y="699135"/>
            <a:ext cx="10992612" cy="529590"/>
            <a:chOff x="595884" y="699135"/>
            <a:chExt cx="10992612" cy="529590"/>
          </a:xfrm>
        </p:grpSpPr>
        <p:sp>
          <p:nvSpPr>
            <p:cNvPr id="2" name="TextBox 2"/>
            <p:cNvSpPr txBox="1"/>
            <p:nvPr/>
          </p:nvSpPr>
          <p:spPr>
            <a:xfrm>
              <a:off x="595884" y="699135"/>
              <a:ext cx="438912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评测：怎么判断模型训好了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15904" y="861060"/>
              <a:ext cx="4725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④ 评测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19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</p:grpSp>
      <p:grpSp>
        <p:nvGrpSpPr>
          <p:cNvPr id="17" name="eval-loading"/>
          <p:cNvGrpSpPr/>
          <p:nvPr/>
        </p:nvGrpSpPr>
        <p:grpSpPr>
          <a:xfrm>
            <a:off x="601980" y="1546860"/>
            <a:ext cx="4062832" cy="2901696"/>
            <a:chOff x="601980" y="1546860"/>
            <a:chExt cx="4062832" cy="2901696"/>
          </a:xfrm>
        </p:grpSpPr>
        <p:sp>
          <p:nvSpPr>
            <p:cNvPr id="6" name="TextBox 6"/>
            <p:cNvSpPr txBox="1"/>
            <p:nvPr/>
          </p:nvSpPr>
          <p:spPr>
            <a:xfrm>
              <a:off x="603504" y="15468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第一步：把权重正确加载起来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1980" y="1819275"/>
              <a:ext cx="1961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原生 PyTorch 权重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2104" y="2118360"/>
              <a:ext cx="32107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python eval_llm.py --weight full_sft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104" y="2327910"/>
              <a:ext cx="25484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需要 ./out/ 下有对应的 .pth 文件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1980" y="2657475"/>
              <a:ext cx="21126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Transformers 格式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104" y="2956560"/>
              <a:ext cx="38327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python eval_llm.py --load_from ./minimind-3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2104" y="31661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下载的完整模型目录，无需自己拼权重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1980" y="3495675"/>
              <a:ext cx="11518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叠加 LoRA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2104" y="3794760"/>
              <a:ext cx="32107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python eval_llm.py --weight full_sft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2104" y="4004310"/>
              <a:ext cx="2322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--lora_weight lora_medical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2104" y="42138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基模必须与训练时一致</a:t>
              </a:r>
            </a:p>
          </p:txBody>
        </p:sp>
      </p:grpSp>
      <p:grpSp>
        <p:nvGrpSpPr>
          <p:cNvPr id="23" name="eval-flags"/>
          <p:cNvGrpSpPr/>
          <p:nvPr/>
        </p:nvGrpSpPr>
        <p:grpSpPr>
          <a:xfrm>
            <a:off x="603504" y="4556760"/>
            <a:ext cx="3800399" cy="1244346"/>
            <a:chOff x="603504" y="4556760"/>
            <a:chExt cx="3800399" cy="1244346"/>
          </a:xfrm>
        </p:grpSpPr>
        <p:sp>
          <p:nvSpPr>
            <p:cNvPr id="18" name="TextBox 18"/>
            <p:cNvSpPr txBox="1"/>
            <p:nvPr/>
          </p:nvSpPr>
          <p:spPr>
            <a:xfrm>
              <a:off x="603504" y="45567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验收常用开关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03504" y="4823460"/>
              <a:ext cx="38003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--historys 4 携带历史 · --open_thinking 1 开思考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3504" y="5071110"/>
              <a:ext cx="36499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--inference_rope_scaling 开 RoPE 外推（4 倍）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03504" y="5318760"/>
              <a:ext cx="33238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--temperature / --top_p 默认 0.85 / 0.95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3504" y="5566410"/>
              <a:ext cx="27019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--show_speed 1 每轮打印 tokens/s</a:t>
              </a:r>
            </a:p>
          </p:txBody>
        </p:sp>
      </p:grpSp>
      <p:grpSp>
        <p:nvGrpSpPr>
          <p:cNvPr id="30" name="eval-checks"/>
          <p:cNvGrpSpPr/>
          <p:nvPr/>
        </p:nvGrpSpPr>
        <p:grpSpPr>
          <a:xfrm>
            <a:off x="6316980" y="1546860"/>
            <a:ext cx="4487990" cy="1899285"/>
            <a:chOff x="6316980" y="1546860"/>
            <a:chExt cx="4487990" cy="1899285"/>
          </a:xfrm>
        </p:grpSpPr>
        <p:sp>
          <p:nvSpPr>
            <p:cNvPr id="24" name="TextBox 24"/>
            <p:cNvSpPr txBox="1"/>
            <p:nvPr/>
          </p:nvSpPr>
          <p:spPr>
            <a:xfrm>
              <a:off x="6318504" y="15468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三类检查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16980" y="1857375"/>
              <a:ext cx="44879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跑一遍看回答：回车自动测 8 题，选 1 手动对话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16980" y="2200275"/>
              <a:ext cx="37307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看曲线：--use_wandb 对照官方走势图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16980" y="2543175"/>
              <a:ext cx="41245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 验工具：eval_toolcall.py --weight agent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316980" y="2905125"/>
              <a:ext cx="39639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易错：--weight pretrain 走裸续写分支，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16980" y="31527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拿对话格式去测会答非所问。</a:t>
              </a:r>
            </a:p>
          </p:txBody>
        </p:sp>
      </p:grpSp>
      <p:grpSp>
        <p:nvGrpSpPr>
          <p:cNvPr id="34" name="loss-curve"/>
          <p:cNvGrpSpPr/>
          <p:nvPr/>
        </p:nvGrpSpPr>
        <p:grpSpPr>
          <a:xfrm>
            <a:off x="6318504" y="3490406"/>
            <a:ext cx="5269992" cy="2653600"/>
            <a:chOff x="6318504" y="3490406"/>
            <a:chExt cx="5269992" cy="2653600"/>
          </a:xfrm>
        </p:grpSpPr>
        <p:pic>
          <p:nvPicPr>
            <p:cNvPr id="31" name="Image 3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24600" y="3490406"/>
              <a:ext cx="5257800" cy="2353687"/>
            </a:xfrm>
            <a:prstGeom prst="rect">
              <a:avLst/>
            </a:prstGeom>
          </p:spPr>
        </p:pic>
        <p:sp>
          <p:nvSpPr>
            <p:cNvPr id="32" name="TextBox 32"/>
            <p:cNvSpPr txBox="1"/>
            <p:nvPr/>
          </p:nvSpPr>
          <p:spPr>
            <a:xfrm>
              <a:off x="6318504" y="5909310"/>
              <a:ext cx="36905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官方 GRPO 训练走势参考 · images/grpo_loss.jpg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607040" y="59093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（完整呈现）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603504" y="6309360"/>
            <a:ext cx="10984992" cy="234696"/>
            <a:chOff x="603504" y="6309360"/>
            <a:chExt cx="10984992" cy="234696"/>
          </a:xfrm>
        </p:grpSpPr>
        <p:sp>
          <p:nvSpPr>
            <p:cNvPr id="35" name="TextBox 35"/>
            <p:cNvSpPr txBox="1"/>
            <p:nvPr/>
          </p:nvSpPr>
          <p:spPr>
            <a:xfrm>
              <a:off x="603504" y="6309360"/>
              <a:ext cx="65224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工具调用能力只有一种验收方式：能看到「模型发工具调用 → 执行 → 据此作答」的完整链路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035132" y="63093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07 / 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884" y="699135"/>
            <a:ext cx="10992612" cy="529590"/>
            <a:chOff x="595884" y="699135"/>
            <a:chExt cx="10992612" cy="529590"/>
          </a:xfrm>
        </p:grpSpPr>
        <p:sp>
          <p:nvSpPr>
            <p:cNvPr id="2" name="TextBox 2"/>
            <p:cNvSpPr txBox="1"/>
            <p:nvPr/>
          </p:nvSpPr>
          <p:spPr>
            <a:xfrm>
              <a:off x="595884" y="699135"/>
              <a:ext cx="475259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使用：怎么把它接进你的系统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11115904" y="861060"/>
              <a:ext cx="4725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④ 推理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19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</p:grpSp>
      <p:grpSp>
        <p:nvGrpSpPr>
          <p:cNvPr id="23" name="serve-ways"/>
          <p:cNvGrpSpPr/>
          <p:nvPr/>
        </p:nvGrpSpPr>
        <p:grpSpPr>
          <a:xfrm>
            <a:off x="603504" y="1318260"/>
            <a:ext cx="6063996" cy="4549140"/>
            <a:chOff x="603504" y="1318260"/>
            <a:chExt cx="6063996" cy="4549140"/>
          </a:xfrm>
        </p:grpSpPr>
        <p:sp>
          <p:nvSpPr>
            <p:cNvPr id="6" name="TextBox 6"/>
            <p:cNvSpPr txBox="1"/>
            <p:nvPr/>
          </p:nvSpPr>
          <p:spPr>
            <a:xfrm>
              <a:off x="603504" y="13182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四种把它用起来的方式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1600200"/>
              <a:ext cx="6057900" cy="952500"/>
            </a:xfrm>
            <a:prstGeom prst="roundRect">
              <a:avLst>
                <a:gd name="adj" fmla="val 14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0580" y="1762125"/>
              <a:ext cx="16769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网页界面 </a:t>
              </a:r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· 演示首选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2104" y="2080260"/>
              <a:ext cx="22334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streamlit run web_demo.py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2104" y="2308860"/>
              <a:ext cx="33642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先把模型复制到 scripts/ 目录，否则扫描不到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09600" y="2705100"/>
              <a:ext cx="6057900" cy="952500"/>
            </a:xfrm>
            <a:prstGeom prst="roundRect">
              <a:avLst>
                <a:gd name="adj" fmla="val 14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30580" y="2867025"/>
              <a:ext cx="24509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OpenAI 兼容接口 </a:t>
              </a:r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· 接进应用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2104" y="3185160"/>
              <a:ext cx="30330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python scripts/serve_openai_api.py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2104" y="3413760"/>
              <a:ext cx="25999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用 OpenAI SDK 的下游工具都能直连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09600" y="3810000"/>
              <a:ext cx="6057900" cy="952500"/>
            </a:xfrm>
            <a:prstGeom prst="roundRect">
              <a:avLst>
                <a:gd name="adj" fmla="val 14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0580" y="3971925"/>
              <a:ext cx="16668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ollama </a:t>
              </a:r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· 本地一键跑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2104" y="4290060"/>
              <a:ext cx="29442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ollama run jingyaogong/minimind-3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2104" y="451866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最省事，一行命令起一个本地模型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9600" y="4914900"/>
              <a:ext cx="6057900" cy="952500"/>
            </a:xfrm>
            <a:prstGeom prst="roundRect">
              <a:avLst>
                <a:gd name="adj" fmla="val 14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0580" y="5076825"/>
              <a:ext cx="14335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vllm </a:t>
              </a:r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· 压测与批量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2104" y="5394960"/>
              <a:ext cx="22334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vllm serve /path/to/model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2104" y="562356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需要高吞吐、批量推理时用</a:t>
              </a:r>
            </a:p>
          </p:txBody>
        </p:sp>
      </p:grpSp>
      <p:grpSp>
        <p:nvGrpSpPr>
          <p:cNvPr id="27" name="usage-figure"/>
          <p:cNvGrpSpPr/>
          <p:nvPr/>
        </p:nvGrpSpPr>
        <p:grpSpPr>
          <a:xfrm>
            <a:off x="7042404" y="1809750"/>
            <a:ext cx="4539996" cy="3858006"/>
            <a:chOff x="7042404" y="1809750"/>
            <a:chExt cx="4539996" cy="3858006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48500" y="1809750"/>
              <a:ext cx="4533900" cy="3228975"/>
            </a:xfrm>
            <a:prstGeom prst="rect">
              <a:avLst/>
            </a:prstGeom>
          </p:spPr>
        </p:pic>
        <p:sp>
          <p:nvSpPr>
            <p:cNvPr id="25" name="TextBox 25"/>
            <p:cNvSpPr txBox="1"/>
            <p:nvPr/>
          </p:nvSpPr>
          <p:spPr>
            <a:xfrm>
              <a:off x="7042404" y="5185410"/>
              <a:ext cx="24305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Agent RL 训练结果的 WebUI 界面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42404" y="5433060"/>
              <a:ext cx="29442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支持思考展示与多轮工具调用 · 完整呈现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603504" y="6309360"/>
            <a:ext cx="10984992" cy="234696"/>
            <a:chOff x="603504" y="6309360"/>
            <a:chExt cx="10984992" cy="234696"/>
          </a:xfrm>
        </p:grpSpPr>
        <p:sp>
          <p:nvSpPr>
            <p:cNvPr id="28" name="TextBox 28"/>
            <p:cNvSpPr txBox="1"/>
            <p:nvPr/>
          </p:nvSpPr>
          <p:spPr>
            <a:xfrm>
              <a:off x="603504" y="6309360"/>
              <a:ext cx="60054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命令行对话不在这里：那是上一页验收用的入口，两页共用 eval_llm.py 同一个脚本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035132" y="63093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08 / 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884" y="699135"/>
            <a:ext cx="10992612" cy="529590"/>
            <a:chOff x="595884" y="699135"/>
            <a:chExt cx="10992612" cy="529590"/>
          </a:xfrm>
        </p:grpSpPr>
        <p:sp>
          <p:nvSpPr>
            <p:cNvPr id="2" name="TextBox 2"/>
            <p:cNvSpPr txBox="1"/>
            <p:nvPr/>
          </p:nvSpPr>
          <p:spPr>
            <a:xfrm>
              <a:off x="595884" y="699135"/>
              <a:ext cx="220827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速查表与排障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960864" y="8610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一页放完所有命令与坑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19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</p:grpSp>
      <p:grpSp>
        <p:nvGrpSpPr>
          <p:cNvPr id="45" name="full-command-table"/>
          <p:cNvGrpSpPr/>
          <p:nvPr/>
        </p:nvGrpSpPr>
        <p:grpSpPr>
          <a:xfrm>
            <a:off x="609600" y="1447800"/>
            <a:ext cx="10972800" cy="2667381"/>
            <a:chOff x="609600" y="1447800"/>
            <a:chExt cx="10972800" cy="2667381"/>
          </a:xfrm>
        </p:grpSpPr>
        <p:sp>
          <p:nvSpPr>
            <p:cNvPr id="6" name="Rectangle 6"/>
            <p:cNvSpPr/>
            <p:nvPr/>
          </p:nvSpPr>
          <p:spPr>
            <a:xfrm>
              <a:off x="609600" y="1447800"/>
              <a:ext cx="10972800" cy="2657475"/>
            </a:xfrm>
            <a:prstGeom prst="rect">
              <a:avLst/>
            </a:prstGeom>
            <a:noFill/>
            <a:ln w="9525">
              <a:solidFill>
                <a:srgbClr val="DDE4EA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447800"/>
              <a:ext cx="10972800" cy="29527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609600" y="17430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09600" y="20383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09600" y="23336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09600" y="26289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609600" y="29241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09600" y="32194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09600" y="35147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609600" y="38100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2038350" y="1447800"/>
              <a:ext cx="9525" cy="2657475"/>
            </a:xfrm>
            <a:custGeom>
              <a:avLst/>
              <a:gdLst/>
              <a:ahLst/>
              <a:cxnLst/>
              <a:rect l="l" t="t" r="r" b="b"/>
              <a:pathLst>
                <a:path w="9525" h="2657475">
                  <a:moveTo>
                    <a:pt x="0" y="0"/>
                  </a:moveTo>
                  <a:lnTo>
                    <a:pt x="0" y="2657475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8134350" y="1447800"/>
              <a:ext cx="9525" cy="2657475"/>
            </a:xfrm>
            <a:custGeom>
              <a:avLst/>
              <a:gdLst/>
              <a:ahLst/>
              <a:cxnLst/>
              <a:rect l="l" t="t" r="r" b="b"/>
              <a:pathLst>
                <a:path w="9525" h="2657475">
                  <a:moveTo>
                    <a:pt x="0" y="0"/>
                  </a:moveTo>
                  <a:lnTo>
                    <a:pt x="0" y="2657475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36854" y="15182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阶段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65604" y="1518285"/>
              <a:ext cx="25161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命令（在 trainer/ 目录下执行）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61604" y="15182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产出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6854" y="18135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预训练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65604" y="1813560"/>
              <a:ext cx="21445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python train_pretrain.py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61604" y="1813560"/>
              <a:ext cx="14337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pretrain_768.pth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6854" y="2108835"/>
              <a:ext cx="7107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全参 SFT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165604" y="2108835"/>
              <a:ext cx="21445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python train_full_sft.py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61604" y="2108835"/>
              <a:ext cx="14337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full_sft_768.pth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6854" y="2404110"/>
              <a:ext cx="3826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LoRA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165604" y="2404110"/>
              <a:ext cx="36550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python train_lora.py --lora_name lora_xxx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61604" y="2404110"/>
              <a:ext cx="14337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lora_xxx_768.pth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36854" y="26993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蒸馏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165604" y="2699385"/>
              <a:ext cx="24999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python train_distillation.py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61604" y="2699385"/>
              <a:ext cx="15226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full_dist_768.pth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6854" y="299466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DPO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165604" y="2994660"/>
              <a:ext cx="17003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python train_dpo.py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61604" y="2994660"/>
              <a:ext cx="9895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dpo_768.pth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6854" y="3289935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PPO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165604" y="3289935"/>
              <a:ext cx="17003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python train_ppo.py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61604" y="3289935"/>
              <a:ext cx="15226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ppo_actor_768.pth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6854" y="3585210"/>
              <a:ext cx="387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GRPO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165604" y="35852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python train_grpo.py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61604" y="3585210"/>
              <a:ext cx="10783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grpo_768.pth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6854" y="3880485"/>
              <a:ext cx="7402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Agent RL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165604" y="3880485"/>
              <a:ext cx="1878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python train_agent.py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261604" y="3880485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agent_768.pth</a:t>
              </a:r>
            </a:p>
          </p:txBody>
        </p:sp>
      </p:grpSp>
      <p:grpSp>
        <p:nvGrpSpPr>
          <p:cNvPr id="51" name="memory-tips"/>
          <p:cNvGrpSpPr/>
          <p:nvPr/>
        </p:nvGrpSpPr>
        <p:grpSpPr>
          <a:xfrm>
            <a:off x="603504" y="4309110"/>
            <a:ext cx="4406189" cy="1110996"/>
            <a:chOff x="603504" y="4309110"/>
            <a:chExt cx="4406189" cy="1110996"/>
          </a:xfrm>
        </p:grpSpPr>
        <p:sp>
          <p:nvSpPr>
            <p:cNvPr id="46" name="TextBox 46"/>
            <p:cNvSpPr txBox="1"/>
            <p:nvPr/>
          </p:nvSpPr>
          <p:spPr>
            <a:xfrm>
              <a:off x="603504" y="430911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显存不够的四个手段（按推荐顺序）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03504" y="4556760"/>
              <a:ext cx="44061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　降 --batch_size，同时按比例加 --accumulation_steps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03504" y="4766310"/>
              <a:ext cx="30249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　降 --max_seq_len 或 --max_gen_len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03504" y="497586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　关掉 --use_moe（训练显存与耗时都更高）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03504" y="5185410"/>
              <a:ext cx="32682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　开 --use_compile 1（LoRA 会自动关闭）</a:t>
              </a:r>
            </a:p>
          </p:txBody>
        </p:sp>
      </p:grpSp>
      <p:grpSp>
        <p:nvGrpSpPr>
          <p:cNvPr id="54" name="resume-tips"/>
          <p:cNvGrpSpPr/>
          <p:nvPr/>
        </p:nvGrpSpPr>
        <p:grpSpPr>
          <a:xfrm>
            <a:off x="603504" y="5547360"/>
            <a:ext cx="4600042" cy="482346"/>
            <a:chOff x="603504" y="5547360"/>
            <a:chExt cx="4600042" cy="482346"/>
          </a:xfrm>
        </p:grpSpPr>
        <p:sp>
          <p:nvSpPr>
            <p:cNvPr id="52" name="TextBox 52"/>
            <p:cNvSpPr txBox="1"/>
            <p:nvPr/>
          </p:nvSpPr>
          <p:spPr>
            <a:xfrm>
              <a:off x="603504" y="55473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续训与多卡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03504" y="5795010"/>
              <a:ext cx="46000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续训在命令后加 --from_resume 1；多卡在命令前加 torchrun</a:t>
              </a:r>
            </a:p>
          </p:txBody>
        </p:sp>
      </p:grpSp>
      <p:grpSp>
        <p:nvGrpSpPr>
          <p:cNvPr id="64" name="pitfalls"/>
          <p:cNvGrpSpPr/>
          <p:nvPr/>
        </p:nvGrpSpPr>
        <p:grpSpPr>
          <a:xfrm>
            <a:off x="6318504" y="4309110"/>
            <a:ext cx="3243072" cy="1949196"/>
            <a:chOff x="6318504" y="4309110"/>
            <a:chExt cx="3243072" cy="1949196"/>
          </a:xfrm>
        </p:grpSpPr>
        <p:sp>
          <p:nvSpPr>
            <p:cNvPr id="55" name="TextBox 55"/>
            <p:cNvSpPr txBox="1"/>
            <p:nvPr/>
          </p:nvSpPr>
          <p:spPr>
            <a:xfrm>
              <a:off x="6318504" y="43091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八个真实会踩的坑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318504" y="4556760"/>
              <a:ext cx="27342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　必须先 cd trainer，路径都相对它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318504" y="476631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　--use_moe 要与权重名里的 _moe 一致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318504" y="4975860"/>
              <a:ext cx="23626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　奖励模型默认在仓库外层目录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318504" y="5185410"/>
              <a:ext cx="31865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　--weight 与 --lora_weight 基模要匹配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318504" y="5394960"/>
              <a:ext cx="27748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　WebUI 要先把模型复制到 scripts/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318504" y="5604510"/>
              <a:ext cx="3017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　LoRA 开 --use_compile 会被自动关闭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318504" y="5814060"/>
              <a:ext cx="24760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　SGLang 模式必须先起推理服务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318504" y="602361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　--from_resume 1 依赖 ./checkpoints/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603504" y="6309360"/>
            <a:ext cx="10984992" cy="234696"/>
            <a:chOff x="603504" y="6309360"/>
            <a:chExt cx="10984992" cy="234696"/>
          </a:xfrm>
        </p:grpSpPr>
        <p:sp>
          <p:nvSpPr>
            <p:cNvPr id="65" name="TextBox 65"/>
            <p:cNvSpPr txBox="1"/>
            <p:nvPr/>
          </p:nvSpPr>
          <p:spPr>
            <a:xfrm>
              <a:off x="603504" y="6309360"/>
              <a:ext cx="53681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最小用法两条命令，最大用法八个脚本全跑一遍——先跑通主干，再按需加餐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035132" y="63093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5B6B7C"/>
                  </a:solidFill>
                  <a:latin typeface="+mn-lt"/>
                  <a:ea typeface="+mn-ea"/>
                  <a:cs typeface="+mn-cs"/>
                </a:rPr>
                <a:t>09 / 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inimind-training">
  <a:themeElements>
    <a:clrScheme name="minimind-training">
      <a:dk1>
        <a:srgbClr val="1F2933"/>
      </a:dk1>
      <a:lt1>
        <a:srgbClr val="FFFFFF"/>
      </a:lt1>
      <a:dk2>
        <a:srgbClr val="1F497D"/>
      </a:dk2>
      <a:lt2>
        <a:srgbClr val="F2F5F7"/>
      </a:lt2>
      <a:accent1>
        <a:srgbClr val="14375E"/>
      </a:accent1>
      <a:accent2>
        <a:srgbClr val="E8590C"/>
      </a:accent2>
      <a:accent3>
        <a:srgbClr val="2F6F9F"/>
      </a:accent3>
      <a:accent4>
        <a:srgbClr val="14375E"/>
      </a:accent4>
      <a:accent5>
        <a:srgbClr val="14375E"/>
      </a:accent5>
      <a:accent6>
        <a:srgbClr val="E9EEF2"/>
      </a:accent6>
      <a:hlink>
        <a:srgbClr val="E8590C"/>
      </a:hlink>
      <a:folHlink>
        <a:srgbClr val="2F6F9F"/>
      </a:folHlink>
    </a:clrScheme>
    <a:fontScheme name="minimind-training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nimind-train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inimind-training">
  <a:themeElements>
    <a:clrScheme name="minimind-training">
      <a:dk1>
        <a:srgbClr val="1F2933"/>
      </a:dk1>
      <a:lt1>
        <a:srgbClr val="FFFFFF"/>
      </a:lt1>
      <a:dk2>
        <a:srgbClr val="1F497D"/>
      </a:dk2>
      <a:lt2>
        <a:srgbClr val="F2F5F7"/>
      </a:lt2>
      <a:accent1>
        <a:srgbClr val="14375E"/>
      </a:accent1>
      <a:accent2>
        <a:srgbClr val="E8590C"/>
      </a:accent2>
      <a:accent3>
        <a:srgbClr val="2F6F9F"/>
      </a:accent3>
      <a:accent4>
        <a:srgbClr val="14375E"/>
      </a:accent4>
      <a:accent5>
        <a:srgbClr val="14375E"/>
      </a:accent5>
      <a:accent6>
        <a:srgbClr val="E9EEF2"/>
      </a:accent6>
      <a:hlink>
        <a:srgbClr val="E8590C"/>
      </a:hlink>
      <a:folHlink>
        <a:srgbClr val="2F6F9F"/>
      </a:folHlink>
    </a:clrScheme>
    <a:fontScheme name="minimind-training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nimind-train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2026-09-17T00:58:43Z</dcterms:created>
  <dcterms:modified xsi:type="dcterms:W3CDTF">2026-09-17T00:58:43Z</dcterms:modified>
  <cp:category/>
  <cp:contentStatus/>
</cp:coreProperties>
</file>