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  <Relationship Id="rId26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欢迎。这一讲我们只做一件事：把 MiniMind 里那八层 Transformer 中的一层，从头到尾打开看一遍。你不需要论文基础，会一点 Python、知道神经网络是什么就够了。整场我们只认两样东西——真实的代码行号和每一步的张量形状。你会发现，这两样一旦对上，黑箱就不黑了。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先看全局。一次前向传播像一条流水线：文字先进分词器变成整数 id，再经过 Embedding 查表变成向量，然后穿过八个 Transformer 层，最后归一化、映射到词表、算出下一个词的概率。第三道工序，也就是那八层，是今天的主角。请记住屏幕上这行加粗的结论：进出都是三十二、三百四十、七百六十八，形状从头到尾不变，变的是里面的内容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先说入口。很多人以为 Embedding 是一种运算，其实它只是一次查表——它定义出来就是一张六千四百行、七百六十八列的表格，输入 id 是几，就把第几行整行抄出来。所以你会发现，位置五的「好」和位置三百的「好」，查出来的向量一模一样。这时候的向量还很笨，它不知道自己站在句子的哪个位置；位置信息要靠后面的注意力层来补。另外提一句，这张表和输出头是共用同一份权重的，光这一处就省下大约四百九十万参数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那注意力到底在算什么？一句话：让每个 token 环顾全句，从相关的 token 那里抄一点信息，更新自己的表示。就像我读到「它很可爱」的那个「它」，会回头看看上文，发现指的是那只猫，于是把猫的信息合并进对「它」的理解。这件事被数学化成了四步：当前 token 发出一个查询，每个词亮出一个标签，两者对一对分数，再按相关度把内容抄过来。要强调的是，Q、K、V 不是三种东西，是同一个输入向量的三重身份。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现在看这三个身份怎么来的。三个不同的线性层，把同一条七百六十八维的主干分成 Q、K、V；然后一次 view 切头，Q 变成八个头，K 和 V 各四个头。接着两个环节只作用在 Q 和 K 上：QK-Norm 把数值范围拉稳，防止 softmax 饱和；RoPE 把向量旋转一个和位置成正比的角度，第几个词就转几格，旋转之后两个向量的点积自然反映相对距离；那两张三角函数表在初始化时就算好了，不占参数。V 既不做 Norm 也不旋转。这里有个最容易认错的地方——图里 V 头顶那个圆圈符号不是 RoPE，是下一节的复制操作。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有了 Q 和 K，就可以打分了。打分阵的第 i 行第 j 列，就是第 i 个 token 对第 j 个 token 的关注程度。为什么要除以根号九十六？防止维度一大分数就爆掉，softmax 梯度消失。然后是这一步最关键的设计：上三角全部加上负无穷。加完之后，第 i 个 token 只能看见它前面的 token，不能偷看答案。这个因果掩码，正是语言模型能逐词生成、同时训练时又能并行算所有位置损失的前提。至于为什么用负无穷而不是零——零在 softmax 之后还不够「死」，负无穷则精确地变成零，彻底断绝信息泄露。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你可能已经注意到了，Q 有八个头，K 和 V 却只有四个。这不是写错了，这叫分组查询注意力。八个 Q 头两两分组，每组共享同一个 K 和 V。打分之前，K 和 V 会被复制成八份，让相乘的两个矩阵头数对得上。好处很实在：K 和 V 的参数量、以及推理时的缓存，双双减半，效果几乎无损，所以 Llama、Qwen 这些现代模型都这么干。还有一点值得记住——复制发生在存缓存之后，所以缓存里的正本始终是四个头的版本。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八个头各看各的角度，算完之后要合回来。转置加 reshape，把八个九十六维的头拼成一条七百六十八维的向量，再用输出投影融合一次。为什么非要八个头？因为一个头只能学一种关注模式，八个头就能从八个角度同时提取关系——有的盯语法，有的管指代，最后拼在一起才是完整的理解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注意力让信息在 token 之间流动，前馈网络则对每个 token 独立加工知识。SwiGLU 的做法是把主干分成两路：up_proj 这一路是内容，也就是「我知道了什么」；gate_proj 这一路先过 SiLU，再和内容逐元素相乘，它输出的是系数，相当于给每个特征维度装了一个可学习的开关。判断谁是谁有个口诀——谁接 SiLU 谁是 gate。顺便说一句，中间那个两千四百三十二维不是随手定的，是按七百六十八乘圆周率再取整算出来的；而这一层里前馈网络占了七成六的参数，比注意力还多。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接下来是让八层能训得动的两件「胶水」。第一件是残差连接：把输入抄一份留着，子层只负责学「该修正多少」，反向传播时梯度还能顺着加号原样流回底层。这里有个很容易画错的地方——两条捷径是接力关系，不是并列的，第二条的起点在第一个加号之后。第二件是 RMSNorm，只除以均方根、再乘一个可学习的缩放，比 LayerNorm 少了减均值和偏置，更快更省。整篇代码里它一共出现了三次：每层两个前置归一化，注意力内部一个，最后输出前还有一个。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单个部件都讲完了，现在按行号把一层从头走一遍。一百八十七行先抄一份残差；一百八十九行做归一化；一百八十八行进注意力；一百九十二行把残差加回来，这是第一个加号；一百九十三行再归一化、过前馈、加第二次，第二个加号；最后返回。全程形状都是三十二、三百四十、七百六十八，一次都没变过。写成一行的公式就是：x 等于 x 加上注意力处理后的自己，再等于 x 加上前馈处理后的自己。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一层走通了，八层就是把它串起来循环。代码就是一个 for 循环，逐层精炼，形状始终不变。八层之后做最后一次归一化，然后到出口：线性层把七百六十八维映射到六千四百的词表，得到每个位置的打分，再和标签算交叉熵。这里要注意错位对齐——第 i 个位置的预测，对应的是第 i 加一个 token；标签里补位的地方会被负一百挡住，不产生损失。至于每一层分别在学什么，大致是浅层管局部语法、中层管语义、深层管风格和推理链这类任务级模式。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到这里，一层的内部就讲完了。接下来换个视角：同一套代码，训练和推理其实是两种走法。训练一次把整句话喂进去，所有位置并行计算，不用缓存，直接拿正确答案算损失；推理则是一个词一个词地吐，每步只喂一个新 token，靠缓存接续下去。你可以把训练理解成三百四十个「第一步」同时发生。这张表里每一行，都是同一个前向函数的两种调用方式；右边这一列，就是接下来几页要展开的内容。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推理的节奏是两段式。第一步叫 Prefill：整个提示词一次并行吃进去，三个 token 同时算，缓存就在这一步诞生。之后进入 Decode 循环：每一步只喂一个新 token，从缓存里续上位置，算出一个词就采样一个词，直到遇到结束符。还有一个细节值得留意——我们只取最后一个位置的打分，因为只有它代表「下一个词」；前面位置的预测是训练时算损失的副产品，推理时没有意义。位置认知的连续性也很关键：同一个字在训练时拿到哪一行旋转角，推理时就拿同一行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缓存在长大，但成本在降。看这张表：每生成一步，每一层只追加一个位置，K 和 V 各一份。为什么历史部分不用重算？因为一个 token 的 K 和 V 只由它自己的内容和位置决定，内容没变，结果就不变，直接从缓存读就行。算一笔账：有缓存之后，生成一千零二十四个 token 需要的打分总量，大约是无缓存时的五百一十二分之一。而且因为缓存是在复制之前存下来的，它的正本始终是四个头的版本——分组注意力的显存收益就是这么兑现的。最后补一句工程直觉：预填充阶段受算力限制，解码阶段受显存带宽限制，这正是推理框架专门优化解码的原因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最后一部分，讲批量推理里的一个坑。多条请求长度不一样，短的必须补 pad，而方向只能是左，不能是右。原因就在这行代码：生成时只取最后一个位置的打分——如果右补，最后一个位置是 pad，你采出来的就是垃圾；左补则保证那个位置一定是真实 token，而且新词接在末尾，紧贴真实序列。配套还有一个必须一起传的东西：attention_mask，它和 input_ids 是分词器同时产出的一对搭档，取一必须取二。那训练为什么反而用右补？因为因果注意力让每个位置只看自己前面，右边的 pad 对真实 token 天然隐形，补位处再被标签里的负一百挡住就行了。一句话：训练是在算损失，推理是在接着写。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左补之后，打分阵上就有两种掩码同时作用。因果掩码加负无穷，挡的是时间上在查询之后的位置；padding 掩码乘以负十的九次方，挡的是内容上属于凑数的位置。两者相加，重叠的地方负无穷吸收有限数，结果还是负无穷——只会更小，softmax 之后都是零。这里有个实现细节值得注意：为什么 padding 用负十的九次方而不是负无穷？因为某些融合算子让负无穷参与运算可能产生非法值，而负十的九次方在单精度下照样下溢为零，效果一样却更皮实。还有一点：pad 那一行自己算出来的表示是垃圾，但无害——生成时只取最后一个位置，没人消费它。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如果忘了传 mask 会怎样？不会报错。这才是最危险的地方：条件判断会照常通过，直接走快车道，pad 的键值悄悄混进注意力里，回答质量下降，但程序一声不吭。所以记住这句口诀——补位和掩码是分词器产出的一对连体婴，取一必须取二。判断方法也很简单，就问一句：这个批次里有 pad 吗？有就必须传，没有就可以不传。顺带回答两个常见疑问：pad 的键值确实进了缓存，但每一步都被掩码压住，不会污染后续生成；左补也不影响位置认知，因为真实 token 拿到的仍然是它自己排位对应的那一行旋转角。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一页留给课后。这张表把每个组件的代码位置、在结构图里的位置、以及它引起的形状变化并排放着；你回去对着源码复习的时候，从这张表往回找就行。带走两句话：形状守恒加残差累加，让八层能稳定堆叠；Q、K、V 的三重身份，让 token 之间交换信息。这两句话跟着我们走了一整场——现在，黑箱已经打开了。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inimind-transformer-internal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inimind-transformer-internal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backdrop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smGrid">
            <a:fgClr>
              <a:schemeClr val="accent1">
                <a:alpha val="8000"/>
              </a:schemeClr>
            </a:fgClr>
            <a:bgClr>
              <a:schemeClr val="lt1">
                <a:alpha val="8000"/>
              </a:schemeClr>
            </a:bgClr>
          </a:pattFill>
          <a:ln>
            <a:noFill/>
          </a:ln>
        </p:spPr>
      </p:sp>
      <p:grpSp>
        <p:nvGrpSpPr>
          <p:cNvPr id="8" name="cover-hook"/>
          <p:cNvGrpSpPr/>
          <p:nvPr/>
        </p:nvGrpSpPr>
        <p:grpSpPr>
          <a:xfrm>
            <a:off x="2345284" y="1623060"/>
            <a:ext cx="7501433" cy="1752791"/>
            <a:chOff x="2345284" y="1623060"/>
            <a:chExt cx="7501433" cy="1752791"/>
          </a:xfrm>
        </p:grpSpPr>
        <p:sp>
          <p:nvSpPr>
            <p:cNvPr id="3" name="TextBox 3"/>
            <p:cNvSpPr txBox="1"/>
            <p:nvPr/>
          </p:nvSpPr>
          <p:spPr>
            <a:xfrm>
              <a:off x="2345284" y="1623060"/>
              <a:ext cx="7501433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(32, 340, 768)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2438400" y="2914650"/>
              <a:ext cx="7315200" cy="9525"/>
            </a:xfrm>
            <a:custGeom>
              <a:avLst/>
              <a:gdLst/>
              <a:ahLst/>
              <a:cxnLst/>
              <a:rect l="l" t="t" r="r" b="b"/>
              <a:pathLst>
                <a:path w="7315200" h="9525">
                  <a:moveTo>
                    <a:pt x="0" y="0"/>
                  </a:moveTo>
                  <a:lnTo>
                    <a:pt x="73152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438400" y="283845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9753600" y="283845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235425" y="3111818"/>
              <a:ext cx="37211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batch = 32　·　seq = 340　·　hidden = 768</a:t>
              </a:r>
            </a:p>
          </p:txBody>
        </p:sp>
      </p:grpSp>
      <p:grpSp>
        <p:nvGrpSpPr>
          <p:cNvPr id="12" name="cover-title"/>
          <p:cNvGrpSpPr/>
          <p:nvPr/>
        </p:nvGrpSpPr>
        <p:grpSpPr>
          <a:xfrm>
            <a:off x="593598" y="4136708"/>
            <a:ext cx="8030341" cy="1375409"/>
            <a:chOff x="593598" y="4136708"/>
            <a:chExt cx="8030341" cy="1375409"/>
          </a:xfrm>
        </p:grpSpPr>
        <p:sp>
          <p:nvSpPr>
            <p:cNvPr id="9" name="TextBox 9"/>
            <p:cNvSpPr txBox="1"/>
            <p:nvPr/>
          </p:nvSpPr>
          <p:spPr>
            <a:xfrm>
              <a:off x="593598" y="4136708"/>
              <a:ext cx="803034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打开黑箱：MiniMind 的 Transformer 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7408" y="4636770"/>
              <a:ext cx="42406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逐 token、逐形状、逐行代码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8170" y="5072062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形状不变，内容精炼</a:t>
              </a:r>
            </a:p>
          </p:txBody>
        </p:sp>
      </p:grpSp>
      <p:grpSp>
        <p:nvGrpSpPr>
          <p:cNvPr id="15" name="cover-meta"/>
          <p:cNvGrpSpPr/>
          <p:nvPr/>
        </p:nvGrpSpPr>
        <p:grpSpPr>
          <a:xfrm>
            <a:off x="5451577" y="5661660"/>
            <a:ext cx="6136919" cy="463296"/>
            <a:chOff x="5451577" y="5661660"/>
            <a:chExt cx="6136919" cy="463296"/>
          </a:xfrm>
        </p:grpSpPr>
        <p:sp>
          <p:nvSpPr>
            <p:cNvPr id="13" name="TextBox 13"/>
            <p:cNvSpPr txBox="1"/>
            <p:nvPr/>
          </p:nvSpPr>
          <p:spPr>
            <a:xfrm>
              <a:off x="8797747" y="5661660"/>
              <a:ext cx="27907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代码依据：model/model_minimind.py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51577" y="5890260"/>
              <a:ext cx="6136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hidden_size=768 · 8 层 · 8 个 Q 头 · 4 个 KV 头(GQA) · head_dim=96 · 词表 6400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5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backdrop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smGrid">
            <a:fgClr>
              <a:schemeClr val="accent1">
                <a:alpha val="8000"/>
              </a:schemeClr>
            </a:fgClr>
            <a:bgClr>
              <a:schemeClr val="lt1">
                <a:alpha val="8000"/>
              </a:schemeClr>
            </a:bgClr>
          </a:pattFill>
          <a:ln>
            <a:noFill/>
          </a:ln>
        </p:spPr>
      </p:sp>
      <p:grpSp>
        <p:nvGrpSpPr>
          <p:cNvPr id="5" name="page-header"/>
          <p:cNvGrpSpPr/>
          <p:nvPr/>
        </p:nvGrpSpPr>
        <p:grpSpPr>
          <a:xfrm>
            <a:off x="593598" y="650558"/>
            <a:ext cx="8205597" cy="937259"/>
            <a:chOff x="593598" y="650558"/>
            <a:chExt cx="8205597" cy="937259"/>
          </a:xfrm>
        </p:grpSpPr>
        <p:sp>
          <p:nvSpPr>
            <p:cNvPr id="3" name="TextBox 3"/>
            <p:cNvSpPr txBox="1"/>
            <p:nvPr/>
          </p:nvSpPr>
          <p:spPr>
            <a:xfrm>
              <a:off x="593598" y="650558"/>
              <a:ext cx="469658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一次前向传播的完整旅程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170" y="1147762"/>
              <a:ext cx="82010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数据像流水线一样经过五道工序，本讲只把第三道工序拆开。</a:t>
              </a:r>
            </a:p>
          </p:txBody>
        </p:sp>
      </p:grpSp>
      <p:grpSp>
        <p:nvGrpSpPr>
          <p:cNvPr id="12" name="pipeline-rail"/>
          <p:cNvGrpSpPr/>
          <p:nvPr/>
        </p:nvGrpSpPr>
        <p:grpSpPr>
          <a:xfrm>
            <a:off x="1171575" y="2019300"/>
            <a:ext cx="95250" cy="3067050"/>
            <a:chOff x="1171575" y="2019300"/>
            <a:chExt cx="95250" cy="3067050"/>
          </a:xfrm>
        </p:grpSpPr>
        <p:sp>
          <p:nvSpPr>
            <p:cNvPr id="6" name="Line 6"/>
            <p:cNvSpPr/>
            <p:nvPr/>
          </p:nvSpPr>
          <p:spPr>
            <a:xfrm>
              <a:off x="1219200" y="2066925"/>
              <a:ext cx="9525" cy="2971800"/>
            </a:xfrm>
            <a:custGeom>
              <a:avLst/>
              <a:gdLst/>
              <a:ahLst/>
              <a:cxnLst/>
              <a:rect l="l" t="t" r="r" b="b"/>
              <a:pathLst>
                <a:path w="9525" h="2971800">
                  <a:moveTo>
                    <a:pt x="0" y="0"/>
                  </a:moveTo>
                  <a:lnTo>
                    <a:pt x="0" y="2971800"/>
                  </a:lnTo>
                </a:path>
              </a:pathLst>
            </a:custGeom>
            <a:noFill/>
            <a:ln w="9525">
              <a:solidFill>
                <a:schemeClr val="accent1">
                  <a:alpha val="45000"/>
                </a:scheme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171575" y="2019300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171575" y="2762250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71575" y="350520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171575" y="4248150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171575" y="4991100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9" name="stage-tokenizer"/>
          <p:cNvGrpSpPr/>
          <p:nvPr/>
        </p:nvGrpSpPr>
        <p:grpSpPr>
          <a:xfrm>
            <a:off x="1619250" y="1771650"/>
            <a:ext cx="9429750" cy="723900"/>
            <a:chOff x="1619250" y="1771650"/>
            <a:chExt cx="9429750" cy="723900"/>
          </a:xfrm>
        </p:grpSpPr>
        <p:sp>
          <p:nvSpPr>
            <p:cNvPr id="13" name="Rectangle 13"/>
            <p:cNvSpPr/>
            <p:nvPr/>
          </p:nvSpPr>
          <p:spPr>
            <a:xfrm>
              <a:off x="1619250" y="1771650"/>
              <a:ext cx="9429750" cy="59055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800606" y="1824990"/>
              <a:ext cx="2385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Tokenizer Encoder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51076" y="1857375"/>
              <a:ext cx="10147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(32, 340)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02892" y="2102168"/>
              <a:ext cx="20673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文字 → 整数 id（查词典）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73896" y="2085975"/>
              <a:ext cx="17922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lm_dataset.py:49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6219825" y="2381250"/>
              <a:ext cx="228600" cy="114300"/>
            </a:xfrm>
            <a:prstGeom prst="downArrow">
              <a:avLst/>
            </a:prstGeom>
            <a:noFill/>
            <a:ln w="14288">
              <a:solidFill>
                <a:schemeClr val="accent1"/>
              </a:solidFill>
            </a:ln>
          </p:spPr>
        </p:sp>
      </p:grpSp>
      <p:grpSp>
        <p:nvGrpSpPr>
          <p:cNvPr id="26" name="stage-embedding"/>
          <p:cNvGrpSpPr/>
          <p:nvPr/>
        </p:nvGrpSpPr>
        <p:grpSpPr>
          <a:xfrm>
            <a:off x="1619250" y="2514600"/>
            <a:ext cx="9429750" cy="723900"/>
            <a:chOff x="1619250" y="2514600"/>
            <a:chExt cx="9429750" cy="723900"/>
          </a:xfrm>
        </p:grpSpPr>
        <p:sp>
          <p:nvSpPr>
            <p:cNvPr id="20" name="Rectangle 20"/>
            <p:cNvSpPr/>
            <p:nvPr/>
          </p:nvSpPr>
          <p:spPr>
            <a:xfrm>
              <a:off x="1619250" y="2514600"/>
              <a:ext cx="9429750" cy="59055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800606" y="2567940"/>
              <a:ext cx="21068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Input Embedding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96216" y="2600325"/>
              <a:ext cx="25696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(32,340) → (32,340,768)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02892" y="2845118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 id 查表换成一个 768 维向量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851326" y="2828925"/>
              <a:ext cx="10147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201 / 214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6219825" y="3124200"/>
              <a:ext cx="228600" cy="114300"/>
            </a:xfrm>
            <a:prstGeom prst="downArrow">
              <a:avLst/>
            </a:prstGeom>
            <a:noFill/>
            <a:ln w="14288">
              <a:solidFill>
                <a:schemeClr val="accent1"/>
              </a:solidFill>
            </a:ln>
          </p:spPr>
        </p:sp>
      </p:grpSp>
      <p:grpSp>
        <p:nvGrpSpPr>
          <p:cNvPr id="36" name="stage-transformer"/>
          <p:cNvGrpSpPr/>
          <p:nvPr/>
        </p:nvGrpSpPr>
        <p:grpSpPr>
          <a:xfrm>
            <a:off x="1619250" y="3257550"/>
            <a:ext cx="9429750" cy="723900"/>
            <a:chOff x="1619250" y="3257550"/>
            <a:chExt cx="9429750" cy="723900"/>
          </a:xfrm>
        </p:grpSpPr>
        <p:sp>
          <p:nvSpPr>
            <p:cNvPr id="27" name="Rectangle 27"/>
            <p:cNvSpPr/>
            <p:nvPr/>
          </p:nvSpPr>
          <p:spPr>
            <a:xfrm>
              <a:off x="1619250" y="3257550"/>
              <a:ext cx="9429750" cy="590550"/>
            </a:xfrm>
            <a:prstGeom prst="rect">
              <a:avLst/>
            </a:prstGeom>
            <a:solidFill>
              <a:schemeClr val="accent2">
                <a:alpha val="6000"/>
              </a:schemeClr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1619250" y="3257550"/>
              <a:ext cx="38100" cy="590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619250" y="3257550"/>
              <a:ext cx="9429750" cy="59055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800606" y="3310890"/>
              <a:ext cx="30546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8 × Transformer Layer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39050" y="33432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形状始终不变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124694" y="3359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本讲主角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02892" y="3588068"/>
              <a:ext cx="4529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注意力（交换信息）+ 前馈（加工知识）+ 残差 + 归一化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073450" y="3571875"/>
              <a:ext cx="792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178-194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6219825" y="3867150"/>
              <a:ext cx="228600" cy="114300"/>
            </a:xfrm>
            <a:prstGeom prst="downArrow">
              <a:avLst/>
            </a:prstGeom>
            <a:noFill/>
            <a:ln w="14288">
              <a:solidFill>
                <a:schemeClr val="accent1"/>
              </a:solidFill>
            </a:ln>
          </p:spPr>
        </p:sp>
      </p:grpSp>
      <p:grpSp>
        <p:nvGrpSpPr>
          <p:cNvPr id="43" name="stage-head"/>
          <p:cNvGrpSpPr/>
          <p:nvPr/>
        </p:nvGrpSpPr>
        <p:grpSpPr>
          <a:xfrm>
            <a:off x="1619250" y="4000500"/>
            <a:ext cx="9429750" cy="723900"/>
            <a:chOff x="1619250" y="4000500"/>
            <a:chExt cx="9429750" cy="723900"/>
          </a:xfrm>
        </p:grpSpPr>
        <p:sp>
          <p:nvSpPr>
            <p:cNvPr id="37" name="Rectangle 37"/>
            <p:cNvSpPr/>
            <p:nvPr/>
          </p:nvSpPr>
          <p:spPr>
            <a:xfrm>
              <a:off x="1619250" y="4000500"/>
              <a:ext cx="9429750" cy="59055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800606" y="4053840"/>
              <a:ext cx="4065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④ 最终 RMSNorm + Linear(lm_head)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740908" y="4086225"/>
              <a:ext cx="31249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(32,340,768) → (32,340,6400)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802892" y="433101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输出前最后一次归一化，把每个位置映射到词表打分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18588" y="43148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204 / 230 / 241 / 248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6219825" y="4610100"/>
              <a:ext cx="228600" cy="114300"/>
            </a:xfrm>
            <a:prstGeom prst="downArrow">
              <a:avLst/>
            </a:prstGeom>
            <a:noFill/>
            <a:ln w="14288">
              <a:solidFill>
                <a:schemeClr val="accent1"/>
              </a:solidFill>
            </a:ln>
          </p:spPr>
        </p:sp>
      </p:grpSp>
      <p:grpSp>
        <p:nvGrpSpPr>
          <p:cNvPr id="49" name="stage-softmax"/>
          <p:cNvGrpSpPr/>
          <p:nvPr/>
        </p:nvGrpSpPr>
        <p:grpSpPr>
          <a:xfrm>
            <a:off x="1619250" y="4743450"/>
            <a:ext cx="9429750" cy="607695"/>
            <a:chOff x="1619250" y="4743450"/>
            <a:chExt cx="9429750" cy="607695"/>
          </a:xfrm>
        </p:grpSpPr>
        <p:sp>
          <p:nvSpPr>
            <p:cNvPr id="44" name="Rectangle 44"/>
            <p:cNvSpPr/>
            <p:nvPr/>
          </p:nvSpPr>
          <p:spPr>
            <a:xfrm>
              <a:off x="1619250" y="4743450"/>
              <a:ext cx="9429750" cy="59055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800606" y="4796790"/>
              <a:ext cx="22349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⑤ SoftMax / 交叉熵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98462" y="4796790"/>
              <a:ext cx="19689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预测下一个 token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802892" y="5073968"/>
              <a:ext cx="51750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训练时融合在 cross_entropy 内；推理时显式 softmax 后采样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851326" y="5057775"/>
              <a:ext cx="10147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252 / 278</a:t>
              </a:r>
            </a:p>
          </p:txBody>
        </p:sp>
      </p:grpSp>
      <p:grpSp>
        <p:nvGrpSpPr>
          <p:cNvPr id="53" name="key-fact"/>
          <p:cNvGrpSpPr/>
          <p:nvPr/>
        </p:nvGrpSpPr>
        <p:grpSpPr>
          <a:xfrm>
            <a:off x="609600" y="5524500"/>
            <a:ext cx="10972800" cy="457200"/>
            <a:chOff x="609600" y="5524500"/>
            <a:chExt cx="10972800" cy="457200"/>
          </a:xfrm>
        </p:grpSpPr>
        <p:sp>
          <p:nvSpPr>
            <p:cNvPr id="50" name="Rectangle 50"/>
            <p:cNvSpPr/>
            <p:nvPr/>
          </p:nvSpPr>
          <p:spPr>
            <a:xfrm>
              <a:off x="609600" y="5524500"/>
              <a:ext cx="10972800" cy="457200"/>
            </a:xfrm>
            <a:prstGeom prst="rect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09600" y="5524500"/>
              <a:ext cx="28575" cy="4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29056" y="5615940"/>
              <a:ext cx="91863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核心事实：8 层 Transformer 进出都是 </a:t>
              </a:r>
              <a:r>
                <a:rPr lang="zh-CN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(32, 340, 768)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形状不变，变的是内容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6" name="page-footer"/>
          <p:cNvGrpSpPr/>
          <p:nvPr/>
        </p:nvGrpSpPr>
        <p:grpSpPr>
          <a:xfrm>
            <a:off x="603504" y="6042660"/>
            <a:ext cx="10984992" cy="234696"/>
            <a:chOff x="603504" y="6042660"/>
            <a:chExt cx="10984992" cy="234696"/>
          </a:xfrm>
        </p:grpSpPr>
        <p:sp>
          <p:nvSpPr>
            <p:cNvPr id="54" name="TextBox 54"/>
            <p:cNvSpPr txBox="1"/>
            <p:nvPr/>
          </p:nvSpPr>
          <p:spPr>
            <a:xfrm>
              <a:off x="603504" y="60426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一次前向传播的完整旅程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035132" y="60426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5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40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15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backdrop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smGrid">
            <a:fgClr>
              <a:schemeClr val="accent1">
                <a:alpha val="8000"/>
              </a:schemeClr>
            </a:fgClr>
            <a:bgClr>
              <a:schemeClr val="lt1">
                <a:alpha val="8000"/>
              </a:schemeClr>
            </a:bgClr>
          </a:pattFill>
          <a:ln>
            <a:noFill/>
          </a:ln>
        </p:spPr>
      </p:sp>
      <p:grpSp>
        <p:nvGrpSpPr>
          <p:cNvPr id="5" name="page-header"/>
          <p:cNvGrpSpPr/>
          <p:nvPr/>
        </p:nvGrpSpPr>
        <p:grpSpPr>
          <a:xfrm>
            <a:off x="593598" y="650558"/>
            <a:ext cx="6337554" cy="937259"/>
            <a:chOff x="593598" y="650558"/>
            <a:chExt cx="6337554" cy="937259"/>
          </a:xfrm>
        </p:grpSpPr>
        <p:sp>
          <p:nvSpPr>
            <p:cNvPr id="3" name="TextBox 3"/>
            <p:cNvSpPr txBox="1"/>
            <p:nvPr/>
          </p:nvSpPr>
          <p:spPr>
            <a:xfrm>
              <a:off x="593598" y="650558"/>
              <a:ext cx="619031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入口：一次查表，把 id 变成向量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170" y="1147762"/>
              <a:ext cx="63329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Embedding 是一张 6400 × 768 的可学习表格。</a:t>
              </a:r>
            </a:p>
          </p:txBody>
        </p:sp>
      </p:grpSp>
      <p:grpSp>
        <p:nvGrpSpPr>
          <p:cNvPr id="9" name="lookup-input"/>
          <p:cNvGrpSpPr/>
          <p:nvPr/>
        </p:nvGrpSpPr>
        <p:grpSpPr>
          <a:xfrm>
            <a:off x="602742" y="2768918"/>
            <a:ext cx="1149858" cy="717232"/>
            <a:chOff x="602742" y="2768918"/>
            <a:chExt cx="1149858" cy="717232"/>
          </a:xfrm>
        </p:grpSpPr>
        <p:sp>
          <p:nvSpPr>
            <p:cNvPr id="6" name="TextBox 6"/>
            <p:cNvSpPr txBox="1"/>
            <p:nvPr/>
          </p:nvSpPr>
          <p:spPr>
            <a:xfrm>
              <a:off x="602742" y="2768918"/>
              <a:ext cx="76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要查的 id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2990850"/>
              <a:ext cx="1143000" cy="4953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5408" y="3120390"/>
              <a:ext cx="5513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2456</a:t>
              </a:r>
            </a:p>
          </p:txBody>
        </p:sp>
      </p:grpSp>
      <p:grpSp>
        <p:nvGrpSpPr>
          <p:cNvPr id="36" name="lookup-table"/>
          <p:cNvGrpSpPr/>
          <p:nvPr/>
        </p:nvGrpSpPr>
        <p:grpSpPr>
          <a:xfrm>
            <a:off x="1744980" y="1724025"/>
            <a:ext cx="5322570" cy="3328226"/>
            <a:chOff x="1744980" y="1724025"/>
            <a:chExt cx="5322570" cy="3328226"/>
          </a:xfrm>
        </p:grpSpPr>
        <p:sp>
          <p:nvSpPr>
            <p:cNvPr id="10" name="TextBox 10"/>
            <p:cNvSpPr txBox="1"/>
            <p:nvPr/>
          </p:nvSpPr>
          <p:spPr>
            <a:xfrm>
              <a:off x="1744980" y="1724025"/>
              <a:ext cx="36530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nn.Embedding(6400, 768)　# 201 行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752600" y="3238500"/>
              <a:ext cx="533400" cy="1"/>
            </a:xfrm>
            <a:prstGeom prst="line">
              <a:avLst/>
            </a:prstGeom>
            <a:noFill/>
            <a:ln w="14288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2" name="Line 12"/>
            <p:cNvSpPr/>
            <p:nvPr/>
          </p:nvSpPr>
          <p:spPr>
            <a:xfrm>
              <a:off x="6534150" y="3238500"/>
              <a:ext cx="533400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343150" y="2000250"/>
              <a:ext cx="4191000" cy="24765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2343150" y="24955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2343150" y="29908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2343150" y="34861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2343150" y="39814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3581400" y="200025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9525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105400" y="200025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9525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343150" y="2990850"/>
              <a:ext cx="4191000" cy="495300"/>
            </a:xfrm>
            <a:prstGeom prst="rect">
              <a:avLst/>
            </a:prstGeom>
            <a:solidFill>
              <a:schemeClr val="accent2">
                <a:alpha val="10000"/>
              </a:schemeClr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343150" y="2990850"/>
              <a:ext cx="28575" cy="495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732532" y="216217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2454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32532" y="265747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2455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32532" y="315277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2456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32532" y="364807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2457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32532" y="414337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2458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86564" y="21783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09505" y="3168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从第 2456 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73068" y="33975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直接抄出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286564" y="41595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772464" y="22926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554380" y="3168968"/>
              <a:ext cx="54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768 列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318122" y="339756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2000 … 6400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72464" y="41595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45742" y="4540568"/>
              <a:ext cx="406850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6400 行 × 768 列 —— 每一行是一个 token 的语义向量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输入 id，直接抄出对应行。</a:t>
              </a:r>
            </a:p>
          </p:txBody>
        </p:sp>
      </p:grpSp>
      <p:grpSp>
        <p:nvGrpSpPr>
          <p:cNvPr id="47" name="lookup-output"/>
          <p:cNvGrpSpPr/>
          <p:nvPr/>
        </p:nvGrpSpPr>
        <p:grpSpPr>
          <a:xfrm>
            <a:off x="7117080" y="2768918"/>
            <a:ext cx="4198620" cy="1096327"/>
            <a:chOff x="7117080" y="2768918"/>
            <a:chExt cx="4198620" cy="1096327"/>
          </a:xfrm>
        </p:grpSpPr>
        <p:sp>
          <p:nvSpPr>
            <p:cNvPr id="37" name="TextBox 37"/>
            <p:cNvSpPr txBox="1"/>
            <p:nvPr/>
          </p:nvSpPr>
          <p:spPr>
            <a:xfrm>
              <a:off x="7117842" y="2768918"/>
              <a:ext cx="22672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该 id 的语义向量（768 维）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124700" y="2990850"/>
              <a:ext cx="4191000" cy="4953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7648575" y="299085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8172450" y="299085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8696325" y="299085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9220200" y="299085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9744075" y="299085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10267950" y="299085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10791825" y="299085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117080" y="3571875"/>
              <a:ext cx="15701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(32, 340, 768)</a:t>
              </a:r>
            </a:p>
          </p:txBody>
        </p:sp>
      </p:grpSp>
      <p:grpSp>
        <p:nvGrpSpPr>
          <p:cNvPr id="50" name="note-lookup"/>
          <p:cNvGrpSpPr/>
          <p:nvPr/>
        </p:nvGrpSpPr>
        <p:grpSpPr>
          <a:xfrm>
            <a:off x="600456" y="5196840"/>
            <a:ext cx="2819210" cy="807911"/>
            <a:chOff x="600456" y="5196840"/>
            <a:chExt cx="2819210" cy="807911"/>
          </a:xfrm>
        </p:grpSpPr>
        <p:sp>
          <p:nvSpPr>
            <p:cNvPr id="48" name="TextBox 48"/>
            <p:cNvSpPr txBox="1"/>
            <p:nvPr/>
          </p:nvSpPr>
          <p:spPr>
            <a:xfrm>
              <a:off x="600456" y="51968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不是运算，是查表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02742" y="5493068"/>
              <a:ext cx="281692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Embedding 是「取一行」，每个位置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独立查表；Linear 是全维加权混合。</a:t>
              </a:r>
            </a:p>
          </p:txBody>
        </p:sp>
      </p:grpSp>
      <p:grpSp>
        <p:nvGrpSpPr>
          <p:cNvPr id="53" name="note-tying"/>
          <p:cNvGrpSpPr/>
          <p:nvPr/>
        </p:nvGrpSpPr>
        <p:grpSpPr>
          <a:xfrm>
            <a:off x="4343781" y="5196840"/>
            <a:ext cx="2922080" cy="807911"/>
            <a:chOff x="4343781" y="5196840"/>
            <a:chExt cx="2922080" cy="807911"/>
          </a:xfrm>
        </p:grpSpPr>
        <p:sp>
          <p:nvSpPr>
            <p:cNvPr id="51" name="TextBox 51"/>
            <p:cNvSpPr txBox="1"/>
            <p:nvPr/>
          </p:nvSpPr>
          <p:spPr>
            <a:xfrm>
              <a:off x="4343781" y="5196840"/>
              <a:ext cx="25292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权重绑定省 490 万参数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346067" y="5493068"/>
              <a:ext cx="291979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embedding 与 lm_head 共用同一张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矩阵（242 行），省下约 4.9M 参数。</a:t>
              </a:r>
            </a:p>
          </p:txBody>
        </p:sp>
      </p:grpSp>
      <p:grpSp>
        <p:nvGrpSpPr>
          <p:cNvPr id="56" name="note-limits"/>
          <p:cNvGrpSpPr/>
          <p:nvPr/>
        </p:nvGrpSpPr>
        <p:grpSpPr>
          <a:xfrm>
            <a:off x="8087106" y="5196840"/>
            <a:ext cx="2759202" cy="807911"/>
            <a:chOff x="8087106" y="5196840"/>
            <a:chExt cx="2759202" cy="807911"/>
          </a:xfrm>
        </p:grpSpPr>
        <p:sp>
          <p:nvSpPr>
            <p:cNvPr id="54" name="TextBox 54"/>
            <p:cNvSpPr txBox="1"/>
            <p:nvPr/>
          </p:nvSpPr>
          <p:spPr>
            <a:xfrm>
              <a:off x="8087106" y="51968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此刻向量还很「笨」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089392" y="5493068"/>
              <a:ext cx="27569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位置 5 与位置 300 的「好」查出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一模一样；位置信息靠注意力层补。</a:t>
              </a:r>
            </a:p>
          </p:txBody>
        </p:sp>
      </p:grpSp>
      <p:grpSp>
        <p:nvGrpSpPr>
          <p:cNvPr id="59" name="page-footer"/>
          <p:cNvGrpSpPr/>
          <p:nvPr/>
        </p:nvGrpSpPr>
        <p:grpSpPr>
          <a:xfrm>
            <a:off x="603504" y="6042660"/>
            <a:ext cx="10984992" cy="234696"/>
            <a:chOff x="603504" y="6042660"/>
            <a:chExt cx="10984992" cy="234696"/>
          </a:xfrm>
        </p:grpSpPr>
        <p:sp>
          <p:nvSpPr>
            <p:cNvPr id="57" name="TextBox 57"/>
            <p:cNvSpPr txBox="1"/>
            <p:nvPr/>
          </p:nvSpPr>
          <p:spPr>
            <a:xfrm>
              <a:off x="603504" y="6042660"/>
              <a:ext cx="16652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入口：Embedding 查表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035132" y="60426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5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40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backdrop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smGrid">
            <a:fgClr>
              <a:schemeClr val="accent1">
                <a:alpha val="8000"/>
              </a:schemeClr>
            </a:fgClr>
            <a:bgClr>
              <a:schemeClr val="lt1">
                <a:alpha val="8000"/>
              </a:schemeClr>
            </a:bgClr>
          </a:pattFill>
          <a:ln>
            <a:noFill/>
          </a:ln>
        </p:spPr>
      </p:sp>
      <p:grpSp>
        <p:nvGrpSpPr>
          <p:cNvPr id="5" name="page-header"/>
          <p:cNvGrpSpPr/>
          <p:nvPr/>
        </p:nvGrpSpPr>
        <p:grpSpPr>
          <a:xfrm>
            <a:off x="593598" y="650558"/>
            <a:ext cx="10234994" cy="937259"/>
            <a:chOff x="593598" y="650558"/>
            <a:chExt cx="10234994" cy="937259"/>
          </a:xfrm>
        </p:grpSpPr>
        <p:sp>
          <p:nvSpPr>
            <p:cNvPr id="3" name="TextBox 3"/>
            <p:cNvSpPr txBox="1"/>
            <p:nvPr/>
          </p:nvSpPr>
          <p:spPr>
            <a:xfrm>
              <a:off x="593598" y="650558"/>
              <a:ext cx="300037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注意力在算什么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170" y="1147762"/>
              <a:ext cx="1023042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让每个 token 环顾全句，从相关的 token 那里「抄」一点信息，更新表示。</a:t>
              </a:r>
            </a:p>
          </p:txBody>
        </p:sp>
      </p:grpSp>
      <p:grpSp>
        <p:nvGrpSpPr>
          <p:cNvPr id="9" name="analogy-quote"/>
          <p:cNvGrpSpPr/>
          <p:nvPr/>
        </p:nvGrpSpPr>
        <p:grpSpPr>
          <a:xfrm>
            <a:off x="609600" y="2114550"/>
            <a:ext cx="9788500" cy="824484"/>
            <a:chOff x="609600" y="2114550"/>
            <a:chExt cx="9788500" cy="824484"/>
          </a:xfrm>
        </p:grpSpPr>
        <p:sp>
          <p:nvSpPr>
            <p:cNvPr id="6" name="Rectangle 6"/>
            <p:cNvSpPr/>
            <p:nvPr/>
          </p:nvSpPr>
          <p:spPr>
            <a:xfrm>
              <a:off x="609600" y="2114550"/>
              <a:ext cx="38100" cy="800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02970" y="2176462"/>
              <a:ext cx="36576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小明养了一只</a:t>
              </a: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猫</a:t>
              </a: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</a:t>
              </a: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它</a:t>
              </a: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很可爱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5256" y="2586990"/>
              <a:ext cx="94928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读到「它」时回看上文，发现它指的是「猫」——把「猫」的信息合并进对「它」的理解。</a:t>
              </a:r>
            </a:p>
          </p:txBody>
        </p:sp>
      </p:grpSp>
      <p:grpSp>
        <p:nvGrpSpPr>
          <p:cNvPr id="16" name="step-query"/>
          <p:cNvGrpSpPr/>
          <p:nvPr/>
        </p:nvGrpSpPr>
        <p:grpSpPr>
          <a:xfrm>
            <a:off x="602742" y="3390900"/>
            <a:ext cx="2645283" cy="1547051"/>
            <a:chOff x="602742" y="3390900"/>
            <a:chExt cx="2645283" cy="1547051"/>
          </a:xfrm>
        </p:grpSpPr>
        <p:sp>
          <p:nvSpPr>
            <p:cNvPr id="10" name="Line 10"/>
            <p:cNvSpPr/>
            <p:nvPr/>
          </p:nvSpPr>
          <p:spPr>
            <a:xfrm>
              <a:off x="3238500" y="3390900"/>
              <a:ext cx="9525" cy="1524000"/>
            </a:xfrm>
            <a:custGeom>
              <a:avLst/>
              <a:gdLst/>
              <a:ahLst/>
              <a:cxnLst/>
              <a:rect l="l" t="t" r="r" b="b"/>
              <a:pathLst>
                <a:path w="9525"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619125" y="3400425"/>
              <a:ext cx="285750" cy="285750"/>
            </a:xfrm>
            <a:prstGeom prst="ellipse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05164" y="34642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00506" y="3425190"/>
              <a:ext cx="7851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 Q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2742" y="38166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我</a:t>
              </a:r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想找什么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（提问）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2742" y="4426268"/>
              <a:ext cx="144532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当前 token 发出的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「查询向量」</a:t>
              </a:r>
            </a:p>
          </p:txBody>
        </p:sp>
      </p:grpSp>
      <p:grpSp>
        <p:nvGrpSpPr>
          <p:cNvPr id="23" name="step-key"/>
          <p:cNvGrpSpPr/>
          <p:nvPr/>
        </p:nvGrpSpPr>
        <p:grpSpPr>
          <a:xfrm>
            <a:off x="3393567" y="3390900"/>
            <a:ext cx="2645283" cy="1547051"/>
            <a:chOff x="3393567" y="3390900"/>
            <a:chExt cx="2645283" cy="1547051"/>
          </a:xfrm>
        </p:grpSpPr>
        <p:sp>
          <p:nvSpPr>
            <p:cNvPr id="17" name="Line 17"/>
            <p:cNvSpPr/>
            <p:nvPr/>
          </p:nvSpPr>
          <p:spPr>
            <a:xfrm>
              <a:off x="6029325" y="3390900"/>
              <a:ext cx="9525" cy="1524000"/>
            </a:xfrm>
            <a:custGeom>
              <a:avLst/>
              <a:gdLst/>
              <a:ahLst/>
              <a:cxnLst/>
              <a:rect l="l" t="t" r="r" b="b"/>
              <a:pathLst>
                <a:path w="9525"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3409950" y="3400425"/>
              <a:ext cx="285750" cy="285750"/>
            </a:xfrm>
            <a:prstGeom prst="ellipse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495989" y="34642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91331" y="3425190"/>
              <a:ext cx="7314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 K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93567" y="38166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每个词</a:t>
              </a:r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能提供什么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（标签）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93567" y="4426268"/>
              <a:ext cx="121386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 token 的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「被查询向量」</a:t>
              </a:r>
            </a:p>
          </p:txBody>
        </p:sp>
      </p:grpSp>
      <p:grpSp>
        <p:nvGrpSpPr>
          <p:cNvPr id="30" name="step-score"/>
          <p:cNvGrpSpPr/>
          <p:nvPr/>
        </p:nvGrpSpPr>
        <p:grpSpPr>
          <a:xfrm>
            <a:off x="6184392" y="3390900"/>
            <a:ext cx="2645283" cy="1524000"/>
            <a:chOff x="6184392" y="3390900"/>
            <a:chExt cx="2645283" cy="1524000"/>
          </a:xfrm>
        </p:grpSpPr>
        <p:sp>
          <p:nvSpPr>
            <p:cNvPr id="24" name="Line 24"/>
            <p:cNvSpPr/>
            <p:nvPr/>
          </p:nvSpPr>
          <p:spPr>
            <a:xfrm>
              <a:off x="8820150" y="3390900"/>
              <a:ext cx="9525" cy="1524000"/>
            </a:xfrm>
            <a:custGeom>
              <a:avLst/>
              <a:gdLst/>
              <a:ahLst/>
              <a:cxnLst/>
              <a:rect l="l" t="t" r="r" b="b"/>
              <a:pathLst>
                <a:path w="9525"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6200775" y="3400425"/>
              <a:ext cx="285750" cy="285750"/>
            </a:xfrm>
            <a:prstGeom prst="ellipse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86814" y="34642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82156" y="3425190"/>
              <a:ext cx="10809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Q·K 打分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84392" y="38166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提问和标签</a:t>
              </a:r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对不对得上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84392" y="44262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两两相似度分数</a:t>
              </a:r>
            </a:p>
          </p:txBody>
        </p:sp>
      </p:grpSp>
      <p:grpSp>
        <p:nvGrpSpPr>
          <p:cNvPr id="36" name="step-value"/>
          <p:cNvGrpSpPr/>
          <p:nvPr/>
        </p:nvGrpSpPr>
        <p:grpSpPr>
          <a:xfrm>
            <a:off x="8975217" y="3400425"/>
            <a:ext cx="1613825" cy="1289876"/>
            <a:chOff x="8975217" y="3400425"/>
            <a:chExt cx="1613825" cy="1289876"/>
          </a:xfrm>
        </p:grpSpPr>
        <p:sp>
          <p:nvSpPr>
            <p:cNvPr id="31" name="Ellipse 31"/>
            <p:cNvSpPr/>
            <p:nvPr/>
          </p:nvSpPr>
          <p:spPr>
            <a:xfrm>
              <a:off x="8991600" y="3400425"/>
              <a:ext cx="285750" cy="285750"/>
            </a:xfrm>
            <a:prstGeom prst="ellipse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077639" y="34642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72981" y="3425190"/>
              <a:ext cx="12160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加权求和 V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975217" y="3816668"/>
              <a:ext cx="155676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把对得上的词的</a:t>
              </a:r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内容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按相关度抄过来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975217" y="44262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更新自己的表示</a:t>
              </a:r>
            </a:p>
          </p:txBody>
        </p:sp>
      </p:grpSp>
      <p:grpSp>
        <p:nvGrpSpPr>
          <p:cNvPr id="38" name="qkv-note"/>
          <p:cNvGrpSpPr/>
          <p:nvPr/>
        </p:nvGrpSpPr>
        <p:grpSpPr>
          <a:xfrm>
            <a:off x="602742" y="5283518"/>
            <a:ext cx="8582170" cy="264033"/>
            <a:chOff x="602742" y="5283518"/>
            <a:chExt cx="8582170" cy="264033"/>
          </a:xfrm>
        </p:grpSpPr>
        <p:sp>
          <p:nvSpPr>
            <p:cNvPr id="37" name="TextBox 37"/>
            <p:cNvSpPr txBox="1"/>
            <p:nvPr/>
          </p:nvSpPr>
          <p:spPr>
            <a:xfrm>
              <a:off x="602742" y="5283518"/>
              <a:ext cx="85821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Q（Query）、K（Key）、V（Value）都是同一个输入向量经过三个不同线性层变换出来的「三重身份」。</a:t>
              </a:r>
            </a:p>
          </p:txBody>
        </p:sp>
      </p:grpSp>
      <p:grpSp>
        <p:nvGrpSpPr>
          <p:cNvPr id="41" name="page-footer"/>
          <p:cNvGrpSpPr/>
          <p:nvPr/>
        </p:nvGrpSpPr>
        <p:grpSpPr>
          <a:xfrm>
            <a:off x="603504" y="6042660"/>
            <a:ext cx="10984992" cy="234696"/>
            <a:chOff x="603504" y="6042660"/>
            <a:chExt cx="10984992" cy="234696"/>
          </a:xfrm>
        </p:grpSpPr>
        <p:sp>
          <p:nvSpPr>
            <p:cNvPr id="39" name="TextBox 39"/>
            <p:cNvSpPr txBox="1"/>
            <p:nvPr/>
          </p:nvSpPr>
          <p:spPr>
            <a:xfrm>
              <a:off x="603504" y="60426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注意力在算什么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035132" y="60426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5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40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backdrop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smGrid">
            <a:fgClr>
              <a:schemeClr val="accent1">
                <a:alpha val="8000"/>
              </a:schemeClr>
            </a:fgClr>
            <a:bgClr>
              <a:schemeClr val="lt1">
                <a:alpha val="8000"/>
              </a:schemeClr>
            </a:bgClr>
          </a:pattFill>
          <a:ln>
            <a:noFill/>
          </a:ln>
        </p:spPr>
      </p:sp>
      <p:grpSp>
        <p:nvGrpSpPr>
          <p:cNvPr id="5" name="page-header"/>
          <p:cNvGrpSpPr/>
          <p:nvPr/>
        </p:nvGrpSpPr>
        <p:grpSpPr>
          <a:xfrm>
            <a:off x="593598" y="650558"/>
            <a:ext cx="6980232" cy="937259"/>
            <a:chOff x="593598" y="650558"/>
            <a:chExt cx="6980232" cy="937259"/>
          </a:xfrm>
        </p:grpSpPr>
        <p:sp>
          <p:nvSpPr>
            <p:cNvPr id="3" name="TextBox 3"/>
            <p:cNvSpPr txBox="1"/>
            <p:nvPr/>
          </p:nvSpPr>
          <p:spPr>
            <a:xfrm>
              <a:off x="593598" y="650558"/>
              <a:ext cx="698023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 Q、K、V：一次投影，三重身份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170" y="1147762"/>
              <a:ext cx="674898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三个 Linear 把同一条 768 维主干分成 Q、K、V。</a:t>
              </a:r>
            </a:p>
          </p:txBody>
        </p:sp>
      </p:grpSp>
      <p:grpSp>
        <p:nvGrpSpPr>
          <p:cNvPr id="40" name="qkv-matrix"/>
          <p:cNvGrpSpPr/>
          <p:nvPr/>
        </p:nvGrpSpPr>
        <p:grpSpPr>
          <a:xfrm>
            <a:off x="968035" y="2148840"/>
            <a:ext cx="10576265" cy="2598611"/>
            <a:chOff x="968035" y="2148840"/>
            <a:chExt cx="10576265" cy="2598611"/>
          </a:xfrm>
        </p:grpSpPr>
        <p:sp>
          <p:nvSpPr>
            <p:cNvPr id="6" name="TextBox 6"/>
            <p:cNvSpPr txBox="1"/>
            <p:nvPr/>
          </p:nvSpPr>
          <p:spPr>
            <a:xfrm>
              <a:off x="2366959" y="2148840"/>
              <a:ext cx="10953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① 投影 </a:t>
              </a:r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113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643548" y="2148840"/>
              <a:ext cx="14952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② 切头 </a:t>
              </a:r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114-116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002165" y="2148840"/>
              <a:ext cx="17309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③ QK-Norm </a:t>
              </a:r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117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740807" y="2148840"/>
              <a:ext cx="12066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④ RoPE </a:t>
              </a:r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119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3043" y="2682240"/>
              <a:ext cx="219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68035" y="2959418"/>
              <a:ext cx="349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 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9927" y="34442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8035" y="3721418"/>
              <a:ext cx="349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 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9927" y="42062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8035" y="4483418"/>
              <a:ext cx="349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 头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714500" y="2552700"/>
              <a:ext cx="2400300" cy="6096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191000" y="2552700"/>
              <a:ext cx="2400300" cy="6096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667500" y="2552700"/>
              <a:ext cx="2400300" cy="60960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9144000" y="2552700"/>
              <a:ext cx="2400300" cy="60960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240661" y="2771775"/>
              <a:ext cx="13479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(32,340,768)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61630" y="2771775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(32,340,8,96)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57135" y="27717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归一化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134600" y="27717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旋转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714500" y="3314700"/>
              <a:ext cx="2400300" cy="6096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191000" y="3314700"/>
              <a:ext cx="2400300" cy="6096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667500" y="3314700"/>
              <a:ext cx="2400300" cy="60960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9144000" y="3314700"/>
              <a:ext cx="2400300" cy="60960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240661" y="3533775"/>
              <a:ext cx="13479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(32,340,384)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61630" y="3533775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(32,340,4,96)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57135" y="35337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归一化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134600" y="35337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旋转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714500" y="4076700"/>
              <a:ext cx="2400300" cy="6096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4191000" y="4076700"/>
              <a:ext cx="2400300" cy="6096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67500" y="4076700"/>
              <a:ext cx="2400300" cy="609600"/>
            </a:xfrm>
            <a:prstGeom prst="rect">
              <a:avLst/>
            </a:prstGeom>
            <a:noFill/>
            <a:ln w="9525">
              <a:solidFill>
                <a:srgbClr val="94A9C2"/>
              </a:solidFill>
              <a:custDash>
                <a:ds d="600000" sp="400000"/>
              </a:custDash>
            </a:ln>
          </p:spPr>
        </p:sp>
        <p:sp>
          <p:nvSpPr>
            <p:cNvPr id="35" name="Rectangle 35"/>
            <p:cNvSpPr/>
            <p:nvPr/>
          </p:nvSpPr>
          <p:spPr>
            <a:xfrm>
              <a:off x="9144000" y="4076700"/>
              <a:ext cx="2400300" cy="609600"/>
            </a:xfrm>
            <a:prstGeom prst="rect">
              <a:avLst/>
            </a:prstGeom>
            <a:noFill/>
            <a:ln w="9525">
              <a:solidFill>
                <a:srgbClr val="94A9C2"/>
              </a:solidFill>
              <a:custDash>
                <a:ds d="600000" sp="400000"/>
              </a:custDash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240661" y="4295775"/>
              <a:ext cx="13479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(32,340,384)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61630" y="4295775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(32,340,4,96)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57135" y="42957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不参与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33635" y="42957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不旋转</a:t>
              </a:r>
            </a:p>
          </p:txBody>
        </p:sp>
      </p:grpSp>
      <p:grpSp>
        <p:nvGrpSpPr>
          <p:cNvPr id="43" name="qk-rope-note"/>
          <p:cNvGrpSpPr/>
          <p:nvPr/>
        </p:nvGrpSpPr>
        <p:grpSpPr>
          <a:xfrm>
            <a:off x="602742" y="4902518"/>
            <a:ext cx="10824410" cy="473583"/>
            <a:chOff x="602742" y="4902518"/>
            <a:chExt cx="10824410" cy="473583"/>
          </a:xfrm>
        </p:grpSpPr>
        <p:sp>
          <p:nvSpPr>
            <p:cNvPr id="41" name="TextBox 41"/>
            <p:cNvSpPr txBox="1"/>
            <p:nvPr/>
          </p:nvSpPr>
          <p:spPr>
            <a:xfrm>
              <a:off x="602742" y="4902518"/>
              <a:ext cx="108244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QK-Norm（104-105 定义 / 117 执行）：对 Q、K 各做一次 RMSNorm，稳住打分的数值范围，防止 softmax 饱和；V 不做 Norm。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2742" y="5112068"/>
              <a:ext cx="99429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④ RoPE（62-84 / 119）：把 Q、K 在二维平面上旋转一个与位置成正比的角度，旋转后点积自然反映相对距离；V 不旋转。</a:t>
              </a:r>
            </a:p>
          </p:txBody>
        </p:sp>
      </p:grpSp>
      <p:grpSp>
        <p:nvGrpSpPr>
          <p:cNvPr id="50" name="pitfall-note"/>
          <p:cNvGrpSpPr/>
          <p:nvPr/>
        </p:nvGrpSpPr>
        <p:grpSpPr>
          <a:xfrm>
            <a:off x="633919" y="5520281"/>
            <a:ext cx="10043901" cy="503520"/>
            <a:chOff x="633919" y="5520281"/>
            <a:chExt cx="10043901" cy="503520"/>
          </a:xfrm>
        </p:grpSpPr>
        <p:grpSp>
          <p:nvGrpSpPr>
            <p:cNvPr id="47" name="Group 47"/>
            <p:cNvGrpSpPr/>
            <p:nvPr/>
          </p:nvGrpSpPr>
          <p:grpSpPr>
            <a:xfrm>
              <a:off x="633919" y="5520281"/>
              <a:ext cx="256151" cy="220068"/>
              <a:chOff x="633919" y="5520281"/>
              <a:chExt cx="256151" cy="220068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62000" y="560070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33919" y="5520281"/>
                <a:ext cx="256151" cy="220068"/>
              </a:xfrm>
              <a:custGeom>
                <a:avLst/>
                <a:gdLst/>
                <a:ahLst/>
                <a:cxnLst/>
                <a:rect l="l" t="t" r="r" b="b"/>
                <a:pathLst>
                  <a:path w="256151" h="220068">
                    <a:moveTo>
                      <a:pt x="107291" y="11725"/>
                    </a:moveTo>
                    <a:lnTo>
                      <a:pt x="4345" y="183606"/>
                    </a:lnTo>
                    <a:cubicBezTo>
                      <a:pt x="26" y="191085"/>
                      <a:pt x="0" y="200293"/>
                      <a:pt x="4276" y="207796"/>
                    </a:cubicBezTo>
                    <a:cubicBezTo>
                      <a:pt x="8551" y="215299"/>
                      <a:pt x="16487" y="219971"/>
                      <a:pt x="25122" y="220068"/>
                    </a:cubicBezTo>
                    <a:lnTo>
                      <a:pt x="231039" y="220068"/>
                    </a:lnTo>
                    <a:cubicBezTo>
                      <a:pt x="239671" y="219968"/>
                      <a:pt x="247602" y="215299"/>
                      <a:pt x="251877" y="207800"/>
                    </a:cubicBezTo>
                    <a:cubicBezTo>
                      <a:pt x="256151" y="200300"/>
                      <a:pt x="256128" y="191097"/>
                      <a:pt x="251816" y="183619"/>
                    </a:cubicBezTo>
                    <a:lnTo>
                      <a:pt x="148870" y="11712"/>
                    </a:lnTo>
                    <a:cubicBezTo>
                      <a:pt x="144465" y="4441"/>
                      <a:pt x="136582" y="0"/>
                      <a:pt x="128081" y="0"/>
                    </a:cubicBezTo>
                    <a:cubicBezTo>
                      <a:pt x="119579" y="0"/>
                      <a:pt x="111696" y="4441"/>
                      <a:pt x="107291" y="11712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62000" y="568959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21842" y="5531168"/>
              <a:ext cx="7401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易错点：V' 头顶的 Ⓡ 不是 RoPE，而是 repeat_kv 复制（见 P07）——119 行只旋转 Q、K。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21842" y="5759768"/>
              <a:ext cx="96559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RoPE 直觉：第 5 个词转 5 格、第 300 个词转 300 格；cos/sin 表初始化时预计算（205-207 行 buffer，不占参数）。</a:t>
              </a:r>
            </a:p>
          </p:txBody>
        </p:sp>
      </p:grpSp>
      <p:grpSp>
        <p:nvGrpSpPr>
          <p:cNvPr id="53" name="page-footer"/>
          <p:cNvGrpSpPr/>
          <p:nvPr/>
        </p:nvGrpSpPr>
        <p:grpSpPr>
          <a:xfrm>
            <a:off x="603504" y="6061710"/>
            <a:ext cx="10984992" cy="234696"/>
            <a:chOff x="603504" y="6061710"/>
            <a:chExt cx="10984992" cy="234696"/>
          </a:xfrm>
        </p:grpSpPr>
        <p:sp>
          <p:nvSpPr>
            <p:cNvPr id="51" name="TextBox 51"/>
            <p:cNvSpPr txBox="1"/>
            <p:nvPr/>
          </p:nvSpPr>
          <p:spPr>
            <a:xfrm>
              <a:off x="603504" y="6061710"/>
              <a:ext cx="10253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生成 Q、K、V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035132" y="6061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backdrop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smGrid">
            <a:fgClr>
              <a:schemeClr val="accent1">
                <a:alpha val="8000"/>
              </a:schemeClr>
            </a:fgClr>
            <a:bgClr>
              <a:schemeClr val="lt1">
                <a:alpha val="8000"/>
              </a:schemeClr>
            </a:bgClr>
          </a:pattFill>
          <a:ln>
            <a:noFill/>
          </a:ln>
        </p:spPr>
      </p:sp>
      <p:grpSp>
        <p:nvGrpSpPr>
          <p:cNvPr id="5" name="page-header"/>
          <p:cNvGrpSpPr/>
          <p:nvPr/>
        </p:nvGrpSpPr>
        <p:grpSpPr>
          <a:xfrm>
            <a:off x="593598" y="650558"/>
            <a:ext cx="8039005" cy="937259"/>
            <a:chOff x="593598" y="650558"/>
            <a:chExt cx="8039005" cy="937259"/>
          </a:xfrm>
        </p:grpSpPr>
        <p:sp>
          <p:nvSpPr>
            <p:cNvPr id="3" name="TextBox 3"/>
            <p:cNvSpPr txBox="1"/>
            <p:nvPr/>
          </p:nvSpPr>
          <p:spPr>
            <a:xfrm>
              <a:off x="593598" y="650558"/>
              <a:ext cx="596146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打分 → 掩码 → SoftMax → 加权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170" y="1147762"/>
              <a:ext cx="803443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 i 行第 j 列 = 第 i 个 token 对第 j 个 token 的关注程度。</a:t>
              </a:r>
            </a:p>
          </p:txBody>
        </p:sp>
      </p:grpSp>
      <p:grpSp>
        <p:nvGrpSpPr>
          <p:cNvPr id="32" name="causal-matrix"/>
          <p:cNvGrpSpPr/>
          <p:nvPr/>
        </p:nvGrpSpPr>
        <p:grpSpPr>
          <a:xfrm>
            <a:off x="952500" y="1854518"/>
            <a:ext cx="3048000" cy="3288982"/>
            <a:chOff x="952500" y="1854518"/>
            <a:chExt cx="3048000" cy="3288982"/>
          </a:xfrm>
        </p:grpSpPr>
        <p:sp>
          <p:nvSpPr>
            <p:cNvPr id="6" name="TextBox 6"/>
            <p:cNvSpPr txBox="1"/>
            <p:nvPr/>
          </p:nvSpPr>
          <p:spPr>
            <a:xfrm>
              <a:off x="1136142" y="1854518"/>
              <a:ext cx="4680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key →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59987" y="21974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59987" y="25784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59987" y="29594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59987" y="33404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59987" y="37214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59987" y="41024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↓</a:t>
              </a:r>
            </a:p>
          </p:txBody>
        </p:sp>
        <p:sp>
          <p:nvSpPr>
            <p:cNvPr id="13" name="Polygon 13"/>
            <p:cNvSpPr/>
            <p:nvPr/>
          </p:nvSpPr>
          <p:spPr>
            <a:xfrm>
              <a:off x="1333500" y="2095500"/>
              <a:ext cx="2667000" cy="2667000"/>
            </a:xfrm>
            <a:custGeom>
              <a:avLst/>
              <a:gdLst/>
              <a:ahLst/>
              <a:cxnLst/>
              <a:rect l="l" t="t" r="r" b="b"/>
              <a:pathLst>
                <a:path w="2667000" h="2667000">
                  <a:moveTo>
                    <a:pt x="0" y="0"/>
                  </a:moveTo>
                  <a:lnTo>
                    <a:pt x="2667000" y="0"/>
                  </a:lnTo>
                  <a:lnTo>
                    <a:pt x="2667000" y="2667000"/>
                  </a:lnTo>
                  <a:lnTo>
                    <a:pt x="2286000" y="2667000"/>
                  </a:lnTo>
                  <a:lnTo>
                    <a:pt x="2286000" y="2286000"/>
                  </a:lnTo>
                  <a:lnTo>
                    <a:pt x="1905000" y="2286000"/>
                  </a:lnTo>
                  <a:lnTo>
                    <a:pt x="1905000" y="1905000"/>
                  </a:lnTo>
                  <a:lnTo>
                    <a:pt x="1524000" y="1905000"/>
                  </a:lnTo>
                  <a:lnTo>
                    <a:pt x="1524000" y="1524000"/>
                  </a:lnTo>
                  <a:lnTo>
                    <a:pt x="1143000" y="1524000"/>
                  </a:lnTo>
                  <a:lnTo>
                    <a:pt x="1143000" y="1143000"/>
                  </a:lnTo>
                  <a:lnTo>
                    <a:pt x="762000" y="1143000"/>
                  </a:lnTo>
                  <a:lnTo>
                    <a:pt x="762000" y="762000"/>
                  </a:lnTo>
                  <a:lnTo>
                    <a:pt x="381000" y="762000"/>
                  </a:lnTo>
                  <a:lnTo>
                    <a:pt x="38100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chemeClr val="accent2">
                <a:alpha val="14000"/>
              </a:schemeClr>
            </a:solidFill>
            <a:ln w="9525">
              <a:solidFill>
                <a:schemeClr val="accent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952500" y="2095500"/>
              <a:ext cx="3048000" cy="304800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333500" y="20955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714500" y="20955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2095500" y="20955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2476500" y="20955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2857500" y="20955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3238500" y="20955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3619500" y="20955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952500" y="2476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952500" y="2857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952500" y="3238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952500" y="3619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952500" y="4000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952500" y="4381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952500" y="4762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52500" y="2095500"/>
              <a:ext cx="3048000" cy="3048000"/>
            </a:xfrm>
            <a:custGeom>
              <a:avLst/>
              <a:gdLst/>
              <a:ahLst/>
              <a:cxnLst/>
              <a:rect l="l" t="t" r="r" b="b"/>
              <a:pathLst>
                <a:path w="3048000" h="3048000">
                  <a:moveTo>
                    <a:pt x="0" y="0"/>
                  </a:moveTo>
                  <a:lnTo>
                    <a:pt x="3048000" y="304800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568464" y="2635568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未来禁止 −inf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88642" y="43310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能看过去 + 自己</a:t>
              </a:r>
            </a:p>
          </p:txBody>
        </p:sp>
      </p:grpSp>
      <p:grpSp>
        <p:nvGrpSpPr>
          <p:cNvPr id="45" name="score-steps"/>
          <p:cNvGrpSpPr/>
          <p:nvPr/>
        </p:nvGrpSpPr>
        <p:grpSpPr>
          <a:xfrm>
            <a:off x="4467606" y="1958340"/>
            <a:ext cx="7122415" cy="3170111"/>
            <a:chOff x="4467606" y="1958340"/>
            <a:chExt cx="7122415" cy="3170111"/>
          </a:xfrm>
        </p:grpSpPr>
        <p:sp>
          <p:nvSpPr>
            <p:cNvPr id="33" name="TextBox 33"/>
            <p:cNvSpPr txBox="1"/>
            <p:nvPr/>
          </p:nvSpPr>
          <p:spPr>
            <a:xfrm>
              <a:off x="4467606" y="1958340"/>
              <a:ext cx="13770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① 打分 </a:t>
              </a:r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128 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469130" y="2257425"/>
              <a:ext cx="54572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scores = xq @ xk.transpose(-2,-1) / math.sqrt(96)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019919" y="2257425"/>
              <a:ext cx="15701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(32,8,340,340)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67606" y="2758440"/>
              <a:ext cx="18617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② 因果掩码 </a:t>
              </a:r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129 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469130" y="3057525"/>
              <a:ext cx="45687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scores[:, :, :, -seq_len:] += torch.full(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59630" y="3286125"/>
              <a:ext cx="46798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(seq_len, seq_len), float("-inf")).triu(1)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848594" y="30737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形状不变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467606" y="3749040"/>
              <a:ext cx="25440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③ SoftMax </a:t>
              </a:r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126 / 131 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469130" y="4048125"/>
              <a:ext cx="32360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output = softmax(scores) @ xv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30981" y="4048125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(32,8,340,96)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67606" y="4549140"/>
              <a:ext cx="20945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④ 加权求和 V </a:t>
              </a:r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131 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469892" y="4864418"/>
              <a:ext cx="41418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 token 的新表示 = 按权重混合所有人的 V 信息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attention-formula"/>
              <p:cNvSpPr txBox="1">
                <a:spLocks noGrp="1"/>
              </p:cNvSpPr>
              <p:nvPr/>
            </p:nvSpPr>
            <p:spPr>
              <a:xfrm>
                <a:off x="609600" y="5391150"/>
                <a:ext cx="5905500" cy="590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650" dirty="0">
                          <a:solidFill>
                            <a:srgbClr val="DCE6F2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Attention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DCE6F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DCE6F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DCE6F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650" dirty="0">
                              <a:solidFill>
                                <a:srgbClr val="DCE6F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DCE6F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650" dirty="0">
                              <a:solidFill>
                                <a:srgbClr val="DCE6F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DCE6F2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m:rPr>
                          <m:nor m:val="on"/>
                        </m:rPr>
                        <a:rPr lang="zh-CN" sz="1650" dirty="0">
                          <a:solidFill>
                            <a:srgbClr val="DCE6F2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softmax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DCE6F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1650" dirty="0">
                                  <a:solidFill>
                                    <a:srgbClr val="DCE6F2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650" dirty="0">
                                  <a:solidFill>
                                    <a:srgbClr val="DCE6F2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  <m:sSup>
                                <m:e>
                                  <m:r>
                                    <a:rPr lang="zh-CN" sz="1650" dirty="0">
                                      <a:solidFill>
                                        <a:srgbClr val="DCE6F2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e>
                                <m:sup>
                                  <m:r>
                                    <a:rPr lang="zh-CN" sz="1650" dirty="0">
                                      <a:solidFill>
                                        <a:srgbClr val="DCE6F2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sz="1650" dirty="0">
                                      <a:solidFill>
                                        <a:srgbClr val="DCE6F2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e>
                                      <m:r>
                                        <a:rPr lang="zh-CN" sz="1650" dirty="0">
                                          <a:solidFill>
                                            <a:srgbClr val="DCE6F2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zh-CN" sz="1650" dirty="0">
                                          <a:solidFill>
                                            <a:srgbClr val="DCE6F2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DCE6F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650" dirty="0">
                              <a:solidFill>
                                <a:srgbClr val="DCE6F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</m:d>
                      <m:r>
                        <a:rPr lang="zh-CN" sz="1650" dirty="0">
                          <a:solidFill>
                            <a:srgbClr val="DCE6F2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8" name="why-neg-inf"/>
          <p:cNvGrpSpPr/>
          <p:nvPr/>
        </p:nvGrpSpPr>
        <p:grpSpPr>
          <a:xfrm>
            <a:off x="6660642" y="5493068"/>
            <a:ext cx="3819906" cy="511683"/>
            <a:chOff x="6660642" y="5493068"/>
            <a:chExt cx="3819906" cy="511683"/>
          </a:xfrm>
        </p:grpSpPr>
        <p:sp>
          <p:nvSpPr>
            <p:cNvPr id="47" name="TextBox 47"/>
            <p:cNvSpPr txBox="1"/>
            <p:nvPr/>
          </p:nvSpPr>
          <p:spPr>
            <a:xfrm>
              <a:off x="6660642" y="5493068"/>
              <a:ext cx="381990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为什么用 −inf 而不是 0：0 权重不够「死」；−inf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经 softmax 变成精确的 0，彻底断绝信息泄露。</a:t>
              </a:r>
            </a:p>
          </p:txBody>
        </p:sp>
      </p:grpSp>
      <p:grpSp>
        <p:nvGrpSpPr>
          <p:cNvPr id="51" name="page-footer"/>
          <p:cNvGrpSpPr/>
          <p:nvPr/>
        </p:nvGrpSpPr>
        <p:grpSpPr>
          <a:xfrm>
            <a:off x="603504" y="6042660"/>
            <a:ext cx="10984992" cy="234696"/>
            <a:chOff x="603504" y="6042660"/>
            <a:chExt cx="10984992" cy="234696"/>
          </a:xfrm>
        </p:grpSpPr>
        <p:sp>
          <p:nvSpPr>
            <p:cNvPr id="49" name="TextBox 49"/>
            <p:cNvSpPr txBox="1"/>
            <p:nvPr/>
          </p:nvSpPr>
          <p:spPr>
            <a:xfrm>
              <a:off x="603504" y="60426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打分与因果掩码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035132" y="60426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4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75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backdrop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smGrid">
            <a:fgClr>
              <a:schemeClr val="accent1">
                <a:alpha val="8000"/>
              </a:schemeClr>
            </a:fgClr>
            <a:bgClr>
              <a:schemeClr val="lt1">
                <a:alpha val="8000"/>
              </a:schemeClr>
            </a:bgClr>
          </a:pattFill>
          <a:ln>
            <a:noFill/>
          </a:ln>
        </p:spPr>
      </p:sp>
      <p:grpSp>
        <p:nvGrpSpPr>
          <p:cNvPr id="5" name="page-header"/>
          <p:cNvGrpSpPr/>
          <p:nvPr/>
        </p:nvGrpSpPr>
        <p:grpSpPr>
          <a:xfrm>
            <a:off x="593598" y="650558"/>
            <a:ext cx="7327156" cy="937259"/>
            <a:chOff x="593598" y="650558"/>
            <a:chExt cx="7327156" cy="937259"/>
          </a:xfrm>
        </p:grpSpPr>
        <p:sp>
          <p:nvSpPr>
            <p:cNvPr id="3" name="TextBox 3"/>
            <p:cNvSpPr txBox="1"/>
            <p:nvPr/>
          </p:nvSpPr>
          <p:spPr>
            <a:xfrm>
              <a:off x="593598" y="650558"/>
              <a:ext cx="73271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GQA：8 个 Q 头，为什么只用 4 组 KV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170" y="1147762"/>
              <a:ext cx="67028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每组 K/V 被 2 个 Q 头共享——两份开销同时减半。</a:t>
              </a:r>
            </a:p>
          </p:txBody>
        </p:sp>
      </p:grpSp>
      <p:grpSp>
        <p:nvGrpSpPr>
          <p:cNvPr id="41" name="gqa-map"/>
          <p:cNvGrpSpPr/>
          <p:nvPr/>
        </p:nvGrpSpPr>
        <p:grpSpPr>
          <a:xfrm>
            <a:off x="600456" y="2095500"/>
            <a:ext cx="10924794" cy="2556701"/>
            <a:chOff x="600456" y="2095500"/>
            <a:chExt cx="10924794" cy="2556701"/>
          </a:xfrm>
        </p:grpSpPr>
        <p:sp>
          <p:nvSpPr>
            <p:cNvPr id="6" name="TextBox 6"/>
            <p:cNvSpPr txBox="1"/>
            <p:nvPr/>
          </p:nvSpPr>
          <p:spPr>
            <a:xfrm>
              <a:off x="600456" y="2244090"/>
              <a:ext cx="10821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 个 Q 头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0456" y="3806190"/>
              <a:ext cx="10010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 组 K/V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2447925" y="2667000"/>
              <a:ext cx="95250" cy="990600"/>
            </a:xfrm>
            <a:custGeom>
              <a:avLst/>
              <a:gdLst/>
              <a:ahLst/>
              <a:cxnLst/>
              <a:rect l="l" t="t" r="r" b="b"/>
              <a:pathLst>
                <a:path w="95250" h="990600">
                  <a:moveTo>
                    <a:pt x="0" y="0"/>
                  </a:moveTo>
                  <a:lnTo>
                    <a:pt x="95250" y="99060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571875" y="2667000"/>
              <a:ext cx="95250" cy="990600"/>
            </a:xfrm>
            <a:custGeom>
              <a:avLst/>
              <a:gdLst/>
              <a:ahLst/>
              <a:cxnLst/>
              <a:rect l="l" t="t" r="r" b="b"/>
              <a:pathLst>
                <a:path w="95250" h="990600">
                  <a:moveTo>
                    <a:pt x="95250" y="0"/>
                  </a:moveTo>
                  <a:lnTo>
                    <a:pt x="0" y="99060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886325" y="2667000"/>
              <a:ext cx="95250" cy="990600"/>
            </a:xfrm>
            <a:custGeom>
              <a:avLst/>
              <a:gdLst/>
              <a:ahLst/>
              <a:cxnLst/>
              <a:rect l="l" t="t" r="r" b="b"/>
              <a:pathLst>
                <a:path w="95250" h="990600">
                  <a:moveTo>
                    <a:pt x="0" y="0"/>
                  </a:moveTo>
                  <a:lnTo>
                    <a:pt x="95250" y="9906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010275" y="2667000"/>
              <a:ext cx="95250" cy="990600"/>
            </a:xfrm>
            <a:custGeom>
              <a:avLst/>
              <a:gdLst/>
              <a:ahLst/>
              <a:cxnLst/>
              <a:rect l="l" t="t" r="r" b="b"/>
              <a:pathLst>
                <a:path w="95250" h="990600">
                  <a:moveTo>
                    <a:pt x="95250" y="0"/>
                  </a:moveTo>
                  <a:lnTo>
                    <a:pt x="0" y="9906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324725" y="2667000"/>
              <a:ext cx="95250" cy="990600"/>
            </a:xfrm>
            <a:custGeom>
              <a:avLst/>
              <a:gdLst/>
              <a:ahLst/>
              <a:cxnLst/>
              <a:rect l="l" t="t" r="r" b="b"/>
              <a:pathLst>
                <a:path w="95250" h="990600">
                  <a:moveTo>
                    <a:pt x="0" y="0"/>
                  </a:moveTo>
                  <a:lnTo>
                    <a:pt x="95250" y="99060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448675" y="2667000"/>
              <a:ext cx="95250" cy="990600"/>
            </a:xfrm>
            <a:custGeom>
              <a:avLst/>
              <a:gdLst/>
              <a:ahLst/>
              <a:cxnLst/>
              <a:rect l="l" t="t" r="r" b="b"/>
              <a:pathLst>
                <a:path w="95250" h="990600">
                  <a:moveTo>
                    <a:pt x="95250" y="0"/>
                  </a:moveTo>
                  <a:lnTo>
                    <a:pt x="0" y="99060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763125" y="2667000"/>
              <a:ext cx="95250" cy="990600"/>
            </a:xfrm>
            <a:custGeom>
              <a:avLst/>
              <a:gdLst/>
              <a:ahLst/>
              <a:cxnLst/>
              <a:rect l="l" t="t" r="r" b="b"/>
              <a:pathLst>
                <a:path w="95250" h="990600">
                  <a:moveTo>
                    <a:pt x="0" y="0"/>
                  </a:moveTo>
                  <a:lnTo>
                    <a:pt x="95250" y="99060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0887075" y="2667000"/>
              <a:ext cx="95250" cy="990600"/>
            </a:xfrm>
            <a:custGeom>
              <a:avLst/>
              <a:gdLst/>
              <a:ahLst/>
              <a:cxnLst/>
              <a:rect l="l" t="t" r="r" b="b"/>
              <a:pathLst>
                <a:path w="95250" h="990600">
                  <a:moveTo>
                    <a:pt x="95250" y="0"/>
                  </a:moveTo>
                  <a:lnTo>
                    <a:pt x="0" y="99060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905000" y="2095500"/>
              <a:ext cx="1085850" cy="5715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124200" y="2095500"/>
              <a:ext cx="1085850" cy="5715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343400" y="2095500"/>
              <a:ext cx="1085850" cy="571500"/>
            </a:xfrm>
            <a:prstGeom prst="rect">
              <a:avLst/>
            </a:prstGeom>
            <a:solidFill>
              <a:schemeClr val="accent2">
                <a:alpha val="10000"/>
              </a:schemeClr>
            </a:solidFill>
            <a:ln w="14288">
              <a:solidFill>
                <a:schemeClr val="accent2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562600" y="2095500"/>
              <a:ext cx="1085850" cy="571500"/>
            </a:xfrm>
            <a:prstGeom prst="rect">
              <a:avLst/>
            </a:prstGeom>
            <a:solidFill>
              <a:schemeClr val="accent2">
                <a:alpha val="10000"/>
              </a:schemeClr>
            </a:solidFill>
            <a:ln w="14288">
              <a:solidFill>
                <a:schemeClr val="accent2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781800" y="2095500"/>
              <a:ext cx="1085850" cy="5715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001000" y="2095500"/>
              <a:ext cx="1085850" cy="5715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9220200" y="2095500"/>
              <a:ext cx="1085850" cy="5715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0439400" y="2095500"/>
              <a:ext cx="1085850" cy="5715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322957" y="2286000"/>
              <a:ext cx="249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Q0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42157" y="2286000"/>
              <a:ext cx="249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Q1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61357" y="2286000"/>
              <a:ext cx="249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Q2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980557" y="2286000"/>
              <a:ext cx="249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Q3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99757" y="2286000"/>
              <a:ext cx="249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Q4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18957" y="2286000"/>
              <a:ext cx="249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638157" y="2286000"/>
              <a:ext cx="249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Q6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857357" y="2286000"/>
              <a:ext cx="249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Q7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905000" y="3657600"/>
              <a:ext cx="2305050" cy="5715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4343400" y="3657600"/>
              <a:ext cx="2305050" cy="571500"/>
            </a:xfrm>
            <a:prstGeom prst="rect">
              <a:avLst/>
            </a:prstGeom>
            <a:solidFill>
              <a:schemeClr val="accent2">
                <a:alpha val="10000"/>
              </a:schemeClr>
            </a:solidFill>
            <a:ln w="14288">
              <a:solidFill>
                <a:schemeClr val="accent2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781800" y="3657600"/>
              <a:ext cx="2305050" cy="5715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9220200" y="3657600"/>
              <a:ext cx="2305050" cy="5715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873883" y="3848100"/>
              <a:ext cx="3672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KV0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312283" y="3848100"/>
              <a:ext cx="3672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KV1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50683" y="3848100"/>
              <a:ext cx="3672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KV2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89083" y="3848100"/>
              <a:ext cx="3672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KV3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87720" y="4388168"/>
              <a:ext cx="40165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高亮的一组：KV1 被 Q2 与 Q3 共享（8 ÷ 4 = 2）</a:t>
              </a:r>
            </a:p>
          </p:txBody>
        </p:sp>
      </p:grpSp>
      <p:grpSp>
        <p:nvGrpSpPr>
          <p:cNvPr id="44" name="note-repeat-kv"/>
          <p:cNvGrpSpPr/>
          <p:nvPr/>
        </p:nvGrpSpPr>
        <p:grpSpPr>
          <a:xfrm>
            <a:off x="600456" y="4796790"/>
            <a:ext cx="3144964" cy="1055561"/>
            <a:chOff x="600456" y="4796790"/>
            <a:chExt cx="3144964" cy="1055561"/>
          </a:xfrm>
        </p:grpSpPr>
        <p:sp>
          <p:nvSpPr>
            <p:cNvPr id="42" name="TextBox 42"/>
            <p:cNvSpPr txBox="1"/>
            <p:nvPr/>
          </p:nvSpPr>
          <p:spPr>
            <a:xfrm>
              <a:off x="600456" y="4796790"/>
              <a:ext cx="27298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repeat_kv：4 组 → 8 份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2742" y="5093018"/>
              <a:ext cx="3142678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打分和加权求和前，K/V 通过 repeat_kv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复制到 8 份——@ 要求 Q 与 K 头数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一致（8 = 8）。定义 86-89，执行 124。</a:t>
              </a:r>
            </a:p>
          </p:txBody>
        </p:sp>
      </p:grpSp>
      <p:grpSp>
        <p:nvGrpSpPr>
          <p:cNvPr id="47" name="note-gqa-benefit"/>
          <p:cNvGrpSpPr/>
          <p:nvPr/>
        </p:nvGrpSpPr>
        <p:grpSpPr>
          <a:xfrm>
            <a:off x="4343781" y="4796790"/>
            <a:ext cx="2930652" cy="1055561"/>
            <a:chOff x="4343781" y="4796790"/>
            <a:chExt cx="2930652" cy="1055561"/>
          </a:xfrm>
        </p:grpSpPr>
        <p:sp>
          <p:nvSpPr>
            <p:cNvPr id="45" name="TextBox 45"/>
            <p:cNvSpPr txBox="1"/>
            <p:nvPr/>
          </p:nvSpPr>
          <p:spPr>
            <a:xfrm>
              <a:off x="4343781" y="47967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好处：两份开销都减半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346067" y="5093018"/>
              <a:ext cx="292836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KV 参数量与推理时的 KV Cache 双双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减半，速度显存双省，效果几乎无损。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这是 Llama2/3、Qwen 的标准配置。</a:t>
              </a:r>
            </a:p>
          </p:txBody>
        </p:sp>
      </p:grpSp>
      <p:grpSp>
        <p:nvGrpSpPr>
          <p:cNvPr id="50" name="note-cache-truth"/>
          <p:cNvGrpSpPr/>
          <p:nvPr/>
        </p:nvGrpSpPr>
        <p:grpSpPr>
          <a:xfrm>
            <a:off x="8087106" y="4796790"/>
            <a:ext cx="3033522" cy="1055561"/>
            <a:chOff x="8087106" y="4796790"/>
            <a:chExt cx="3033522" cy="1055561"/>
          </a:xfrm>
        </p:grpSpPr>
        <p:sp>
          <p:nvSpPr>
            <p:cNvPr id="48" name="TextBox 48"/>
            <p:cNvSpPr txBox="1"/>
            <p:nvPr/>
          </p:nvSpPr>
          <p:spPr>
            <a:xfrm>
              <a:off x="8087106" y="4796790"/>
              <a:ext cx="22494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缓存正本始终是 4 头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089392" y="5093018"/>
              <a:ext cx="303123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cat 缓存发生在 repeat_kv 之前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（120-122 行），所以缓存正本是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(1, seq, 4, 96)——显存收益由此兑现。</a:t>
              </a:r>
            </a:p>
          </p:txBody>
        </p:sp>
      </p:grpSp>
      <p:grpSp>
        <p:nvGrpSpPr>
          <p:cNvPr id="53" name="page-footer"/>
          <p:cNvGrpSpPr/>
          <p:nvPr/>
        </p:nvGrpSpPr>
        <p:grpSpPr>
          <a:xfrm>
            <a:off x="603504" y="6042660"/>
            <a:ext cx="10984992" cy="234696"/>
            <a:chOff x="603504" y="6042660"/>
            <a:chExt cx="10984992" cy="234696"/>
          </a:xfrm>
        </p:grpSpPr>
        <p:sp>
          <p:nvSpPr>
            <p:cNvPr id="51" name="TextBox 51"/>
            <p:cNvSpPr txBox="1"/>
            <p:nvPr/>
          </p:nvSpPr>
          <p:spPr>
            <a:xfrm>
              <a:off x="603504" y="6042660"/>
              <a:ext cx="16203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GQA：分组查询注意力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035132" y="60426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backdrop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smGrid">
            <a:fgClr>
              <a:schemeClr val="accent1">
                <a:alpha val="8000"/>
              </a:schemeClr>
            </a:fgClr>
            <a:bgClr>
              <a:schemeClr val="lt1">
                <a:alpha val="8000"/>
              </a:schemeClr>
            </a:bgClr>
          </a:pattFill>
          <a:ln>
            <a:noFill/>
          </a:ln>
        </p:spPr>
      </p:sp>
      <p:grpSp>
        <p:nvGrpSpPr>
          <p:cNvPr id="5" name="page-header"/>
          <p:cNvGrpSpPr/>
          <p:nvPr/>
        </p:nvGrpSpPr>
        <p:grpSpPr>
          <a:xfrm>
            <a:off x="593598" y="650558"/>
            <a:ext cx="7024306" cy="937259"/>
            <a:chOff x="593598" y="650558"/>
            <a:chExt cx="7024306" cy="937259"/>
          </a:xfrm>
        </p:grpSpPr>
        <p:sp>
          <p:nvSpPr>
            <p:cNvPr id="3" name="TextBox 3"/>
            <p:cNvSpPr txBox="1"/>
            <p:nvPr/>
          </p:nvSpPr>
          <p:spPr>
            <a:xfrm>
              <a:off x="593598" y="650558"/>
              <a:ext cx="677126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合头与输出投影：8 个视角合成一个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170" y="1147762"/>
              <a:ext cx="70197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 个头各看各的角度，拼起来后融合回 768 维主干。</a:t>
              </a:r>
            </a:p>
          </p:txBody>
        </p:sp>
      </p:grpSp>
      <p:grpSp>
        <p:nvGrpSpPr>
          <p:cNvPr id="48" name="merge-map"/>
          <p:cNvGrpSpPr/>
          <p:nvPr/>
        </p:nvGrpSpPr>
        <p:grpSpPr>
          <a:xfrm>
            <a:off x="600456" y="2000250"/>
            <a:ext cx="10932414" cy="2800350"/>
            <a:chOff x="600456" y="2000250"/>
            <a:chExt cx="10932414" cy="2800350"/>
          </a:xfrm>
        </p:grpSpPr>
        <p:sp>
          <p:nvSpPr>
            <p:cNvPr id="6" name="TextBox 6"/>
            <p:cNvSpPr txBox="1"/>
            <p:nvPr/>
          </p:nvSpPr>
          <p:spPr>
            <a:xfrm>
              <a:off x="600456" y="2167890"/>
              <a:ext cx="7191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 个头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2742" y="2445068"/>
              <a:ext cx="6861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各 96 维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905000" y="2000250"/>
              <a:ext cx="1123950" cy="6096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3048000" y="2000250"/>
              <a:ext cx="1123950" cy="6096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4191000" y="2000250"/>
              <a:ext cx="1123950" cy="6096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334000" y="2000250"/>
              <a:ext cx="1123950" cy="6096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477000" y="2000250"/>
              <a:ext cx="1123950" cy="6096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20000" y="2000250"/>
              <a:ext cx="1123950" cy="6096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8763000" y="2000250"/>
              <a:ext cx="1123950" cy="6096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9906000" y="2000250"/>
              <a:ext cx="1123950" cy="6096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348294" y="220027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91293" y="220027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34294" y="220027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777294" y="220027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920294" y="220027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63294" y="220027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06294" y="220027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349294" y="220027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h7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2466975" y="26098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609975" y="26098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4752975" y="26098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5895975" y="26098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7038975" y="26098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8181975" y="26098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9324975" y="26098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0467975" y="26098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1905000" y="285750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07908" y="3038475"/>
              <a:ext cx="31249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(32,8,340,96) → (32,340,768)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477000" y="2857500"/>
              <a:ext cx="1" cy="381000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00456" y="34251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合头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905000" y="3295650"/>
              <a:ext cx="9144000" cy="53340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3048000" y="3295650"/>
              <a:ext cx="9525" cy="533400"/>
            </a:xfrm>
            <a:custGeom>
              <a:avLst/>
              <a:gdLst/>
              <a:ahLst/>
              <a:cxnLst/>
              <a:rect l="l" t="t" r="r" b="b"/>
              <a:pathLst>
                <a:path w="9525"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9525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4191000" y="3295650"/>
              <a:ext cx="9525" cy="533400"/>
            </a:xfrm>
            <a:custGeom>
              <a:avLst/>
              <a:gdLst/>
              <a:ahLst/>
              <a:cxnLst/>
              <a:rect l="l" t="t" r="r" b="b"/>
              <a:pathLst>
                <a:path w="9525"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9525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5334000" y="3295650"/>
              <a:ext cx="9525" cy="533400"/>
            </a:xfrm>
            <a:custGeom>
              <a:avLst/>
              <a:gdLst/>
              <a:ahLst/>
              <a:cxnLst/>
              <a:rect l="l" t="t" r="r" b="b"/>
              <a:pathLst>
                <a:path w="9525"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9525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6477000" y="3295650"/>
              <a:ext cx="9525" cy="533400"/>
            </a:xfrm>
            <a:custGeom>
              <a:avLst/>
              <a:gdLst/>
              <a:ahLst/>
              <a:cxnLst/>
              <a:rect l="l" t="t" r="r" b="b"/>
              <a:pathLst>
                <a:path w="9525"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9525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7620000" y="3295650"/>
              <a:ext cx="9525" cy="533400"/>
            </a:xfrm>
            <a:custGeom>
              <a:avLst/>
              <a:gdLst/>
              <a:ahLst/>
              <a:cxnLst/>
              <a:rect l="l" t="t" r="r" b="b"/>
              <a:pathLst>
                <a:path w="9525"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9525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8763000" y="3295650"/>
              <a:ext cx="9525" cy="533400"/>
            </a:xfrm>
            <a:custGeom>
              <a:avLst/>
              <a:gdLst/>
              <a:ahLst/>
              <a:cxnLst/>
              <a:rect l="l" t="t" r="r" b="b"/>
              <a:pathLst>
                <a:path w="9525"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9525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9906000" y="3295650"/>
              <a:ext cx="9525" cy="533400"/>
            </a:xfrm>
            <a:custGeom>
              <a:avLst/>
              <a:gdLst/>
              <a:ahLst/>
              <a:cxnLst/>
              <a:rect l="l" t="t" r="r" b="b"/>
              <a:pathLst>
                <a:path w="9525"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9525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6477000" y="3829050"/>
              <a:ext cx="1" cy="381000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00456" y="43967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输出投影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905000" y="4267200"/>
              <a:ext cx="9144000" cy="533400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 w="14288">
              <a:solidFill>
                <a:schemeClr val="accent1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691950" y="4448175"/>
              <a:ext cx="15701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(32, 340, 768)</a:t>
              </a:r>
            </a:p>
          </p:txBody>
        </p:sp>
      </p:grpSp>
      <p:grpSp>
        <p:nvGrpSpPr>
          <p:cNvPr id="51" name="note-head-merge"/>
          <p:cNvGrpSpPr/>
          <p:nvPr/>
        </p:nvGrpSpPr>
        <p:grpSpPr>
          <a:xfrm>
            <a:off x="600456" y="4911090"/>
            <a:ext cx="3530658" cy="1055561"/>
            <a:chOff x="600456" y="4911090"/>
            <a:chExt cx="3530658" cy="1055561"/>
          </a:xfrm>
        </p:grpSpPr>
        <p:sp>
          <p:nvSpPr>
            <p:cNvPr id="49" name="TextBox 49"/>
            <p:cNvSpPr txBox="1"/>
            <p:nvPr/>
          </p:nvSpPr>
          <p:spPr>
            <a:xfrm>
              <a:off x="600456" y="4911090"/>
              <a:ext cx="35306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132 行：transpose + reshape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2742" y="5207318"/>
              <a:ext cx="268833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 (32,8,340,96) 转置成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(32,340,8,96)，再 reshape 展平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成 (32, 340, 768)。</a:t>
              </a:r>
            </a:p>
          </p:txBody>
        </p:sp>
      </p:grpSp>
      <p:grpSp>
        <p:nvGrpSpPr>
          <p:cNvPr id="54" name="note-o-proj"/>
          <p:cNvGrpSpPr/>
          <p:nvPr/>
        </p:nvGrpSpPr>
        <p:grpSpPr>
          <a:xfrm>
            <a:off x="4343781" y="4911090"/>
            <a:ext cx="2964942" cy="807911"/>
            <a:chOff x="4343781" y="4911090"/>
            <a:chExt cx="2964942" cy="807911"/>
          </a:xfrm>
        </p:grpSpPr>
        <p:sp>
          <p:nvSpPr>
            <p:cNvPr id="52" name="TextBox 52"/>
            <p:cNvSpPr txBox="1"/>
            <p:nvPr/>
          </p:nvSpPr>
          <p:spPr>
            <a:xfrm>
              <a:off x="4343781" y="4911090"/>
              <a:ext cx="17750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133 行：o_proj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346067" y="5207318"/>
              <a:ext cx="296265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Linear 768 → 768，把拼接结果再融合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一次；外面再套一层 resid_dropout。</a:t>
              </a:r>
            </a:p>
          </p:txBody>
        </p:sp>
      </p:grpSp>
      <p:grpSp>
        <p:nvGrpSpPr>
          <p:cNvPr id="57" name="note-multihead"/>
          <p:cNvGrpSpPr/>
          <p:nvPr/>
        </p:nvGrpSpPr>
        <p:grpSpPr>
          <a:xfrm>
            <a:off x="8087106" y="4911090"/>
            <a:ext cx="3076384" cy="1055561"/>
            <a:chOff x="8087106" y="4911090"/>
            <a:chExt cx="3076384" cy="1055561"/>
          </a:xfrm>
        </p:grpSpPr>
        <p:sp>
          <p:nvSpPr>
            <p:cNvPr id="55" name="TextBox 55"/>
            <p:cNvSpPr txBox="1"/>
            <p:nvPr/>
          </p:nvSpPr>
          <p:spPr>
            <a:xfrm>
              <a:off x="8087106" y="49110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为什么要多个头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89392" y="5207318"/>
              <a:ext cx="3074098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一个头只能学一种关注模式。8 个头各自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独立打分、各自加权，从不同角度提取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关系，最后拼合。</a:t>
              </a:r>
            </a:p>
          </p:txBody>
        </p:sp>
      </p:grpSp>
      <p:grpSp>
        <p:nvGrpSpPr>
          <p:cNvPr id="60" name="page-footer"/>
          <p:cNvGrpSpPr/>
          <p:nvPr/>
        </p:nvGrpSpPr>
        <p:grpSpPr>
          <a:xfrm>
            <a:off x="603504" y="6042660"/>
            <a:ext cx="10984992" cy="234696"/>
            <a:chOff x="603504" y="6042660"/>
            <a:chExt cx="10984992" cy="234696"/>
          </a:xfrm>
        </p:grpSpPr>
        <p:sp>
          <p:nvSpPr>
            <p:cNvPr id="58" name="TextBox 58"/>
            <p:cNvSpPr txBox="1"/>
            <p:nvPr/>
          </p:nvSpPr>
          <p:spPr>
            <a:xfrm>
              <a:off x="603504" y="60426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合头与输出投影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035132" y="60426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backdrop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smGrid">
            <a:fgClr>
              <a:schemeClr val="accent1">
                <a:alpha val="8000"/>
              </a:schemeClr>
            </a:fgClr>
            <a:bgClr>
              <a:schemeClr val="lt1">
                <a:alpha val="8000"/>
              </a:schemeClr>
            </a:bgClr>
          </a:pattFill>
          <a:ln>
            <a:noFill/>
          </a:ln>
        </p:spPr>
      </p:sp>
      <p:grpSp>
        <p:nvGrpSpPr>
          <p:cNvPr id="5" name="page-header"/>
          <p:cNvGrpSpPr/>
          <p:nvPr/>
        </p:nvGrpSpPr>
        <p:grpSpPr>
          <a:xfrm>
            <a:off x="593598" y="650558"/>
            <a:ext cx="6418516" cy="937259"/>
            <a:chOff x="593598" y="650558"/>
            <a:chExt cx="6418516" cy="937259"/>
          </a:xfrm>
        </p:grpSpPr>
        <p:sp>
          <p:nvSpPr>
            <p:cNvPr id="3" name="TextBox 3"/>
            <p:cNvSpPr txBox="1"/>
            <p:nvPr/>
          </p:nvSpPr>
          <p:spPr>
            <a:xfrm>
              <a:off x="593598" y="650558"/>
              <a:ext cx="456883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FFN：SwiGLU 前馈网络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170" y="1147762"/>
              <a:ext cx="64139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内容走一条支路，门控走另一条——逐元素相乘。</a:t>
              </a:r>
            </a:p>
          </p:txBody>
        </p:sp>
      </p:grpSp>
      <p:grpSp>
        <p:nvGrpSpPr>
          <p:cNvPr id="37" name="ffn-flow"/>
          <p:cNvGrpSpPr/>
          <p:nvPr/>
        </p:nvGrpSpPr>
        <p:grpSpPr>
          <a:xfrm>
            <a:off x="600456" y="1771650"/>
            <a:ext cx="5686044" cy="3510534"/>
            <a:chOff x="600456" y="1771650"/>
            <a:chExt cx="5686044" cy="3510534"/>
          </a:xfrm>
        </p:grpSpPr>
        <p:sp>
          <p:nvSpPr>
            <p:cNvPr id="6" name="TextBox 6"/>
            <p:cNvSpPr txBox="1"/>
            <p:nvPr/>
          </p:nvSpPr>
          <p:spPr>
            <a:xfrm>
              <a:off x="600456" y="18059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52500" y="1771650"/>
              <a:ext cx="5334000" cy="36195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834450" y="1857375"/>
              <a:ext cx="15701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(32, 340, 768)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3619500" y="21336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2286000" y="232410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2286000" y="232410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4953000" y="232410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238250" y="2457450"/>
              <a:ext cx="2095500" cy="47625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889665" y="2524125"/>
              <a:ext cx="792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up_proj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79365" y="2730818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768 → 2432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905250" y="2457450"/>
              <a:ext cx="2095500" cy="47625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445603" y="2524125"/>
              <a:ext cx="10147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gate_proj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46365" y="2730818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768 → 2432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953000" y="29337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905250" y="3143250"/>
              <a:ext cx="2095500" cy="47625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13827" y="3286125"/>
              <a:ext cx="478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SiLU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2286000" y="2933700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0"/>
                  </a:moveTo>
                  <a:lnTo>
                    <a:pt x="0" y="99060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2286000" y="3924300"/>
              <a:ext cx="1162050" cy="9525"/>
            </a:xfrm>
            <a:custGeom>
              <a:avLst/>
              <a:gdLst/>
              <a:ahLst/>
              <a:cxnLst/>
              <a:rect l="l" t="t" r="r" b="b"/>
              <a:pathLst>
                <a:path w="1162050" h="9525">
                  <a:moveTo>
                    <a:pt x="0" y="0"/>
                  </a:moveTo>
                  <a:lnTo>
                    <a:pt x="116205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4953000" y="36195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790950" y="3924300"/>
              <a:ext cx="1162050" cy="9525"/>
            </a:xfrm>
            <a:custGeom>
              <a:avLst/>
              <a:gdLst/>
              <a:ahLst/>
              <a:cxnLst/>
              <a:rect l="l" t="t" r="r" b="b"/>
              <a:pathLst>
                <a:path w="1162050" h="9525">
                  <a:moveTo>
                    <a:pt x="1162050" y="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3467100" y="3771900"/>
              <a:ext cx="304800" cy="304800"/>
            </a:xfrm>
            <a:prstGeom prst="ellipse">
              <a:avLst/>
            </a:prstGeom>
            <a:noFill/>
            <a:ln w="14288">
              <a:solidFill>
                <a:schemeClr val="dk1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3571875" y="3876675"/>
              <a:ext cx="95250" cy="9525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437257" y="41214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逐元素相乘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3619500" y="40767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286000" y="4191000"/>
              <a:ext cx="2667000" cy="47625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112103" y="4257675"/>
              <a:ext cx="10147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down_proj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112865" y="4464368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2432 → 768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3619500" y="466725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00456" y="49301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52500" y="4876800"/>
              <a:ext cx="5334000" cy="361950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 w="14288">
              <a:solidFill>
                <a:schemeClr val="accent1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834450" y="4962525"/>
              <a:ext cx="15701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(32, 340, 768)</a:t>
              </a:r>
            </a:p>
          </p:txBody>
        </p:sp>
      </p:grpSp>
      <p:grpSp>
        <p:nvGrpSpPr>
          <p:cNvPr id="42" name="note-one-liner"/>
          <p:cNvGrpSpPr/>
          <p:nvPr/>
        </p:nvGrpSpPr>
        <p:grpSpPr>
          <a:xfrm>
            <a:off x="7039356" y="1805940"/>
            <a:ext cx="3799332" cy="1030605"/>
            <a:chOff x="7039356" y="1805940"/>
            <a:chExt cx="3799332" cy="1030605"/>
          </a:xfrm>
        </p:grpSpPr>
        <p:sp>
          <p:nvSpPr>
            <p:cNvPr id="38" name="TextBox 38"/>
            <p:cNvSpPr txBox="1"/>
            <p:nvPr/>
          </p:nvSpPr>
          <p:spPr>
            <a:xfrm>
              <a:off x="7039356" y="18059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一行代码就是整张图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40880" y="2085975"/>
              <a:ext cx="16811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self.down_proj(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69480" y="2314575"/>
              <a:ext cx="35692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self.act_fn( self.gate_proj(x) 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69480" y="2543175"/>
              <a:ext cx="21254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* self.up_proj(x) )</a:t>
              </a:r>
            </a:p>
          </p:txBody>
        </p:sp>
      </p:grpSp>
      <p:grpSp>
        <p:nvGrpSpPr>
          <p:cNvPr id="45" name="note-two-branches"/>
          <p:cNvGrpSpPr/>
          <p:nvPr/>
        </p:nvGrpSpPr>
        <p:grpSpPr>
          <a:xfrm>
            <a:off x="7039356" y="2853690"/>
            <a:ext cx="3110674" cy="1303211"/>
            <a:chOff x="7039356" y="2853690"/>
            <a:chExt cx="3110674" cy="1303211"/>
          </a:xfrm>
        </p:grpSpPr>
        <p:sp>
          <p:nvSpPr>
            <p:cNvPr id="43" name="TextBox 43"/>
            <p:cNvSpPr txBox="1"/>
            <p:nvPr/>
          </p:nvSpPr>
          <p:spPr>
            <a:xfrm>
              <a:off x="7039356" y="28536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两条支路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41642" y="3149918"/>
              <a:ext cx="3108388" cy="1006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up_proj 是内容——「我知道了什么」；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gate_proj + SiLU 是门控，输出近似 0~∞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的系数——给每个特征维度装一个可学习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的开关。</a:t>
              </a:r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⭐ 谁接 SiLU 谁是 gate。</a:t>
              </a:r>
            </a:p>
          </p:txBody>
        </p:sp>
      </p:grpSp>
      <p:grpSp>
        <p:nvGrpSpPr>
          <p:cNvPr id="48" name="note-scale"/>
          <p:cNvGrpSpPr/>
          <p:nvPr/>
        </p:nvGrpSpPr>
        <p:grpSpPr>
          <a:xfrm>
            <a:off x="7039356" y="4187190"/>
            <a:ext cx="3787902" cy="1055561"/>
            <a:chOff x="7039356" y="4187190"/>
            <a:chExt cx="3787902" cy="1055561"/>
          </a:xfrm>
        </p:grpSpPr>
        <p:sp>
          <p:nvSpPr>
            <p:cNvPr id="46" name="TextBox 46"/>
            <p:cNvSpPr txBox="1"/>
            <p:nvPr/>
          </p:nvSpPr>
          <p:spPr>
            <a:xfrm>
              <a:off x="7039356" y="4187190"/>
              <a:ext cx="23505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2432 从哪来、占多少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41642" y="4483418"/>
              <a:ext cx="378561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l-GR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intermediate_size = ⌈768×π/64⌉×64 = 2432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FFN 占每层 76%（5.6M / 7.4M），比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attention 还多——模型的「知识库存取器」。</a:t>
              </a:r>
            </a:p>
          </p:txBody>
        </p:sp>
      </p:grpSp>
      <p:grpSp>
        <p:nvGrpSpPr>
          <p:cNvPr id="52" name="dropout-caveat"/>
          <p:cNvGrpSpPr/>
          <p:nvPr/>
        </p:nvGrpSpPr>
        <p:grpSpPr>
          <a:xfrm>
            <a:off x="609600" y="5410200"/>
            <a:ext cx="10972800" cy="495300"/>
            <a:chOff x="609600" y="5410200"/>
            <a:chExt cx="10972800" cy="495300"/>
          </a:xfrm>
        </p:grpSpPr>
        <p:sp>
          <p:nvSpPr>
            <p:cNvPr id="49" name="Rectangle 49"/>
            <p:cNvSpPr/>
            <p:nvPr/>
          </p:nvSpPr>
          <p:spPr>
            <a:xfrm>
              <a:off x="609600" y="5410200"/>
              <a:ext cx="1097280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09600" y="5410200"/>
              <a:ext cx="28575" cy="49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31342" y="5569268"/>
              <a:ext cx="100025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图上 (b) 面板的 Dropout 是通用画法：本代码 FFN 内未实现 dropout（config.dropout 默认 0.0），也不参与前向形状。</a:t>
              </a:r>
            </a:p>
          </p:txBody>
        </p:sp>
      </p:grpSp>
      <p:grpSp>
        <p:nvGrpSpPr>
          <p:cNvPr id="55" name="page-footer"/>
          <p:cNvGrpSpPr/>
          <p:nvPr/>
        </p:nvGrpSpPr>
        <p:grpSpPr>
          <a:xfrm>
            <a:off x="603504" y="6042660"/>
            <a:ext cx="10984992" cy="234696"/>
            <a:chOff x="603504" y="6042660"/>
            <a:chExt cx="10984992" cy="234696"/>
          </a:xfrm>
        </p:grpSpPr>
        <p:sp>
          <p:nvSpPr>
            <p:cNvPr id="53" name="TextBox 53"/>
            <p:cNvSpPr txBox="1"/>
            <p:nvPr/>
          </p:nvSpPr>
          <p:spPr>
            <a:xfrm>
              <a:off x="603504" y="6042660"/>
              <a:ext cx="13735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FFN：SwiGLU 门控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035132" y="60426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5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backdrop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smGrid">
            <a:fgClr>
              <a:schemeClr val="accent1">
                <a:alpha val="8000"/>
              </a:schemeClr>
            </a:fgClr>
            <a:bgClr>
              <a:schemeClr val="lt1">
                <a:alpha val="8000"/>
              </a:schemeClr>
            </a:bgClr>
          </a:pattFill>
          <a:ln>
            <a:noFill/>
          </a:ln>
        </p:spPr>
      </p:sp>
      <p:grpSp>
        <p:nvGrpSpPr>
          <p:cNvPr id="5" name="page-header"/>
          <p:cNvGrpSpPr/>
          <p:nvPr/>
        </p:nvGrpSpPr>
        <p:grpSpPr>
          <a:xfrm>
            <a:off x="593598" y="650558"/>
            <a:ext cx="7039451" cy="937259"/>
            <a:chOff x="593598" y="650558"/>
            <a:chExt cx="7039451" cy="937259"/>
          </a:xfrm>
        </p:grpSpPr>
        <p:sp>
          <p:nvSpPr>
            <p:cNvPr id="3" name="TextBox 3"/>
            <p:cNvSpPr txBox="1"/>
            <p:nvPr/>
          </p:nvSpPr>
          <p:spPr>
            <a:xfrm>
              <a:off x="593598" y="650558"/>
              <a:ext cx="687601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残差与 RMSNorm：让 8 层能训得动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170" y="1147762"/>
              <a:ext cx="703487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梯度顺着 + 号原样流回底层，子层只学「修正量」。</a:t>
              </a:r>
            </a:p>
          </p:txBody>
        </p:sp>
      </p:grpSp>
      <p:grpSp>
        <p:nvGrpSpPr>
          <p:cNvPr id="27" name="residual-path"/>
          <p:cNvGrpSpPr/>
          <p:nvPr/>
        </p:nvGrpSpPr>
        <p:grpSpPr>
          <a:xfrm>
            <a:off x="1047750" y="1768792"/>
            <a:ext cx="4607977" cy="3302509"/>
            <a:chOff x="1047750" y="1768792"/>
            <a:chExt cx="4607977" cy="3302509"/>
          </a:xfrm>
        </p:grpSpPr>
        <p:sp>
          <p:nvSpPr>
            <p:cNvPr id="6" name="Polyline 6"/>
            <p:cNvSpPr/>
            <p:nvPr/>
          </p:nvSpPr>
          <p:spPr>
            <a:xfrm>
              <a:off x="1428750" y="2114550"/>
              <a:ext cx="1428750" cy="1257300"/>
            </a:xfrm>
            <a:custGeom>
              <a:avLst/>
              <a:gdLst/>
              <a:ahLst/>
              <a:cxnLst/>
              <a:rect l="l" t="t" r="r" b="b"/>
              <a:pathLst>
                <a:path w="1428750" h="1257300">
                  <a:moveTo>
                    <a:pt x="1428750" y="0"/>
                  </a:moveTo>
                  <a:lnTo>
                    <a:pt x="0" y="0"/>
                  </a:lnTo>
                  <a:lnTo>
                    <a:pt x="0" y="1257300"/>
                  </a:lnTo>
                  <a:lnTo>
                    <a:pt x="1390650" y="12573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  <a:prstDash val="lgDash"/>
            </a:ln>
          </p:spPr>
        </p:sp>
        <p:sp>
          <p:nvSpPr>
            <p:cNvPr id="7" name="Polyline 7"/>
            <p:cNvSpPr/>
            <p:nvPr/>
          </p:nvSpPr>
          <p:spPr>
            <a:xfrm>
              <a:off x="1047750" y="3810000"/>
              <a:ext cx="1809750" cy="1076325"/>
            </a:xfrm>
            <a:custGeom>
              <a:avLst/>
              <a:gdLst/>
              <a:ahLst/>
              <a:cxnLst/>
              <a:rect l="l" t="t" r="r" b="b"/>
              <a:pathLst>
                <a:path w="1809750" h="1076325">
                  <a:moveTo>
                    <a:pt x="1809750" y="0"/>
                  </a:moveTo>
                  <a:lnTo>
                    <a:pt x="0" y="0"/>
                  </a:lnTo>
                  <a:lnTo>
                    <a:pt x="0" y="1076325"/>
                  </a:lnTo>
                  <a:lnTo>
                    <a:pt x="1771650" y="1076325"/>
                  </a:lnTo>
                </a:path>
              </a:pathLst>
            </a:custGeom>
            <a:noFill/>
            <a:ln w="14288">
              <a:solidFill>
                <a:schemeClr val="accent2"/>
              </a:solidFill>
              <a:prstDash val="lgDash"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98092" y="21974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7092" y="38928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②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2857500" y="1857375"/>
              <a:ext cx="9525" cy="3028950"/>
            </a:xfrm>
            <a:custGeom>
              <a:avLst/>
              <a:gdLst/>
              <a:ahLst/>
              <a:cxnLst/>
              <a:rect l="l" t="t" r="r" b="b"/>
              <a:pathLst>
                <a:path w="9525" h="3028950">
                  <a:moveTo>
                    <a:pt x="0" y="0"/>
                  </a:moveTo>
                  <a:lnTo>
                    <a:pt x="0" y="302895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2809875" y="1809750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2809875" y="23145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2809875" y="2819400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2809875" y="3829050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2809875" y="43338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2752725" y="3267075"/>
              <a:ext cx="209550" cy="209550"/>
            </a:xfrm>
            <a:prstGeom prst="ellipse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00664" y="329279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2752725" y="4781550"/>
              <a:ext cx="209550" cy="209550"/>
            </a:xfrm>
            <a:prstGeom prst="ellipse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800664" y="48072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36392" y="1768792"/>
              <a:ext cx="5771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输入 x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136392" y="2273618"/>
              <a:ext cx="21193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Norm① input_layernorm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36392" y="2778442"/>
              <a:ext cx="18332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GQA self.self_attn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136392" y="3283268"/>
              <a:ext cx="895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⊕① 192 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36392" y="3788092"/>
              <a:ext cx="25193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Norm② post_attn_layernorm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36392" y="4292918"/>
              <a:ext cx="12335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FFN self.mlp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36392" y="4797742"/>
              <a:ext cx="895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⊕② 193 行</a:t>
              </a:r>
            </a:p>
          </p:txBody>
        </p:sp>
      </p:grpSp>
      <p:grpSp>
        <p:nvGrpSpPr>
          <p:cNvPr id="30" name="note-residual"/>
          <p:cNvGrpSpPr/>
          <p:nvPr/>
        </p:nvGrpSpPr>
        <p:grpSpPr>
          <a:xfrm>
            <a:off x="6277356" y="1710690"/>
            <a:ext cx="3487864" cy="1055561"/>
            <a:chOff x="6277356" y="1710690"/>
            <a:chExt cx="3487864" cy="1055561"/>
          </a:xfrm>
        </p:grpSpPr>
        <p:sp>
          <p:nvSpPr>
            <p:cNvPr id="28" name="TextBox 28"/>
            <p:cNvSpPr txBox="1"/>
            <p:nvPr/>
          </p:nvSpPr>
          <p:spPr>
            <a:xfrm>
              <a:off x="6277356" y="1710690"/>
              <a:ext cx="29085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残差连接 187 / 192 / 193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79642" y="2006918"/>
              <a:ext cx="3485578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梯度高速公路——反向传播时梯度可以顺着 + 号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原样流回底层，不被 8 层非线性衰减；子层只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需要学「对当前表示的修正量」。</a:t>
              </a:r>
            </a:p>
          </p:txBody>
        </p:sp>
      </p:grpSp>
      <p:grpSp>
        <p:nvGrpSpPr>
          <p:cNvPr id="33" name="note-relay"/>
          <p:cNvGrpSpPr/>
          <p:nvPr/>
        </p:nvGrpSpPr>
        <p:grpSpPr>
          <a:xfrm>
            <a:off x="6277356" y="2796540"/>
            <a:ext cx="3985070" cy="1055561"/>
            <a:chOff x="6277356" y="2796540"/>
            <a:chExt cx="3985070" cy="1055561"/>
          </a:xfrm>
        </p:grpSpPr>
        <p:sp>
          <p:nvSpPr>
            <p:cNvPr id="31" name="TextBox 31"/>
            <p:cNvSpPr txBox="1"/>
            <p:nvPr/>
          </p:nvSpPr>
          <p:spPr>
            <a:xfrm>
              <a:off x="6277356" y="2796540"/>
              <a:ext cx="32568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⚠ 两条捷径是接力，不是并列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79642" y="3092768"/>
              <a:ext cx="3982784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193 行的 hidden_states 已经是 192 行累加后的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值——捷径②的起点在 ⊕① 之后。每条残差的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「抄写时刻」都在对应 Norm 之前、上一个 ⊕ 之后。</a:t>
              </a:r>
            </a:p>
          </p:txBody>
        </p:sp>
      </p:grpSp>
      <p:grpSp>
        <p:nvGrpSpPr>
          <p:cNvPr id="38" name="note-rmsnorm"/>
          <p:cNvGrpSpPr/>
          <p:nvPr/>
        </p:nvGrpSpPr>
        <p:grpSpPr>
          <a:xfrm>
            <a:off x="6277356" y="3882390"/>
            <a:ext cx="4033628" cy="1265111"/>
            <a:chOff x="6277356" y="3882390"/>
            <a:chExt cx="4033628" cy="1265111"/>
          </a:xfrm>
        </p:grpSpPr>
        <p:sp>
          <p:nvSpPr>
            <p:cNvPr id="34" name="TextBox 34"/>
            <p:cNvSpPr txBox="1"/>
            <p:nvPr/>
          </p:nvSpPr>
          <p:spPr>
            <a:xfrm>
              <a:off x="6277356" y="3882390"/>
              <a:ext cx="22568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RMSNorm 50-60 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79642" y="4178618"/>
              <a:ext cx="16130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x * torch.rsqrt(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89192" y="4388168"/>
              <a:ext cx="38217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x.pow(2).mean(-1, keepdim=True) + eps)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79642" y="4635818"/>
              <a:ext cx="3708463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只除以均方根，再乘一个可学习的缩放 weight；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比 LayerNorm 少了减均值和偏置，更快更省。</a:t>
              </a:r>
            </a:p>
          </p:txBody>
        </p:sp>
      </p:grpSp>
      <p:grpSp>
        <p:nvGrpSpPr>
          <p:cNvPr id="40" name="note-three-norms"/>
          <p:cNvGrpSpPr/>
          <p:nvPr/>
        </p:nvGrpSpPr>
        <p:grpSpPr>
          <a:xfrm>
            <a:off x="6279642" y="5340668"/>
            <a:ext cx="4557141" cy="511683"/>
            <a:chOff x="6279642" y="5340668"/>
            <a:chExt cx="4557141" cy="511683"/>
          </a:xfrm>
        </p:grpSpPr>
        <p:sp>
          <p:nvSpPr>
            <p:cNvPr id="39" name="TextBox 39"/>
            <p:cNvSpPr txBox="1"/>
            <p:nvPr/>
          </p:nvSpPr>
          <p:spPr>
            <a:xfrm>
              <a:off x="6279642" y="5340668"/>
              <a:ext cx="455714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三种 RMSNorm：Pre-Norm ×2（182/183 → 189/193）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QK-Norm（104-105 → 117）、最后全局 1 个（204 → 230）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rmsnorm-formula"/>
              <p:cNvSpPr txBox="1">
                <a:spLocks noGrp="1"/>
              </p:cNvSpPr>
              <p:nvPr/>
            </p:nvSpPr>
            <p:spPr>
              <a:xfrm>
                <a:off x="609600" y="5257800"/>
                <a:ext cx="5334000" cy="590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800" dirty="0">
                          <a:solidFill>
                            <a:srgbClr val="DCE6F2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RMSNorm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DCE6F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DCE6F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DCE6F2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DCE6F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DCE6F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sz="1800" dirty="0">
                                  <a:solidFill>
                                    <a:srgbClr val="DCE6F2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type m:val="bar"/>
                                  <m:ctrlPr>
                                    <a:rPr lang="zh-CN" sz="1800" dirty="0">
                                      <a:solidFill>
                                        <a:srgbClr val="DCE6F2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800" dirty="0">
                                      <a:solidFill>
                                        <a:srgbClr val="DCE6F2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sz="1800" dirty="0">
                                      <a:solidFill>
                                        <a:srgbClr val="DCE6F2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limLoc m:val="undOvr"/>
                                  <m:grow m:val="off"/>
                                  <m:subHide m:val="off"/>
                                  <m:supHide m:val="off"/>
                                  <m:ctrlPr>
                                    <a:rPr lang="zh-CN" sz="1800" dirty="0">
                                      <a:solidFill>
                                        <a:srgbClr val="DCE6F2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zh-CN" sz="1800" dirty="0">
                                      <a:solidFill>
                                        <a:srgbClr val="DCE6F2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DCE6F2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=</m:t>
                                  </m:r>
                                  <m:r>
                                    <a:rPr lang="zh-CN" sz="1800" dirty="0">
                                      <a:solidFill>
                                        <a:srgbClr val="DCE6F2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sz="1800" dirty="0">
                                      <a:solidFill>
                                        <a:srgbClr val="DCE6F2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</m:t>
                                  </m:r>
                                </m:sup>
                                <m:e>
                                  <m:sSubSup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DCE6F2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800" dirty="0">
                                          <a:solidFill>
                                            <a:srgbClr val="DCE6F2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  <m:sup>
                                      <m:r>
                                        <a:rPr lang="zh-CN" sz="1800" dirty="0">
                                          <a:solidFill>
                                            <a:srgbClr val="DCE6F2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DCE6F2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DCE6F2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ϵ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DCE6F2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800" dirty="0">
                          <a:solidFill>
                            <a:srgbClr val="DCE6F2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γ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4" name="page-footer"/>
          <p:cNvGrpSpPr/>
          <p:nvPr/>
        </p:nvGrpSpPr>
        <p:grpSpPr>
          <a:xfrm>
            <a:off x="603504" y="6042660"/>
            <a:ext cx="10984992" cy="234696"/>
            <a:chOff x="603504" y="6042660"/>
            <a:chExt cx="10984992" cy="234696"/>
          </a:xfrm>
        </p:grpSpPr>
        <p:sp>
          <p:nvSpPr>
            <p:cNvPr id="42" name="TextBox 42"/>
            <p:cNvSpPr txBox="1"/>
            <p:nvPr/>
          </p:nvSpPr>
          <p:spPr>
            <a:xfrm>
              <a:off x="603504" y="6042660"/>
              <a:ext cx="12556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残差与 RMSNorm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035132" y="60426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5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40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backdrop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smGrid">
            <a:fgClr>
              <a:schemeClr val="accent1">
                <a:alpha val="8000"/>
              </a:schemeClr>
            </a:fgClr>
            <a:bgClr>
              <a:schemeClr val="lt1">
                <a:alpha val="8000"/>
              </a:schemeClr>
            </a:bgClr>
          </a:pattFill>
          <a:ln>
            <a:noFill/>
          </a:ln>
        </p:spPr>
      </p:sp>
      <p:grpSp>
        <p:nvGrpSpPr>
          <p:cNvPr id="5" name="page-header"/>
          <p:cNvGrpSpPr/>
          <p:nvPr/>
        </p:nvGrpSpPr>
        <p:grpSpPr>
          <a:xfrm>
            <a:off x="593598" y="650558"/>
            <a:ext cx="7744968" cy="937259"/>
            <a:chOff x="593598" y="650558"/>
            <a:chExt cx="7744968" cy="937259"/>
          </a:xfrm>
        </p:grpSpPr>
        <p:sp>
          <p:nvSpPr>
            <p:cNvPr id="3" name="TextBox 3"/>
            <p:cNvSpPr txBox="1"/>
            <p:nvPr/>
          </p:nvSpPr>
          <p:spPr>
            <a:xfrm>
              <a:off x="593598" y="650558"/>
              <a:ext cx="34244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把一层完整走一遍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170" y="1147762"/>
              <a:ext cx="774039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两次残差、两次 Pre-Norm，进出都是 (32, 340, 768)。</a:t>
              </a:r>
            </a:p>
          </p:txBody>
        </p:sp>
      </p:grpSp>
      <p:grpSp>
        <p:nvGrpSpPr>
          <p:cNvPr id="41" name="block-walkthrough"/>
          <p:cNvGrpSpPr/>
          <p:nvPr/>
        </p:nvGrpSpPr>
        <p:grpSpPr>
          <a:xfrm>
            <a:off x="601980" y="1866900"/>
            <a:ext cx="10988040" cy="3352800"/>
            <a:chOff x="601980" y="1866900"/>
            <a:chExt cx="10988040" cy="3352800"/>
          </a:xfrm>
        </p:grpSpPr>
        <p:sp>
          <p:nvSpPr>
            <p:cNvPr id="6" name="Line 6"/>
            <p:cNvSpPr/>
            <p:nvPr/>
          </p:nvSpPr>
          <p:spPr>
            <a:xfrm>
              <a:off x="1066800" y="1866900"/>
              <a:ext cx="9525" cy="3352800"/>
            </a:xfrm>
            <a:custGeom>
              <a:avLst/>
              <a:gdLst/>
              <a:ahLst/>
              <a:cxnLst/>
              <a:rect l="l" t="t" r="r" b="b"/>
              <a:pathLst>
                <a:path w="9525" h="3352800">
                  <a:moveTo>
                    <a:pt x="0" y="0"/>
                  </a:moveTo>
                  <a:lnTo>
                    <a:pt x="0" y="335280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" y="2343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09600" y="2876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09600" y="34099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09600" y="3943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09600" y="47434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019175" y="19907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019175" y="252412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019175" y="305752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981075" y="3552825"/>
              <a:ext cx="171450" cy="171450"/>
            </a:xfrm>
            <a:prstGeom prst="ellipse">
              <a:avLst/>
            </a:prstGeom>
            <a:solidFill>
              <a:schemeClr val="l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981075" y="4086225"/>
              <a:ext cx="171450" cy="171450"/>
            </a:xfrm>
            <a:prstGeom prst="ellipse">
              <a:avLst/>
            </a:prstGeom>
            <a:solidFill>
              <a:schemeClr val="l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019175" y="492442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22594" y="35823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22594" y="41157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1980" y="193357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187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25880" y="1933575"/>
              <a:ext cx="26807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residual = hidden_states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242042" y="1933575"/>
              <a:ext cx="13479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(32,340,768)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3504" y="21755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捷径分出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1980" y="246697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189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25880" y="2466975"/>
              <a:ext cx="37913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x = input_layernorm(hidden_states)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242042" y="2466975"/>
              <a:ext cx="13479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(32,340,768)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1980" y="300037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188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25880" y="3000375"/>
              <a:ext cx="40134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attn_out = self_attn(x, rope, kv...)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596905" y="3016568"/>
              <a:ext cx="9923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见 P05-P08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1980" y="353377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192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25880" y="3533775"/>
              <a:ext cx="27917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hidden_states += residual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242042" y="3533775"/>
              <a:ext cx="13479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(32,340,768)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54360" y="377571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第一个 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1980" y="406717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193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25880" y="4067175"/>
              <a:ext cx="45687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hidden_states = hidden_states + self.mlp(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554480" y="429577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post_attention_layernorm(hidden_states))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242042" y="4067175"/>
              <a:ext cx="13479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(32,340,768)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954360" y="43281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第二个 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1980" y="486727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194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325880" y="4867275"/>
              <a:ext cx="43466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return hidden_states, present_key_value</a:t>
              </a:r>
            </a:p>
          </p:txBody>
        </p:sp>
      </p:grpSp>
      <p:grpSp>
        <p:nvGrpSpPr>
          <p:cNvPr id="46" name="layer-formula"/>
          <p:cNvGrpSpPr/>
          <p:nvPr/>
        </p:nvGrpSpPr>
        <p:grpSpPr>
          <a:xfrm>
            <a:off x="609600" y="5391150"/>
            <a:ext cx="10972800" cy="594551"/>
            <a:chOff x="609600" y="5391150"/>
            <a:chExt cx="10972800" cy="594551"/>
          </a:xfrm>
        </p:grpSpPr>
        <p:sp>
          <p:nvSpPr>
            <p:cNvPr id="42" name="Rectangle 42"/>
            <p:cNvSpPr/>
            <p:nvPr/>
          </p:nvSpPr>
          <p:spPr>
            <a:xfrm>
              <a:off x="609600" y="5391150"/>
              <a:ext cx="10972800" cy="571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09600" y="5391150"/>
              <a:ext cx="28575" cy="57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31342" y="5474018"/>
              <a:ext cx="63109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一层的公式：</a:t>
              </a:r>
              <a:r>
                <a:rPr lang="en-US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x = x + Attention(Norm(x))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｜　</a:t>
              </a:r>
              <a:r>
                <a:rPr lang="en-US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x = x + FFN(Norm(x))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1342" y="5721668"/>
              <a:ext cx="68106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形状守恒 + 残差累加，这就是 8 层能稳定串联的秘密——残差要求两边形状严格一致。</a:t>
              </a:r>
            </a:p>
          </p:txBody>
        </p:sp>
      </p:grpSp>
      <p:grpSp>
        <p:nvGrpSpPr>
          <p:cNvPr id="49" name="page-footer"/>
          <p:cNvGrpSpPr/>
          <p:nvPr/>
        </p:nvGrpSpPr>
        <p:grpSpPr>
          <a:xfrm>
            <a:off x="603504" y="6042660"/>
            <a:ext cx="10984992" cy="234696"/>
            <a:chOff x="603504" y="6042660"/>
            <a:chExt cx="10984992" cy="234696"/>
          </a:xfrm>
        </p:grpSpPr>
        <p:sp>
          <p:nvSpPr>
            <p:cNvPr id="47" name="TextBox 47"/>
            <p:cNvSpPr txBox="1"/>
            <p:nvPr/>
          </p:nvSpPr>
          <p:spPr>
            <a:xfrm>
              <a:off x="603504" y="60426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把一层完整走一遍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035132" y="60426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backdrop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smGrid">
            <a:fgClr>
              <a:schemeClr val="accent1">
                <a:alpha val="8000"/>
              </a:schemeClr>
            </a:fgClr>
            <a:bgClr>
              <a:schemeClr val="lt1">
                <a:alpha val="8000"/>
              </a:schemeClr>
            </a:bgClr>
          </a:pattFill>
          <a:ln>
            <a:noFill/>
          </a:ln>
        </p:spPr>
      </p:sp>
      <p:grpSp>
        <p:nvGrpSpPr>
          <p:cNvPr id="5" name="page-header"/>
          <p:cNvGrpSpPr/>
          <p:nvPr/>
        </p:nvGrpSpPr>
        <p:grpSpPr>
          <a:xfrm>
            <a:off x="593598" y="650558"/>
            <a:ext cx="7387780" cy="937259"/>
            <a:chOff x="593598" y="650558"/>
            <a:chExt cx="7387780" cy="937259"/>
          </a:xfrm>
        </p:grpSpPr>
        <p:sp>
          <p:nvSpPr>
            <p:cNvPr id="3" name="TextBox 3"/>
            <p:cNvSpPr txBox="1"/>
            <p:nvPr/>
          </p:nvSpPr>
          <p:spPr>
            <a:xfrm>
              <a:off x="593598" y="650558"/>
              <a:ext cx="295478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 层堆叠与出口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170" y="1147762"/>
              <a:ext cx="738320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形状守恒 + 残差累加，这就是 8 层能稳定串联的秘密。</a:t>
              </a:r>
            </a:p>
          </p:txBody>
        </p:sp>
      </p:grpSp>
      <p:grpSp>
        <p:nvGrpSpPr>
          <p:cNvPr id="24" name="stack-loop"/>
          <p:cNvGrpSpPr/>
          <p:nvPr/>
        </p:nvGrpSpPr>
        <p:grpSpPr>
          <a:xfrm>
            <a:off x="609600" y="1876425"/>
            <a:ext cx="10439705" cy="2124075"/>
            <a:chOff x="609600" y="1876425"/>
            <a:chExt cx="10439705" cy="2124075"/>
          </a:xfrm>
        </p:grpSpPr>
        <p:sp>
          <p:nvSpPr>
            <p:cNvPr id="6" name="Rectangle 6"/>
            <p:cNvSpPr/>
            <p:nvPr/>
          </p:nvSpPr>
          <p:spPr>
            <a:xfrm>
              <a:off x="609600" y="1905000"/>
              <a:ext cx="3048000" cy="2286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2171700"/>
              <a:ext cx="3048000" cy="2286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09600" y="2438400"/>
              <a:ext cx="3048000" cy="2286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" y="2705100"/>
              <a:ext cx="3048000" cy="2286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2971800"/>
              <a:ext cx="3048000" cy="2286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3238500"/>
              <a:ext cx="3048000" cy="2286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3505200"/>
              <a:ext cx="3048000" cy="2286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3771900"/>
              <a:ext cx="3048000" cy="2286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029200" y="1905000"/>
              <a:ext cx="266700" cy="2095500"/>
            </a:xfrm>
            <a:prstGeom prst="rightBrace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181856" y="2663190"/>
              <a:ext cx="6931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× 8 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84904" y="2975610"/>
              <a:ext cx="481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K = 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16880" y="1876425"/>
              <a:ext cx="31249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for layer, past_key_value in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45480" y="2124075"/>
              <a:ext cx="37913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zip(self.layers, past_key_values):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745480" y="2371725"/>
              <a:ext cx="39023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hidden_states, present = layer(...)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16880" y="2619375"/>
              <a:ext cx="51240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hidden_states = self.norm(hidden_states) # 230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16880" y="2867025"/>
              <a:ext cx="27917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aux_loss = sum(...) # 231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17642" y="3283268"/>
              <a:ext cx="55316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逐层精炼，形状不变；self.layers 是 ModuleList（203 行堆叠）。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17642" y="3530918"/>
              <a:ext cx="41000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aux_loss 是 MoE 负载均衡损失——非 MoE 时为 0。</a:t>
              </a:r>
            </a:p>
          </p:txBody>
        </p:sp>
      </p:grpSp>
      <p:grpSp>
        <p:nvGrpSpPr>
          <p:cNvPr id="43" name="exit-flow"/>
          <p:cNvGrpSpPr/>
          <p:nvPr/>
        </p:nvGrpSpPr>
        <p:grpSpPr>
          <a:xfrm>
            <a:off x="602742" y="4305300"/>
            <a:ext cx="10751058" cy="1476756"/>
            <a:chOff x="602742" y="4305300"/>
            <a:chExt cx="10751058" cy="1476756"/>
          </a:xfrm>
        </p:grpSpPr>
        <p:sp>
          <p:nvSpPr>
            <p:cNvPr id="25" name="Rectangle 25"/>
            <p:cNvSpPr/>
            <p:nvPr/>
          </p:nvSpPr>
          <p:spPr>
            <a:xfrm>
              <a:off x="609600" y="4305300"/>
              <a:ext cx="2286000" cy="4953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343692" y="4371975"/>
              <a:ext cx="8178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RMSNorm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46683" y="4594860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204 / 230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429000" y="4305300"/>
              <a:ext cx="2286000" cy="4953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783282" y="4371975"/>
              <a:ext cx="1577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Linear lm_head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166083" y="4594860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241 / 248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248400" y="4305300"/>
              <a:ext cx="2286000" cy="495300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 w="14288">
              <a:solidFill>
                <a:schemeClr val="accent1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34832" y="438816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(32,340,6400)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59142" y="4594860"/>
              <a:ext cx="464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logits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067800" y="4305300"/>
              <a:ext cx="2286000" cy="49530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554232" y="438816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cross_entropy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946234" y="4594860"/>
              <a:ext cx="5291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252 行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2895600" y="4552950"/>
              <a:ext cx="476250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8" name="Line 38"/>
            <p:cNvSpPr/>
            <p:nvPr/>
          </p:nvSpPr>
          <p:spPr>
            <a:xfrm>
              <a:off x="5715000" y="4552950"/>
              <a:ext cx="476250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9" name="Line 39"/>
            <p:cNvSpPr/>
            <p:nvPr/>
          </p:nvSpPr>
          <p:spPr>
            <a:xfrm>
              <a:off x="8534400" y="4552950"/>
              <a:ext cx="476250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02742" y="5035868"/>
              <a:ext cx="72195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错位对齐：</a:t>
              </a:r>
              <a:r>
                <a:rPr lang="zh-CN" sz="13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第 i 个位置预测第 i+1 个 token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；labels 中 pad = −100 的位置不计 loss。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2742" y="5302568"/>
              <a:ext cx="97275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逐层所学：浅层 1-2 局部语法（搭配、词性、短语边界）· 中层 3-6 语义（指代消解、句内逻辑）· 深层 7-8 任务级模式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3504" y="5547360"/>
              <a:ext cx="87445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词表大小只影响 embedding + lm_head 两处参数（绑定后 6400×768 ≈ 4.9M，占 64M 模型的 ~8%），与 8 层主体无关。</a:t>
              </a:r>
            </a:p>
          </p:txBody>
        </p:sp>
      </p:grpSp>
      <p:grpSp>
        <p:nvGrpSpPr>
          <p:cNvPr id="46" name="page-footer"/>
          <p:cNvGrpSpPr/>
          <p:nvPr/>
        </p:nvGrpSpPr>
        <p:grpSpPr>
          <a:xfrm>
            <a:off x="603504" y="6042660"/>
            <a:ext cx="10984992" cy="234696"/>
            <a:chOff x="603504" y="6042660"/>
            <a:chExt cx="10984992" cy="234696"/>
          </a:xfrm>
        </p:grpSpPr>
        <p:sp>
          <p:nvSpPr>
            <p:cNvPr id="44" name="TextBox 44"/>
            <p:cNvSpPr txBox="1"/>
            <p:nvPr/>
          </p:nvSpPr>
          <p:spPr>
            <a:xfrm>
              <a:off x="603504" y="6042660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 层堆叠与出口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035132" y="60426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backdrop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smGrid">
            <a:fgClr>
              <a:schemeClr val="accent1">
                <a:alpha val="8000"/>
              </a:schemeClr>
            </a:fgClr>
            <a:bgClr>
              <a:schemeClr val="lt1">
                <a:alpha val="8000"/>
              </a:schemeClr>
            </a:bgClr>
          </a:pattFill>
          <a:ln>
            <a:noFill/>
          </a:ln>
        </p:spPr>
      </p:sp>
      <p:grpSp>
        <p:nvGrpSpPr>
          <p:cNvPr id="5" name="page-header"/>
          <p:cNvGrpSpPr/>
          <p:nvPr/>
        </p:nvGrpSpPr>
        <p:grpSpPr>
          <a:xfrm>
            <a:off x="593598" y="650558"/>
            <a:ext cx="9735217" cy="937259"/>
            <a:chOff x="593598" y="650558"/>
            <a:chExt cx="9735217" cy="937259"/>
          </a:xfrm>
        </p:grpSpPr>
        <p:sp>
          <p:nvSpPr>
            <p:cNvPr id="3" name="TextBox 3"/>
            <p:cNvSpPr txBox="1"/>
            <p:nvPr/>
          </p:nvSpPr>
          <p:spPr>
            <a:xfrm>
              <a:off x="593598" y="650558"/>
              <a:ext cx="427253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同一套代码，两种走法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170" y="1147762"/>
              <a:ext cx="97306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训练一次喂全句、并行算所有位置；推理逐 token、每步只算一个新词。</a:t>
              </a:r>
            </a:p>
          </p:txBody>
        </p:sp>
      </p:grpSp>
      <p:grpSp>
        <p:nvGrpSpPr>
          <p:cNvPr id="45" name="train-vs-infer"/>
          <p:cNvGrpSpPr/>
          <p:nvPr/>
        </p:nvGrpSpPr>
        <p:grpSpPr>
          <a:xfrm>
            <a:off x="609600" y="1905000"/>
            <a:ext cx="10972800" cy="3771900"/>
            <a:chOff x="609600" y="1905000"/>
            <a:chExt cx="10972800" cy="3771900"/>
          </a:xfrm>
        </p:grpSpPr>
        <p:sp>
          <p:nvSpPr>
            <p:cNvPr id="6" name="Rectangle 6"/>
            <p:cNvSpPr/>
            <p:nvPr/>
          </p:nvSpPr>
          <p:spPr>
            <a:xfrm>
              <a:off x="609600" y="1905000"/>
              <a:ext cx="1097280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905000"/>
              <a:ext cx="10972800" cy="377190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09600" y="240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953000" y="1905000"/>
              <a:ext cx="9525" cy="3771900"/>
            </a:xfrm>
            <a:custGeom>
              <a:avLst/>
              <a:gdLst/>
              <a:ahLst/>
              <a:cxnLst/>
              <a:rect l="l" t="t" r="r" b="b"/>
              <a:pathLst>
                <a:path w="9525" h="3771900">
                  <a:moveTo>
                    <a:pt x="0" y="0"/>
                  </a:moveTo>
                  <a:lnTo>
                    <a:pt x="0" y="37719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267700" y="1905000"/>
              <a:ext cx="9525" cy="3771900"/>
            </a:xfrm>
            <a:custGeom>
              <a:avLst/>
              <a:gdLst/>
              <a:ahLst/>
              <a:cxnLst/>
              <a:rect l="l" t="t" r="r" b="b"/>
              <a:pathLst>
                <a:path w="9525" h="3771900">
                  <a:moveTo>
                    <a:pt x="0" y="0"/>
                  </a:moveTo>
                  <a:lnTo>
                    <a:pt x="0" y="37719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09600" y="28098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609600" y="32194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9600" y="36290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09600" y="4038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609600" y="44481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609600" y="4857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609600" y="52673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1342" y="20640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21755" y="20640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训练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36455" y="20640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推理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1342" y="2521268"/>
              <a:ext cx="9114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input 形状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76544" y="25212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(32, 340) 全序列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82068" y="2521268"/>
              <a:ext cx="10859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(32, 1) 每步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1342" y="2930842"/>
              <a:ext cx="9582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start_pos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53514" y="29308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23048" y="2930842"/>
              <a:ext cx="14040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t−1（缓存长度）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1342" y="3340418"/>
              <a:ext cx="8745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RoPE 切片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53648" y="334041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[0:340]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68348" y="334041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[t−1:t]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1342" y="37499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打分阵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903805" y="3749992"/>
              <a:ext cx="1413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(32,8,340,340)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68393" y="3749992"/>
              <a:ext cx="913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(1,8,1,t)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1342" y="4159568"/>
              <a:ext cx="6594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KV 缓存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637200" y="4159568"/>
              <a:ext cx="1946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不用（present=None）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52750" y="4159568"/>
              <a:ext cx="11446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每层攒 (K,V)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1342" y="4569142"/>
              <a:ext cx="471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mask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503983" y="4569142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因果(−inf) + 可能 padding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91244" y="45691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无（历史全合法）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1342" y="4978718"/>
              <a:ext cx="12072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softmax 位置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535787" y="4978718"/>
              <a:ext cx="21491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融合在 cross_entropy 内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05735" y="4978718"/>
              <a:ext cx="1838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SDPA 内 / 手写 131 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1342" y="5388292"/>
              <a:ext cx="1714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Tokenizer Decoder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30886" y="53882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不需要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191244" y="538829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需要（id → 文字）</a:t>
              </a:r>
            </a:p>
          </p:txBody>
        </p:sp>
      </p:grpSp>
      <p:grpSp>
        <p:nvGrpSpPr>
          <p:cNvPr id="47" name="train-note"/>
          <p:cNvGrpSpPr/>
          <p:nvPr/>
        </p:nvGrpSpPr>
        <p:grpSpPr>
          <a:xfrm>
            <a:off x="602742" y="5721668"/>
            <a:ext cx="6392685" cy="264033"/>
            <a:chOff x="602742" y="5721668"/>
            <a:chExt cx="6392685" cy="264033"/>
          </a:xfrm>
        </p:grpSpPr>
        <p:sp>
          <p:nvSpPr>
            <p:cNvPr id="46" name="TextBox 46"/>
            <p:cNvSpPr txBox="1"/>
            <p:nvPr/>
          </p:nvSpPr>
          <p:spPr>
            <a:xfrm>
              <a:off x="602742" y="5721668"/>
              <a:ext cx="63926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训练 = 340 个「第 1 步 prefill」并行发生——同一套 forward，两种调用方式。</a:t>
              </a:r>
            </a:p>
          </p:txBody>
        </p:sp>
      </p:grpSp>
      <p:grpSp>
        <p:nvGrpSpPr>
          <p:cNvPr id="50" name="page-footer"/>
          <p:cNvGrpSpPr/>
          <p:nvPr/>
        </p:nvGrpSpPr>
        <p:grpSpPr>
          <a:xfrm>
            <a:off x="603504" y="6042660"/>
            <a:ext cx="10984992" cy="234696"/>
            <a:chOff x="603504" y="6042660"/>
            <a:chExt cx="10984992" cy="234696"/>
          </a:xfrm>
        </p:grpSpPr>
        <p:sp>
          <p:nvSpPr>
            <p:cNvPr id="48" name="TextBox 48"/>
            <p:cNvSpPr txBox="1"/>
            <p:nvPr/>
          </p:nvSpPr>
          <p:spPr>
            <a:xfrm>
              <a:off x="603504" y="6042660"/>
              <a:ext cx="9329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训练 vs 推理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035132" y="60426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backdrop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smGrid">
            <a:fgClr>
              <a:schemeClr val="accent1">
                <a:alpha val="8000"/>
              </a:schemeClr>
            </a:fgClr>
            <a:bgClr>
              <a:schemeClr val="lt1">
                <a:alpha val="8000"/>
              </a:schemeClr>
            </a:bgClr>
          </a:pattFill>
          <a:ln>
            <a:noFill/>
          </a:ln>
        </p:spPr>
      </p:sp>
      <p:grpSp>
        <p:nvGrpSpPr>
          <p:cNvPr id="5" name="page-header"/>
          <p:cNvGrpSpPr/>
          <p:nvPr/>
        </p:nvGrpSpPr>
        <p:grpSpPr>
          <a:xfrm>
            <a:off x="593598" y="650558"/>
            <a:ext cx="8251031" cy="937259"/>
            <a:chOff x="593598" y="650558"/>
            <a:chExt cx="8251031" cy="937259"/>
          </a:xfrm>
        </p:grpSpPr>
        <p:sp>
          <p:nvSpPr>
            <p:cNvPr id="3" name="TextBox 3"/>
            <p:cNvSpPr txBox="1"/>
            <p:nvPr/>
          </p:nvSpPr>
          <p:spPr>
            <a:xfrm>
              <a:off x="593598" y="650558"/>
              <a:ext cx="78407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Prefill 与 Decode：一次喂进，逐字吐出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170" y="1147762"/>
              <a:ext cx="824645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 1 步并行吃进整个 prompt，之后每步只喂 1 个新 token。</a:t>
              </a:r>
            </a:p>
          </p:txBody>
        </p:sp>
      </p:grpSp>
      <p:grpSp>
        <p:nvGrpSpPr>
          <p:cNvPr id="38" name="infer-timeline"/>
          <p:cNvGrpSpPr/>
          <p:nvPr/>
        </p:nvGrpSpPr>
        <p:grpSpPr>
          <a:xfrm>
            <a:off x="942870" y="1759268"/>
            <a:ext cx="10582380" cy="1711833"/>
            <a:chOff x="942870" y="1759268"/>
            <a:chExt cx="10582380" cy="1711833"/>
          </a:xfrm>
        </p:grpSpPr>
        <p:sp>
          <p:nvSpPr>
            <p:cNvPr id="6" name="TextBox 6"/>
            <p:cNvSpPr txBox="1"/>
            <p:nvPr/>
          </p:nvSpPr>
          <p:spPr>
            <a:xfrm>
              <a:off x="1467164" y="17592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244301" y="1759268"/>
              <a:ext cx="1131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缓存诞生 3 格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766559" y="1759268"/>
              <a:ext cx="6588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 → 4 格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52559" y="1759268"/>
              <a:ext cx="6588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 → 5 格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611164" y="17592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53668" y="20640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「我爱」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03276" y="206406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(1, 3)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89276" y="206406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(1, 1)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075276" y="206406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(1, 1)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02722" y="206406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EOS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1524000" y="2619375"/>
              <a:ext cx="10001250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7" name="Ellipse 17"/>
            <p:cNvSpPr/>
            <p:nvPr/>
          </p:nvSpPr>
          <p:spPr>
            <a:xfrm>
              <a:off x="1428750" y="2524125"/>
              <a:ext cx="190500" cy="190500"/>
            </a:xfrm>
            <a:prstGeom prst="ellipse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3686175" y="2495550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000750" y="2524125"/>
              <a:ext cx="190500" cy="190500"/>
            </a:xfrm>
            <a:prstGeom prst="ellipse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8286750" y="2524125"/>
              <a:ext cx="190500" cy="190500"/>
            </a:xfrm>
            <a:prstGeom prst="ellipse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10572750" y="2524125"/>
              <a:ext cx="190500" cy="190500"/>
            </a:xfrm>
            <a:prstGeom prst="ellipse">
              <a:avLst/>
            </a:prstGeom>
            <a:solidFill>
              <a:schemeClr val="lt1"/>
            </a:solidFill>
            <a:ln w="23812">
              <a:solidFill>
                <a:schemeClr val="accent2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4762500" y="2428875"/>
              <a:ext cx="381000" cy="38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855274" y="254031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0D1A2B"/>
                  </a:solidFill>
                  <a:latin typeface="+mn-lt"/>
                  <a:ea typeface="+mn-ea"/>
                  <a:cs typeface="+mn-cs"/>
                </a:rPr>
                <a:t>天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048500" y="2428875"/>
              <a:ext cx="381000" cy="38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41274" y="254031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0D1A2B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9334500" y="2428875"/>
              <a:ext cx="381000" cy="38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361018" y="2546985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D1A2B"/>
                  </a:solidFill>
                  <a:latin typeface="+mn-lt"/>
                  <a:ea typeface="+mn-ea"/>
                  <a:cs typeface="+mn-cs"/>
                </a:rPr>
                <a:t>EOS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72540" y="28727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分词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16956" y="2872740"/>
              <a:ext cx="9860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PREFILL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616397" y="2872740"/>
              <a:ext cx="9592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DECODE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02397" y="2872740"/>
              <a:ext cx="9592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DECODE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416540" y="28727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停止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2870" y="3207068"/>
              <a:ext cx="11622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BOS · 我 · 爱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48889" y="3207068"/>
              <a:ext cx="13222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 个 token 并行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43931" y="32070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采样出「天」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29931" y="32070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采样出「空」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061410" y="3207068"/>
              <a:ext cx="121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decode 回文字</a:t>
              </a:r>
            </a:p>
          </p:txBody>
        </p:sp>
      </p:grpSp>
      <p:grpSp>
        <p:nvGrpSpPr>
          <p:cNvPr id="41" name="note-last-pos"/>
          <p:cNvGrpSpPr/>
          <p:nvPr/>
        </p:nvGrpSpPr>
        <p:grpSpPr>
          <a:xfrm>
            <a:off x="600456" y="3615690"/>
            <a:ext cx="3247834" cy="1055561"/>
            <a:chOff x="600456" y="3615690"/>
            <a:chExt cx="3247834" cy="1055561"/>
          </a:xfrm>
        </p:grpSpPr>
        <p:sp>
          <p:nvSpPr>
            <p:cNvPr id="39" name="TextBox 39"/>
            <p:cNvSpPr txBox="1"/>
            <p:nvPr/>
          </p:nvSpPr>
          <p:spPr>
            <a:xfrm>
              <a:off x="600456" y="36156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为什么只取最后位置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2742" y="3911918"/>
              <a:ext cx="3245548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位置 0/1 的预测是训练时算 loss 的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副产品；推理只关心「下一个词」。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247 行 logits_to_keep=1 就是为此省算力</a:t>
              </a:r>
            </a:p>
          </p:txBody>
        </p:sp>
      </p:grpSp>
      <p:grpSp>
        <p:nvGrpSpPr>
          <p:cNvPr id="44" name="note-rope-consistency"/>
          <p:cNvGrpSpPr/>
          <p:nvPr/>
        </p:nvGrpSpPr>
        <p:grpSpPr>
          <a:xfrm>
            <a:off x="4343781" y="3615690"/>
            <a:ext cx="2802064" cy="1055561"/>
            <a:chOff x="4343781" y="3615690"/>
            <a:chExt cx="2802064" cy="1055561"/>
          </a:xfrm>
        </p:grpSpPr>
        <p:sp>
          <p:nvSpPr>
            <p:cNvPr id="42" name="TextBox 42"/>
            <p:cNvSpPr txBox="1"/>
            <p:nvPr/>
          </p:nvSpPr>
          <p:spPr>
            <a:xfrm>
              <a:off x="4343781" y="3615690"/>
              <a:ext cx="18929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RoPE 位置一致性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346067" y="3911918"/>
              <a:ext cx="2799778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「天」在训练语料里若位于位置 3，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拿到的就是 freqs_cos[3]；推理时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同样取第 3 行——位置认知严格连续。</a:t>
              </a:r>
            </a:p>
          </p:txBody>
        </p:sp>
      </p:grpSp>
      <p:grpSp>
        <p:nvGrpSpPr>
          <p:cNvPr id="47" name="note-sampling"/>
          <p:cNvGrpSpPr/>
          <p:nvPr/>
        </p:nvGrpSpPr>
        <p:grpSpPr>
          <a:xfrm>
            <a:off x="8087106" y="3615690"/>
            <a:ext cx="2870644" cy="1055561"/>
            <a:chOff x="8087106" y="3615690"/>
            <a:chExt cx="2870644" cy="1055561"/>
          </a:xfrm>
        </p:grpSpPr>
        <p:sp>
          <p:nvSpPr>
            <p:cNvPr id="45" name="TextBox 45"/>
            <p:cNvSpPr txBox="1"/>
            <p:nvPr/>
          </p:nvSpPr>
          <p:spPr>
            <a:xfrm>
              <a:off x="8087106" y="36156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采样在哪一步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89392" y="3911918"/>
              <a:ext cx="2868358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在 softmax 之前对最后位置的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logits 依次做：除以 temperature、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 top-k → top-p → 采样（278 行）。</a:t>
              </a:r>
            </a:p>
          </p:txBody>
        </p:sp>
      </p:grpSp>
      <p:grpSp>
        <p:nvGrpSpPr>
          <p:cNvPr id="52" name="generate-loop"/>
          <p:cNvGrpSpPr/>
          <p:nvPr/>
        </p:nvGrpSpPr>
        <p:grpSpPr>
          <a:xfrm>
            <a:off x="601980" y="4848225"/>
            <a:ext cx="7018592" cy="1036320"/>
            <a:chOff x="601980" y="4848225"/>
            <a:chExt cx="7018592" cy="1036320"/>
          </a:xfrm>
        </p:grpSpPr>
        <p:sp>
          <p:nvSpPr>
            <p:cNvPr id="48" name="TextBox 48"/>
            <p:cNvSpPr txBox="1"/>
            <p:nvPr/>
          </p:nvSpPr>
          <p:spPr>
            <a:xfrm>
              <a:off x="601980" y="4848225"/>
              <a:ext cx="34581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for _ in range(max_new_tokens):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0580" y="5095875"/>
              <a:ext cx="67899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past_len = past_key_values[0][0].shape[1] if ... else 0 # 264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0580" y="5343525"/>
              <a:ext cx="59015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logits = outputs.logits[:, -1, :] / temperature # 267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0580" y="5591175"/>
              <a:ext cx="52351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past_key_values = outputs.past_key_values # 281</a:t>
              </a:r>
            </a:p>
          </p:txBody>
        </p:sp>
      </p:grpSp>
      <p:grpSp>
        <p:nvGrpSpPr>
          <p:cNvPr id="55" name="page-footer"/>
          <p:cNvGrpSpPr/>
          <p:nvPr/>
        </p:nvGrpSpPr>
        <p:grpSpPr>
          <a:xfrm>
            <a:off x="603504" y="6042660"/>
            <a:ext cx="10984992" cy="234696"/>
            <a:chOff x="603504" y="6042660"/>
            <a:chExt cx="10984992" cy="234696"/>
          </a:xfrm>
        </p:grpSpPr>
        <p:sp>
          <p:nvSpPr>
            <p:cNvPr id="53" name="TextBox 53"/>
            <p:cNvSpPr txBox="1"/>
            <p:nvPr/>
          </p:nvSpPr>
          <p:spPr>
            <a:xfrm>
              <a:off x="603504" y="6042660"/>
              <a:ext cx="13144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Prefill 与 Decode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035132" y="60426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5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backdrop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smGrid">
            <a:fgClr>
              <a:schemeClr val="accent1">
                <a:alpha val="8000"/>
              </a:schemeClr>
            </a:fgClr>
            <a:bgClr>
              <a:schemeClr val="lt1">
                <a:alpha val="8000"/>
              </a:schemeClr>
            </a:bgClr>
          </a:pattFill>
          <a:ln>
            <a:noFill/>
          </a:ln>
        </p:spPr>
      </p:sp>
      <p:grpSp>
        <p:nvGrpSpPr>
          <p:cNvPr id="5" name="page-header"/>
          <p:cNvGrpSpPr/>
          <p:nvPr/>
        </p:nvGrpSpPr>
        <p:grpSpPr>
          <a:xfrm>
            <a:off x="593598" y="650558"/>
            <a:ext cx="7645241" cy="937259"/>
            <a:chOff x="593598" y="650558"/>
            <a:chExt cx="7645241" cy="937259"/>
          </a:xfrm>
        </p:grpSpPr>
        <p:sp>
          <p:nvSpPr>
            <p:cNvPr id="3" name="TextBox 3"/>
            <p:cNvSpPr txBox="1"/>
            <p:nvPr/>
          </p:nvSpPr>
          <p:spPr>
            <a:xfrm>
              <a:off x="593598" y="650558"/>
              <a:ext cx="616517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KV Cache：缓存在长，成本在降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170" y="1147762"/>
              <a:ext cx="764066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每步每层只追加 1 个位置，但总计算量降了三个数量级。</a:t>
              </a:r>
            </a:p>
          </p:txBody>
        </p:sp>
      </p:grpSp>
      <p:grpSp>
        <p:nvGrpSpPr>
          <p:cNvPr id="55" name="kv-cache-evolution"/>
          <p:cNvGrpSpPr/>
          <p:nvPr/>
        </p:nvGrpSpPr>
        <p:grpSpPr>
          <a:xfrm>
            <a:off x="609600" y="1771650"/>
            <a:ext cx="10972800" cy="1600200"/>
            <a:chOff x="609600" y="1771650"/>
            <a:chExt cx="10972800" cy="1600200"/>
          </a:xfrm>
        </p:grpSpPr>
        <p:sp>
          <p:nvSpPr>
            <p:cNvPr id="6" name="Rectangle 6"/>
            <p:cNvSpPr/>
            <p:nvPr/>
          </p:nvSpPr>
          <p:spPr>
            <a:xfrm>
              <a:off x="609600" y="1771650"/>
              <a:ext cx="10972800" cy="457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771650"/>
              <a:ext cx="10972800" cy="160020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09600" y="2228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09600" y="2609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09600" y="2990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371600" y="1771650"/>
              <a:ext cx="9525" cy="1600200"/>
            </a:xfrm>
            <a:custGeom>
              <a:avLst/>
              <a:gdLst/>
              <a:ahLst/>
              <a:cxnLst/>
              <a:rect l="l" t="t" r="r" b="b"/>
              <a:pathLst>
                <a:path w="9525"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2324100" y="1771650"/>
              <a:ext cx="9525" cy="1600200"/>
            </a:xfrm>
            <a:custGeom>
              <a:avLst/>
              <a:gdLst/>
              <a:ahLst/>
              <a:cxnLst/>
              <a:rect l="l" t="t" r="r" b="b"/>
              <a:pathLst>
                <a:path w="9525"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4038600" y="1771650"/>
              <a:ext cx="9525" cy="1600200"/>
            </a:xfrm>
            <a:custGeom>
              <a:avLst/>
              <a:gdLst/>
              <a:ahLst/>
              <a:cxnLst/>
              <a:rect l="l" t="t" r="r" b="b"/>
              <a:pathLst>
                <a:path w="9525"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4991100" y="1771650"/>
              <a:ext cx="9525" cy="1600200"/>
            </a:xfrm>
            <a:custGeom>
              <a:avLst/>
              <a:gdLst/>
              <a:ahLst/>
              <a:cxnLst/>
              <a:rect l="l" t="t" r="r" b="b"/>
              <a:pathLst>
                <a:path w="9525"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6134100" y="1771650"/>
              <a:ext cx="9525" cy="1600200"/>
            </a:xfrm>
            <a:custGeom>
              <a:avLst/>
              <a:gdLst/>
              <a:ahLst/>
              <a:cxnLst/>
              <a:rect l="l" t="t" r="r" b="b"/>
              <a:pathLst>
                <a:path w="9525"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467600" y="1771650"/>
              <a:ext cx="9525" cy="1600200"/>
            </a:xfrm>
            <a:custGeom>
              <a:avLst/>
              <a:gdLst/>
              <a:ahLst/>
              <a:cxnLst/>
              <a:rect l="l" t="t" r="r" b="b"/>
              <a:pathLst>
                <a:path w="9525"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9277350" y="1771650"/>
              <a:ext cx="9525" cy="1600200"/>
            </a:xfrm>
            <a:custGeom>
              <a:avLst/>
              <a:gdLst/>
              <a:ahLst/>
              <a:cxnLst/>
              <a:rect l="l" t="t" r="r" b="b"/>
              <a:pathLst>
                <a:path w="9525"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0725150" y="1771650"/>
              <a:ext cx="9525" cy="1600200"/>
            </a:xfrm>
            <a:custGeom>
              <a:avLst/>
              <a:gdLst/>
              <a:ahLst/>
              <a:cxnLst/>
              <a:rect l="l" t="t" r="r" b="b"/>
              <a:pathLst>
                <a:path w="9525"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3915" y="19345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01165" y="19345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阶段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34665" y="19345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42180" y="1934528"/>
              <a:ext cx="7453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start_pos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22516" y="1934528"/>
              <a:ext cx="6801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RoPE 切片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01266" y="1934528"/>
              <a:ext cx="5991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新算 K/V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21766" y="1934528"/>
              <a:ext cx="11014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缓存 K(=V) 形状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783890" y="193452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打分阵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07090" y="19345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采样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0079" y="23374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89336" y="2337435"/>
              <a:ext cx="5170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Prefill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26741" y="2337435"/>
              <a:ext cx="15092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[BOS,我,爱] (1,3)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64329" y="23374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334381" y="233743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[0:3]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50508" y="2337435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(1,3,4,96)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99921" y="2337435"/>
              <a:ext cx="9451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(1,3,4,96)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95333" y="2337435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(1,8,3,3)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066907" y="233743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天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0079" y="27184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72692" y="2718435"/>
              <a:ext cx="5503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Decode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759278" y="2718435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[天] (1,1)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464329" y="27184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334381" y="271843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[3:4]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50508" y="2718435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(1,1,4,96)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99921" y="2718435"/>
              <a:ext cx="9451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(1,4,4,96)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595333" y="2718435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(1,8,1,4)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066907" y="271843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0079" y="30994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572692" y="3099435"/>
              <a:ext cx="5503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Decode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759278" y="3099435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[空] (1,1)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464329" y="30994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334381" y="309943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[4:5]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350508" y="3099435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(1,1,4,96)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99921" y="3099435"/>
              <a:ext cx="9451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(1,5,4,96)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595333" y="3099435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(1,8,1,5)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989793" y="3099435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EOS</a:t>
              </a:r>
            </a:p>
          </p:txBody>
        </p:sp>
      </p:grpSp>
      <p:grpSp>
        <p:nvGrpSpPr>
          <p:cNvPr id="58" name="note-memory"/>
          <p:cNvGrpSpPr/>
          <p:nvPr/>
        </p:nvGrpSpPr>
        <p:grpSpPr>
          <a:xfrm>
            <a:off x="600456" y="3577590"/>
            <a:ext cx="2724912" cy="1055561"/>
            <a:chOff x="600456" y="3577590"/>
            <a:chExt cx="2724912" cy="1055561"/>
          </a:xfrm>
        </p:grpSpPr>
        <p:sp>
          <p:nvSpPr>
            <p:cNvPr id="56" name="TextBox 56"/>
            <p:cNvSpPr txBox="1"/>
            <p:nvPr/>
          </p:nvSpPr>
          <p:spPr>
            <a:xfrm>
              <a:off x="600456" y="35775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缓存显存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02742" y="3873818"/>
              <a:ext cx="272262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 token 每层：2(K和V) × 1 × 4 头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× 96 × 2 字节(bf16) = 1536 B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 层生成 1024 token ≈ 12.6 MB。</a:t>
              </a:r>
            </a:p>
          </p:txBody>
        </p:sp>
      </p:grpSp>
      <p:grpSp>
        <p:nvGrpSpPr>
          <p:cNvPr id="61" name="note-gqa-half"/>
          <p:cNvGrpSpPr/>
          <p:nvPr/>
        </p:nvGrpSpPr>
        <p:grpSpPr>
          <a:xfrm>
            <a:off x="4305681" y="3577590"/>
            <a:ext cx="2630614" cy="1055561"/>
            <a:chOff x="4305681" y="3577590"/>
            <a:chExt cx="2630614" cy="1055561"/>
          </a:xfrm>
        </p:grpSpPr>
        <p:sp>
          <p:nvSpPr>
            <p:cNvPr id="59" name="TextBox 59"/>
            <p:cNvSpPr txBox="1"/>
            <p:nvPr/>
          </p:nvSpPr>
          <p:spPr>
            <a:xfrm>
              <a:off x="4305681" y="3577590"/>
              <a:ext cx="13232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GQA 省一半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307967" y="3873818"/>
              <a:ext cx="2628328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若换成 MHA（8 头），同样 1024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token 需要 25.2 MB——正好翻倍。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持久显存与每步带宽都砍半。</a:t>
              </a:r>
            </a:p>
          </p:txBody>
        </p:sp>
      </p:grpSp>
      <p:grpSp>
        <p:nvGrpSpPr>
          <p:cNvPr id="64" name="note-compute"/>
          <p:cNvGrpSpPr/>
          <p:nvPr/>
        </p:nvGrpSpPr>
        <p:grpSpPr>
          <a:xfrm>
            <a:off x="8010906" y="3577590"/>
            <a:ext cx="2990660" cy="1055561"/>
            <a:chOff x="8010906" y="3577590"/>
            <a:chExt cx="2990660" cy="1055561"/>
          </a:xfrm>
        </p:grpSpPr>
        <p:sp>
          <p:nvSpPr>
            <p:cNvPr id="62" name="TextBox 62"/>
            <p:cNvSpPr txBox="1"/>
            <p:nvPr/>
          </p:nvSpPr>
          <p:spPr>
            <a:xfrm>
              <a:off x="8010906" y="35775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每步计算量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013192" y="3873818"/>
              <a:ext cx="2988374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不缓存：第 t 步重算全部 t 个 token。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有缓存：每步只有 1 × t 打分阵。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生成 1024 token ≈ 无缓存的 1/512。</a:t>
              </a:r>
            </a:p>
          </p:txBody>
        </p:sp>
      </p:grpSp>
      <p:grpSp>
        <p:nvGrpSpPr>
          <p:cNvPr id="70" name="why-no-recompute"/>
          <p:cNvGrpSpPr/>
          <p:nvPr/>
        </p:nvGrpSpPr>
        <p:grpSpPr>
          <a:xfrm>
            <a:off x="609600" y="4819650"/>
            <a:ext cx="10972800" cy="933450"/>
            <a:chOff x="609600" y="4819650"/>
            <a:chExt cx="10972800" cy="933450"/>
          </a:xfrm>
        </p:grpSpPr>
        <p:sp>
          <p:nvSpPr>
            <p:cNvPr id="65" name="Rectangle 65"/>
            <p:cNvSpPr/>
            <p:nvPr/>
          </p:nvSpPr>
          <p:spPr>
            <a:xfrm>
              <a:off x="609600" y="4819650"/>
              <a:ext cx="10972800" cy="933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09600" y="4819650"/>
              <a:ext cx="28575" cy="9334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31342" y="4921568"/>
              <a:ext cx="83804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为什么历史 K/V 不重算：K/V 只由 token 的内容与位置决定——第 2 步「我」的内容没变，直接读缓存。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31342" y="5169218"/>
              <a:ext cx="88842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缓存里存的是旋转后的 K（119 行旋转 → 120-123 行 cat）。Prefill 受 compute 限制，Decode 受带宽限制。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31342" y="5416868"/>
              <a:ext cx="44849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这也是 vLLM / SGLang 专门优化 decode 阶段的原因。</a:t>
              </a:r>
            </a:p>
          </p:txBody>
        </p:sp>
      </p:grpSp>
      <p:grpSp>
        <p:nvGrpSpPr>
          <p:cNvPr id="73" name="page-footer"/>
          <p:cNvGrpSpPr/>
          <p:nvPr/>
        </p:nvGrpSpPr>
        <p:grpSpPr>
          <a:xfrm>
            <a:off x="603504" y="6042660"/>
            <a:ext cx="10984992" cy="234696"/>
            <a:chOff x="603504" y="6042660"/>
            <a:chExt cx="10984992" cy="234696"/>
          </a:xfrm>
        </p:grpSpPr>
        <p:sp>
          <p:nvSpPr>
            <p:cNvPr id="71" name="TextBox 71"/>
            <p:cNvSpPr txBox="1"/>
            <p:nvPr/>
          </p:nvSpPr>
          <p:spPr>
            <a:xfrm>
              <a:off x="603504" y="6042660"/>
              <a:ext cx="18793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KV Cache 演变与显存账单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035132" y="60426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5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backdrop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smGrid">
            <a:fgClr>
              <a:schemeClr val="accent1">
                <a:alpha val="8000"/>
              </a:schemeClr>
            </a:fgClr>
            <a:bgClr>
              <a:schemeClr val="lt1">
                <a:alpha val="8000"/>
              </a:schemeClr>
            </a:bgClr>
          </a:pattFill>
          <a:ln>
            <a:noFill/>
          </a:ln>
        </p:spPr>
      </p:sp>
      <p:grpSp>
        <p:nvGrpSpPr>
          <p:cNvPr id="5" name="page-header"/>
          <p:cNvGrpSpPr/>
          <p:nvPr/>
        </p:nvGrpSpPr>
        <p:grpSpPr>
          <a:xfrm>
            <a:off x="593598" y="650558"/>
            <a:ext cx="9780651" cy="937259"/>
            <a:chOff x="593598" y="650558"/>
            <a:chExt cx="9780651" cy="937259"/>
          </a:xfrm>
        </p:grpSpPr>
        <p:sp>
          <p:nvSpPr>
            <p:cNvPr id="3" name="TextBox 3"/>
            <p:cNvSpPr txBox="1"/>
            <p:nvPr/>
          </p:nvSpPr>
          <p:spPr>
            <a:xfrm>
              <a:off x="593598" y="650558"/>
              <a:ext cx="344457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为什么必须左 pad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170" y="1147762"/>
              <a:ext cx="977607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generate 只取最后一个位置的 logits——左 pad 保证那里是真实 token。</a:t>
              </a:r>
            </a:p>
          </p:txBody>
        </p:sp>
      </p:grpSp>
      <p:grpSp>
        <p:nvGrpSpPr>
          <p:cNvPr id="59" name="pad-alignment"/>
          <p:cNvGrpSpPr/>
          <p:nvPr/>
        </p:nvGrpSpPr>
        <p:grpSpPr>
          <a:xfrm>
            <a:off x="602742" y="1718310"/>
            <a:ext cx="11017758" cy="1701546"/>
            <a:chOff x="602742" y="1718310"/>
            <a:chExt cx="11017758" cy="1701546"/>
          </a:xfrm>
        </p:grpSpPr>
        <p:sp>
          <p:nvSpPr>
            <p:cNvPr id="6" name="TextBox 6"/>
            <p:cNvSpPr txBox="1"/>
            <p:nvPr/>
          </p:nvSpPr>
          <p:spPr>
            <a:xfrm>
              <a:off x="10389184" y="171831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logits[:, -1]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2742" y="2064068"/>
              <a:ext cx="2285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请求 A「你好」（3 token）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2476500" y="1981200"/>
              <a:ext cx="1133475" cy="3429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94A9C2"/>
              </a:solidFill>
              <a:prstDash val="dash"/>
            </a:ln>
          </p:spPr>
        </p:sp>
        <p:sp>
          <p:nvSpPr>
            <p:cNvPr id="9" name="Rectangle 9"/>
            <p:cNvSpPr/>
            <p:nvPr/>
          </p:nvSpPr>
          <p:spPr>
            <a:xfrm>
              <a:off x="3609975" y="1981200"/>
              <a:ext cx="1133475" cy="3429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94A9C2"/>
              </a:solidFill>
              <a:prstDash val="dash"/>
            </a:ln>
          </p:spPr>
        </p:sp>
        <p:sp>
          <p:nvSpPr>
            <p:cNvPr id="10" name="Rectangle 10"/>
            <p:cNvSpPr/>
            <p:nvPr/>
          </p:nvSpPr>
          <p:spPr>
            <a:xfrm>
              <a:off x="4743450" y="1981200"/>
              <a:ext cx="1133475" cy="3429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94A9C2"/>
              </a:solidFill>
              <a:prstDash val="dash"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876925" y="1981200"/>
              <a:ext cx="1133475" cy="3429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94A9C2"/>
              </a:solidFill>
              <a:prstDash val="dash"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010400" y="1981200"/>
              <a:ext cx="1133475" cy="3429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94A9C2"/>
              </a:solidFill>
              <a:prstDash val="dash"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143875" y="1981200"/>
              <a:ext cx="1133475" cy="3429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9277350" y="1981200"/>
              <a:ext cx="1133475" cy="3429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0410825" y="1981200"/>
              <a:ext cx="1133475" cy="3429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899105" y="208026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pad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32580" y="208026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pad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66055" y="208026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pad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99530" y="208026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pad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33005" y="208026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pad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41868" y="20802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BOS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52457" y="20802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你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885932" y="20802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好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2742" y="2483168"/>
              <a:ext cx="1558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请求 B（8 token）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476500" y="2400300"/>
              <a:ext cx="1133475" cy="3429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609975" y="2400300"/>
              <a:ext cx="1133475" cy="3429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743450" y="2400300"/>
              <a:ext cx="1133475" cy="3429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876925" y="2400300"/>
              <a:ext cx="1133475" cy="3429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7010400" y="2400300"/>
              <a:ext cx="1133475" cy="3429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143875" y="2400300"/>
              <a:ext cx="1133475" cy="3429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9277350" y="2400300"/>
              <a:ext cx="1133475" cy="3429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0410825" y="2400300"/>
              <a:ext cx="1133475" cy="3429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874493" y="24993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BOS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085082" y="24993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18557" y="24993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天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52032" y="24993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天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85507" y="24993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气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618982" y="24993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怎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752457" y="24993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么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885932" y="24993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样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2742" y="2902268"/>
              <a:ext cx="14040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attention_mask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987954" y="29184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121429" y="29184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254904" y="29184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88379" y="29184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21854" y="29184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655329" y="29184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788804" y="29184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922279" y="29184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987954" y="31851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121429" y="31851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254904" y="31851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388379" y="31851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521854" y="31851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655329" y="31851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788804" y="31851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922279" y="31851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0334625" y="1905000"/>
              <a:ext cx="1285875" cy="148590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62" name="note-right-pad"/>
          <p:cNvGrpSpPr/>
          <p:nvPr/>
        </p:nvGrpSpPr>
        <p:grpSpPr>
          <a:xfrm>
            <a:off x="600456" y="3920490"/>
            <a:ext cx="3204972" cy="1055561"/>
            <a:chOff x="600456" y="3920490"/>
            <a:chExt cx="3204972" cy="1055561"/>
          </a:xfrm>
        </p:grpSpPr>
        <p:sp>
          <p:nvSpPr>
            <p:cNvPr id="60" name="TextBox 60"/>
            <p:cNvSpPr txBox="1"/>
            <p:nvPr/>
          </p:nvSpPr>
          <p:spPr>
            <a:xfrm>
              <a:off x="600456" y="3920490"/>
              <a:ext cx="15600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右 pad 会怎样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02742" y="4216718"/>
              <a:ext cx="320268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最后位置是 pad，logits[:, -1]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取到 pad 位置的预测 → 采样出垃圾。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新 token 也会接在 pad 之后，位置错乱。</a:t>
              </a:r>
            </a:p>
          </p:txBody>
        </p:sp>
      </p:grpSp>
      <p:grpSp>
        <p:nvGrpSpPr>
          <p:cNvPr id="65" name="note-left-pad"/>
          <p:cNvGrpSpPr/>
          <p:nvPr/>
        </p:nvGrpSpPr>
        <p:grpSpPr>
          <a:xfrm>
            <a:off x="4343781" y="3920490"/>
            <a:ext cx="2793492" cy="1055561"/>
            <a:chOff x="4343781" y="3920490"/>
            <a:chExt cx="2793492" cy="1055561"/>
          </a:xfrm>
        </p:grpSpPr>
        <p:sp>
          <p:nvSpPr>
            <p:cNvPr id="63" name="TextBox 63"/>
            <p:cNvSpPr txBox="1"/>
            <p:nvPr/>
          </p:nvSpPr>
          <p:spPr>
            <a:xfrm>
              <a:off x="4343781" y="3920490"/>
              <a:ext cx="18023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左 pad 为什么对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346067" y="4216718"/>
              <a:ext cx="279120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最后位置 = 真实 token「好」，且新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token 拼在末尾、紧贴真实序列。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所有推理框架的标准做法。</a:t>
              </a:r>
            </a:p>
          </p:txBody>
        </p:sp>
      </p:grpSp>
      <p:grpSp>
        <p:nvGrpSpPr>
          <p:cNvPr id="68" name="note-train-right"/>
          <p:cNvGrpSpPr/>
          <p:nvPr/>
        </p:nvGrpSpPr>
        <p:grpSpPr>
          <a:xfrm>
            <a:off x="8087106" y="3920490"/>
            <a:ext cx="2802064" cy="1055561"/>
            <a:chOff x="8087106" y="3920490"/>
            <a:chExt cx="2802064" cy="1055561"/>
          </a:xfrm>
        </p:grpSpPr>
        <p:sp>
          <p:nvSpPr>
            <p:cNvPr id="66" name="TextBox 66"/>
            <p:cNvSpPr txBox="1"/>
            <p:nvPr/>
          </p:nvSpPr>
          <p:spPr>
            <a:xfrm>
              <a:off x="8087106" y="3920490"/>
              <a:ext cx="22106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训练为什么用右 pad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089392" y="4216718"/>
              <a:ext cx="2799778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因果注意力让位置 i 只看 ≤i，右边的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pad 对真实 token 天然隐形；pad 的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loss 由 labels = −100 挡住。</a:t>
              </a:r>
            </a:p>
          </p:txBody>
        </p:sp>
      </p:grpSp>
      <p:grpSp>
        <p:nvGrpSpPr>
          <p:cNvPr id="74" name="pad-contrast"/>
          <p:cNvGrpSpPr/>
          <p:nvPr/>
        </p:nvGrpSpPr>
        <p:grpSpPr>
          <a:xfrm>
            <a:off x="609600" y="5086350"/>
            <a:ext cx="10972800" cy="861251"/>
            <a:chOff x="609600" y="5086350"/>
            <a:chExt cx="10972800" cy="861251"/>
          </a:xfrm>
        </p:grpSpPr>
        <p:sp>
          <p:nvSpPr>
            <p:cNvPr id="69" name="Rectangle 69"/>
            <p:cNvSpPr/>
            <p:nvPr/>
          </p:nvSpPr>
          <p:spPr>
            <a:xfrm>
              <a:off x="609600" y="5086350"/>
              <a:ext cx="1097280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09600" y="5086350"/>
              <a:ext cx="28575" cy="819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31342" y="5188268"/>
              <a:ext cx="62109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训练在「算 loss」——pad 只需不产生 loss（右 pad + labels = −100 即可）。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31342" y="5435918"/>
              <a:ext cx="74104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推理在「接着写」——pad 不能挡在笔尖前面（必须左 pad），且不能被看见（必须 mask）。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31342" y="5683568"/>
              <a:ext cx="65988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padding=True 和 attention_mask 是 tokenizer 产出的连体婴，取一必须取二。</a:t>
              </a:r>
            </a:p>
          </p:txBody>
        </p:sp>
      </p:grpSp>
      <p:grpSp>
        <p:nvGrpSpPr>
          <p:cNvPr id="77" name="page-footer"/>
          <p:cNvGrpSpPr/>
          <p:nvPr/>
        </p:nvGrpSpPr>
        <p:grpSpPr>
          <a:xfrm>
            <a:off x="603504" y="6042660"/>
            <a:ext cx="10984992" cy="234696"/>
            <a:chOff x="603504" y="6042660"/>
            <a:chExt cx="10984992" cy="234696"/>
          </a:xfrm>
        </p:grpSpPr>
        <p:sp>
          <p:nvSpPr>
            <p:cNvPr id="75" name="TextBox 75"/>
            <p:cNvSpPr txBox="1"/>
            <p:nvPr/>
          </p:nvSpPr>
          <p:spPr>
            <a:xfrm>
              <a:off x="603504" y="6042660"/>
              <a:ext cx="16114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批量推理与左 padding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035132" y="60426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5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backdrop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smGrid">
            <a:fgClr>
              <a:schemeClr val="accent1">
                <a:alpha val="8000"/>
              </a:schemeClr>
            </a:fgClr>
            <a:bgClr>
              <a:schemeClr val="lt1">
                <a:alpha val="8000"/>
              </a:schemeClr>
            </a:bgClr>
          </a:pattFill>
          <a:ln>
            <a:noFill/>
          </a:ln>
        </p:spPr>
      </p:sp>
      <p:grpSp>
        <p:nvGrpSpPr>
          <p:cNvPr id="5" name="page-header"/>
          <p:cNvGrpSpPr/>
          <p:nvPr/>
        </p:nvGrpSpPr>
        <p:grpSpPr>
          <a:xfrm>
            <a:off x="593598" y="650558"/>
            <a:ext cx="7266622" cy="937259"/>
            <a:chOff x="593598" y="650558"/>
            <a:chExt cx="7266622" cy="937259"/>
          </a:xfrm>
        </p:grpSpPr>
        <p:sp>
          <p:nvSpPr>
            <p:cNvPr id="3" name="TextBox 3"/>
            <p:cNvSpPr txBox="1"/>
            <p:nvPr/>
          </p:nvSpPr>
          <p:spPr>
            <a:xfrm>
              <a:off x="593598" y="650558"/>
              <a:ext cx="51206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两种掩码叠加后的完整视野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170" y="1147762"/>
              <a:ext cx="72620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因果按「时间」挡未来，padding 按「内容」挡凑数。</a:t>
              </a:r>
            </a:p>
          </p:txBody>
        </p:sp>
      </p:grpSp>
      <p:grpSp>
        <p:nvGrpSpPr>
          <p:cNvPr id="34" name="mask-matrix"/>
          <p:cNvGrpSpPr/>
          <p:nvPr/>
        </p:nvGrpSpPr>
        <p:grpSpPr>
          <a:xfrm>
            <a:off x="946404" y="1854518"/>
            <a:ext cx="3445002" cy="3851338"/>
            <a:chOff x="946404" y="1854518"/>
            <a:chExt cx="3445002" cy="3851338"/>
          </a:xfrm>
        </p:grpSpPr>
        <p:sp>
          <p:nvSpPr>
            <p:cNvPr id="6" name="TextBox 6"/>
            <p:cNvSpPr txBox="1"/>
            <p:nvPr/>
          </p:nvSpPr>
          <p:spPr>
            <a:xfrm>
              <a:off x="1136142" y="1854518"/>
              <a:ext cx="4680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key →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59987" y="21974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59987" y="25784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59987" y="29594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59987" y="33404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59987" y="37214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59987" y="41024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↓</a:t>
              </a:r>
            </a:p>
          </p:txBody>
        </p:sp>
        <p:sp>
          <p:nvSpPr>
            <p:cNvPr id="13" name="Polygon 13"/>
            <p:cNvSpPr/>
            <p:nvPr/>
          </p:nvSpPr>
          <p:spPr>
            <a:xfrm>
              <a:off x="1333500" y="2095500"/>
              <a:ext cx="2667000" cy="2667000"/>
            </a:xfrm>
            <a:custGeom>
              <a:avLst/>
              <a:gdLst/>
              <a:ahLst/>
              <a:cxnLst/>
              <a:rect l="l" t="t" r="r" b="b"/>
              <a:pathLst>
                <a:path w="2667000" h="2667000">
                  <a:moveTo>
                    <a:pt x="0" y="0"/>
                  </a:moveTo>
                  <a:lnTo>
                    <a:pt x="2667000" y="0"/>
                  </a:lnTo>
                  <a:lnTo>
                    <a:pt x="2667000" y="2667000"/>
                  </a:lnTo>
                  <a:lnTo>
                    <a:pt x="2286000" y="2667000"/>
                  </a:lnTo>
                  <a:lnTo>
                    <a:pt x="2286000" y="2286000"/>
                  </a:lnTo>
                  <a:lnTo>
                    <a:pt x="1905000" y="2286000"/>
                  </a:lnTo>
                  <a:lnTo>
                    <a:pt x="1905000" y="1905000"/>
                  </a:lnTo>
                  <a:lnTo>
                    <a:pt x="1524000" y="1905000"/>
                  </a:lnTo>
                  <a:lnTo>
                    <a:pt x="1524000" y="1524000"/>
                  </a:lnTo>
                  <a:lnTo>
                    <a:pt x="1143000" y="1524000"/>
                  </a:lnTo>
                  <a:lnTo>
                    <a:pt x="1143000" y="1143000"/>
                  </a:lnTo>
                  <a:lnTo>
                    <a:pt x="762000" y="1143000"/>
                  </a:lnTo>
                  <a:lnTo>
                    <a:pt x="762000" y="762000"/>
                  </a:lnTo>
                  <a:lnTo>
                    <a:pt x="381000" y="762000"/>
                  </a:lnTo>
                  <a:lnTo>
                    <a:pt x="38100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chemeClr val="accent2">
                <a:alpha val="14000"/>
              </a:schemeClr>
            </a:solidFill>
            <a:ln w="9525">
              <a:solidFill>
                <a:schemeClr val="accent2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952500" y="2095500"/>
              <a:ext cx="1905000" cy="3048000"/>
            </a:xfrm>
            <a:custGeom>
              <a:avLst/>
              <a:gdLst/>
              <a:ahLst/>
              <a:cxnLst/>
              <a:rect l="l" t="t" r="r" b="b"/>
              <a:pathLst>
                <a:path w="1905000" h="3048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762000" y="381000"/>
                  </a:lnTo>
                  <a:lnTo>
                    <a:pt x="762000" y="762000"/>
                  </a:lnTo>
                  <a:lnTo>
                    <a:pt x="1143000" y="762000"/>
                  </a:lnTo>
                  <a:lnTo>
                    <a:pt x="1143000" y="1143000"/>
                  </a:lnTo>
                  <a:lnTo>
                    <a:pt x="1524000" y="1143000"/>
                  </a:lnTo>
                  <a:lnTo>
                    <a:pt x="1524000" y="1524000"/>
                  </a:lnTo>
                  <a:lnTo>
                    <a:pt x="1905000" y="1524000"/>
                  </a:lnTo>
                  <a:lnTo>
                    <a:pt x="1905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9525">
              <a:solidFill>
                <a:schemeClr val="accent1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952500" y="2095500"/>
              <a:ext cx="3048000" cy="304800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333500" y="20955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714500" y="20955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2095500" y="20955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2476500" y="20955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2857500" y="20955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3238500" y="20955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3619500" y="20955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952500" y="2476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952500" y="2857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952500" y="3238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952500" y="3619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952500" y="4000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952500" y="4381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52500" y="4762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952500" y="2095500"/>
              <a:ext cx="3048000" cy="3048000"/>
            </a:xfrm>
            <a:custGeom>
              <a:avLst/>
              <a:gdLst/>
              <a:ahLst/>
              <a:cxnLst/>
              <a:rect l="l" t="t" r="r" b="b"/>
              <a:pathLst>
                <a:path w="3048000" h="3048000">
                  <a:moveTo>
                    <a:pt x="0" y="0"/>
                  </a:moveTo>
                  <a:lnTo>
                    <a:pt x="3048000" y="304800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974409" y="4407218"/>
              <a:ext cx="10041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pad 列 −1e9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6404" y="5261610"/>
              <a:ext cx="3445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橙 = −inf（未来禁止）· 蓝 = −1e9（pad 凑数）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6404" y="5471160"/>
              <a:ext cx="12560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空白 = 0（合法）</a:t>
              </a:r>
            </a:p>
          </p:txBody>
        </p:sp>
      </p:grpSp>
      <p:grpSp>
        <p:nvGrpSpPr>
          <p:cNvPr id="37" name="step-path"/>
          <p:cNvGrpSpPr/>
          <p:nvPr/>
        </p:nvGrpSpPr>
        <p:grpSpPr>
          <a:xfrm>
            <a:off x="4467606" y="1863090"/>
            <a:ext cx="2819210" cy="1055561"/>
            <a:chOff x="4467606" y="1863090"/>
            <a:chExt cx="2819210" cy="1055561"/>
          </a:xfrm>
        </p:grpSpPr>
        <p:sp>
          <p:nvSpPr>
            <p:cNvPr id="35" name="TextBox 35"/>
            <p:cNvSpPr txBox="1"/>
            <p:nvPr/>
          </p:nvSpPr>
          <p:spPr>
            <a:xfrm>
              <a:off x="4467606" y="1863090"/>
              <a:ext cx="18617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① 路径判断 </a:t>
              </a:r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125 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69892" y="2159318"/>
              <a:ext cx="2816924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SDPA 快车道要求 mask 全为 1；请求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 含 0 → 判定失败，落到手写路径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（128-131 行）。</a:t>
              </a:r>
            </a:p>
          </p:txBody>
        </p:sp>
      </p:grpSp>
      <p:grpSp>
        <p:nvGrpSpPr>
          <p:cNvPr id="40" name="step-scores"/>
          <p:cNvGrpSpPr/>
          <p:nvPr/>
        </p:nvGrpSpPr>
        <p:grpSpPr>
          <a:xfrm>
            <a:off x="8087106" y="1863090"/>
            <a:ext cx="2742057" cy="1055561"/>
            <a:chOff x="8087106" y="1863090"/>
            <a:chExt cx="2742057" cy="1055561"/>
          </a:xfrm>
        </p:grpSpPr>
        <p:sp>
          <p:nvSpPr>
            <p:cNvPr id="38" name="TextBox 38"/>
            <p:cNvSpPr txBox="1"/>
            <p:nvPr/>
          </p:nvSpPr>
          <p:spPr>
            <a:xfrm>
              <a:off x="8087106" y="1863090"/>
              <a:ext cx="16193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② 打分阵 </a:t>
              </a:r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128 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89392" y="2159318"/>
              <a:ext cx="2739771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xq (2,8,8,96) @ xkᵀ → scores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(2,8,8,8)——每条请求一个 8×8。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pad 也有 K/V：先算出来，再挡住。</a:t>
              </a:r>
            </a:p>
          </p:txBody>
        </p:sp>
      </p:grpSp>
      <p:grpSp>
        <p:nvGrpSpPr>
          <p:cNvPr id="43" name="step-causal"/>
          <p:cNvGrpSpPr/>
          <p:nvPr/>
        </p:nvGrpSpPr>
        <p:grpSpPr>
          <a:xfrm>
            <a:off x="4467606" y="2891790"/>
            <a:ext cx="2630614" cy="1055561"/>
            <a:chOff x="4467606" y="2891790"/>
            <a:chExt cx="2630614" cy="1055561"/>
          </a:xfrm>
        </p:grpSpPr>
        <p:sp>
          <p:nvSpPr>
            <p:cNvPr id="41" name="TextBox 41"/>
            <p:cNvSpPr txBox="1"/>
            <p:nvPr/>
          </p:nvSpPr>
          <p:spPr>
            <a:xfrm>
              <a:off x="4467606" y="2891790"/>
              <a:ext cx="16799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③ 因果掩码 </a:t>
              </a:r>
              <a:r>
                <a:rPr lang="en-US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−inf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469892" y="3188018"/>
              <a:ext cx="2628328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上三角加 −inf，挡住时间上在查询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之后的位置；batch 内两条请求共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用一份，广播。</a:t>
              </a:r>
            </a:p>
          </p:txBody>
        </p:sp>
      </p:grpSp>
      <p:grpSp>
        <p:nvGrpSpPr>
          <p:cNvPr id="46" name="step-padding"/>
          <p:cNvGrpSpPr/>
          <p:nvPr/>
        </p:nvGrpSpPr>
        <p:grpSpPr>
          <a:xfrm>
            <a:off x="8087106" y="2891790"/>
            <a:ext cx="2793492" cy="1055561"/>
            <a:chOff x="8087106" y="2891790"/>
            <a:chExt cx="2793492" cy="1055561"/>
          </a:xfrm>
        </p:grpSpPr>
        <p:sp>
          <p:nvSpPr>
            <p:cNvPr id="44" name="TextBox 44"/>
            <p:cNvSpPr txBox="1"/>
            <p:nvPr/>
          </p:nvSpPr>
          <p:spPr>
            <a:xfrm>
              <a:off x="8087106" y="2891790"/>
              <a:ext cx="2187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④ padding 掩码 </a:t>
              </a:r>
              <a:r>
                <a:rPr lang="en-US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−1e9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089392" y="3188018"/>
              <a:ext cx="279120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两次 unsqueeze 把 (2,8) 变成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(2,1,1,8)，再广播到 (2,8,8,8)；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pad 列被统一压成 −1e9。</a:t>
              </a:r>
            </a:p>
          </p:txBody>
        </p:sp>
      </p:grpSp>
      <p:grpSp>
        <p:nvGrpSpPr>
          <p:cNvPr id="49" name="cell-rules"/>
          <p:cNvGrpSpPr/>
          <p:nvPr/>
        </p:nvGrpSpPr>
        <p:grpSpPr>
          <a:xfrm>
            <a:off x="4467606" y="4015740"/>
            <a:ext cx="2759202" cy="1303211"/>
            <a:chOff x="4467606" y="4015740"/>
            <a:chExt cx="2759202" cy="1303211"/>
          </a:xfrm>
        </p:grpSpPr>
        <p:sp>
          <p:nvSpPr>
            <p:cNvPr id="47" name="TextBox 47"/>
            <p:cNvSpPr txBox="1"/>
            <p:nvPr/>
          </p:nvSpPr>
          <p:spPr>
            <a:xfrm>
              <a:off x="4467606" y="40157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逐格取值：两掩码相加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469892" y="4311968"/>
              <a:ext cx="2756916" cy="1006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 + 0 = 0　　0 + (−1e9) = −1e9</a:t>
              </a:r>
              <a:br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−inf + 0 = −inf</a:t>
              </a:r>
              <a:br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−inf + (−1e9) = −inf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重叠处无穷吸收有限数，只会更小。</a:t>
              </a:r>
            </a:p>
          </p:txBody>
        </p:sp>
      </p:grpSp>
      <p:grpSp>
        <p:nvGrpSpPr>
          <p:cNvPr id="52" name="why-neg-1e9"/>
          <p:cNvGrpSpPr/>
          <p:nvPr/>
        </p:nvGrpSpPr>
        <p:grpSpPr>
          <a:xfrm>
            <a:off x="8087106" y="4015740"/>
            <a:ext cx="2999381" cy="1303211"/>
            <a:chOff x="8087106" y="4015740"/>
            <a:chExt cx="2999381" cy="1303211"/>
          </a:xfrm>
        </p:grpSpPr>
        <p:sp>
          <p:nvSpPr>
            <p:cNvPr id="50" name="TextBox 50"/>
            <p:cNvSpPr txBox="1"/>
            <p:nvPr/>
          </p:nvSpPr>
          <p:spPr>
            <a:xfrm>
              <a:off x="8087106" y="4015740"/>
              <a:ext cx="29993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为什么用 −1e9 而不是 −inf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89392" y="4311968"/>
              <a:ext cx="2911221" cy="1006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某些融合算子中 −inf 参与运算可能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产生 nan；−1e9 是有限大负数，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exp(−1e9) 在 fp32 下照样下溢为 0。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pad 行算出的表示是垃圾，但无害。</a:t>
              </a:r>
            </a:p>
          </p:txBody>
        </p:sp>
      </p:grpSp>
      <p:grpSp>
        <p:nvGrpSpPr>
          <p:cNvPr id="55" name="page-footer"/>
          <p:cNvGrpSpPr/>
          <p:nvPr/>
        </p:nvGrpSpPr>
        <p:grpSpPr>
          <a:xfrm>
            <a:off x="603504" y="6042660"/>
            <a:ext cx="10984992" cy="234696"/>
            <a:chOff x="603504" y="6042660"/>
            <a:chExt cx="10984992" cy="234696"/>
          </a:xfrm>
        </p:grpSpPr>
        <p:sp>
          <p:nvSpPr>
            <p:cNvPr id="53" name="TextBox 53"/>
            <p:cNvSpPr txBox="1"/>
            <p:nvPr/>
          </p:nvSpPr>
          <p:spPr>
            <a:xfrm>
              <a:off x="603504" y="60426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两种掩码叠加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035132" y="60426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17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4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75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25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0"/>
                            </p:stCondLst>
                            <p:childTnLst>
                              <p:par>
                                <p:cTn xmlns:p="http://schemas.openxmlformats.org/presentationml/2006/main" id="33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backdrop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smGrid">
            <a:fgClr>
              <a:schemeClr val="accent1">
                <a:alpha val="8000"/>
              </a:schemeClr>
            </a:fgClr>
            <a:bgClr>
              <a:schemeClr val="lt1">
                <a:alpha val="8000"/>
              </a:schemeClr>
            </a:bgClr>
          </a:pattFill>
          <a:ln>
            <a:noFill/>
          </a:ln>
        </p:spPr>
      </p:sp>
      <p:grpSp>
        <p:nvGrpSpPr>
          <p:cNvPr id="5" name="page-header"/>
          <p:cNvGrpSpPr/>
          <p:nvPr/>
        </p:nvGrpSpPr>
        <p:grpSpPr>
          <a:xfrm>
            <a:off x="593598" y="650558"/>
            <a:ext cx="8256512" cy="937259"/>
            <a:chOff x="593598" y="650558"/>
            <a:chExt cx="8256512" cy="937259"/>
          </a:xfrm>
        </p:grpSpPr>
        <p:sp>
          <p:nvSpPr>
            <p:cNvPr id="3" name="TextBox 3"/>
            <p:cNvSpPr txBox="1"/>
            <p:nvPr/>
          </p:nvSpPr>
          <p:spPr>
            <a:xfrm>
              <a:off x="593598" y="650558"/>
              <a:ext cx="825651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不传 attention_mask：一个不报错的 bug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170" y="1147762"/>
              <a:ext cx="517207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它不会崩，只会让回答质量悄悄下降。</a:t>
              </a:r>
            </a:p>
          </p:txBody>
        </p:sp>
      </p:grpSp>
      <p:grpSp>
        <p:nvGrpSpPr>
          <p:cNvPr id="11" name="warning-mark"/>
          <p:cNvGrpSpPr/>
          <p:nvPr/>
        </p:nvGrpSpPr>
        <p:grpSpPr>
          <a:xfrm>
            <a:off x="4996434" y="1782262"/>
            <a:ext cx="2199132" cy="985322"/>
            <a:chOff x="4996434" y="1782262"/>
            <a:chExt cx="2199132" cy="985322"/>
          </a:xfrm>
        </p:grpSpPr>
        <p:grpSp>
          <p:nvGrpSpPr>
            <p:cNvPr id="9" name="Group 9"/>
            <p:cNvGrpSpPr/>
            <p:nvPr/>
          </p:nvGrpSpPr>
          <p:grpSpPr>
            <a:xfrm>
              <a:off x="5839838" y="1782262"/>
              <a:ext cx="512305" cy="440137"/>
              <a:chOff x="5839838" y="1782262"/>
              <a:chExt cx="512305" cy="44013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6096000" y="1943100"/>
                <a:ext cx="9525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1600">
                    <a:moveTo>
                      <a:pt x="0" y="0"/>
                    </a:moveTo>
                    <a:lnTo>
                      <a:pt x="0" y="101600"/>
                    </a:lnTo>
                  </a:path>
                </a:pathLst>
              </a:custGeom>
              <a:noFill/>
              <a:ln w="50800">
                <a:solidFill>
                  <a:srgbClr val="000000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5839838" y="1782262"/>
                <a:ext cx="512305" cy="440137"/>
              </a:xfrm>
              <a:custGeom>
                <a:avLst/>
                <a:gdLst/>
                <a:ahLst/>
                <a:cxnLst/>
                <a:rect l="l" t="t" r="r" b="b"/>
                <a:pathLst>
                  <a:path w="512305" h="440137">
                    <a:moveTo>
                      <a:pt x="214582" y="23450"/>
                    </a:moveTo>
                    <a:lnTo>
                      <a:pt x="8690" y="367214"/>
                    </a:lnTo>
                    <a:cubicBezTo>
                      <a:pt x="53" y="382171"/>
                      <a:pt x="0" y="400588"/>
                      <a:pt x="8551" y="415594"/>
                    </a:cubicBezTo>
                    <a:cubicBezTo>
                      <a:pt x="17102" y="430601"/>
                      <a:pt x="32973" y="439943"/>
                      <a:pt x="50244" y="440137"/>
                    </a:cubicBezTo>
                    <a:lnTo>
                      <a:pt x="462080" y="440137"/>
                    </a:lnTo>
                    <a:cubicBezTo>
                      <a:pt x="479343" y="439938"/>
                      <a:pt x="495206" y="430599"/>
                      <a:pt x="503755" y="415601"/>
                    </a:cubicBezTo>
                    <a:cubicBezTo>
                      <a:pt x="512305" y="400602"/>
                      <a:pt x="512259" y="382195"/>
                      <a:pt x="503635" y="367239"/>
                    </a:cubicBezTo>
                    <a:lnTo>
                      <a:pt x="297742" y="23424"/>
                    </a:lnTo>
                    <a:cubicBezTo>
                      <a:pt x="288932" y="8883"/>
                      <a:pt x="273165" y="0"/>
                      <a:pt x="256162" y="0"/>
                    </a:cubicBezTo>
                    <a:cubicBezTo>
                      <a:pt x="239160" y="0"/>
                      <a:pt x="223393" y="8883"/>
                      <a:pt x="214582" y="23424"/>
                    </a:cubicBezTo>
                  </a:path>
                </a:pathLst>
              </a:custGeom>
              <a:noFill/>
              <a:ln w="50800">
                <a:solidFill>
                  <a:srgbClr val="000000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096000" y="21209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254" y="0"/>
                    </a:lnTo>
                  </a:path>
                </a:pathLst>
              </a:custGeom>
              <a:noFill/>
              <a:ln w="50800">
                <a:solidFill>
                  <a:srgbClr val="000000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4996434" y="24155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不报错，只悄悄劣化</a:t>
              </a:r>
            </a:p>
          </p:txBody>
        </p:sp>
      </p:grpSp>
      <p:grpSp>
        <p:nvGrpSpPr>
          <p:cNvPr id="13" name="core-statement"/>
          <p:cNvGrpSpPr/>
          <p:nvPr/>
        </p:nvGrpSpPr>
        <p:grpSpPr>
          <a:xfrm>
            <a:off x="1571202" y="2884170"/>
            <a:ext cx="9049595" cy="469392"/>
            <a:chOff x="1571202" y="2884170"/>
            <a:chExt cx="9049595" cy="469392"/>
          </a:xfrm>
        </p:grpSpPr>
        <p:sp>
          <p:nvSpPr>
            <p:cNvPr id="12" name="TextBox 12"/>
            <p:cNvSpPr txBox="1"/>
            <p:nvPr/>
          </p:nvSpPr>
          <p:spPr>
            <a:xfrm>
              <a:off x="1571202" y="2884170"/>
              <a:ext cx="904959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padding=True 与 attention_mask 是连体婴，取一必须取二。</a:t>
              </a:r>
            </a:p>
          </p:txBody>
        </p:sp>
      </p:grpSp>
      <p:grpSp>
        <p:nvGrpSpPr>
          <p:cNvPr id="18" name="chain-skip"/>
          <p:cNvGrpSpPr/>
          <p:nvPr/>
        </p:nvGrpSpPr>
        <p:grpSpPr>
          <a:xfrm>
            <a:off x="1238250" y="3429000"/>
            <a:ext cx="3333750" cy="914400"/>
            <a:chOff x="1238250" y="3429000"/>
            <a:chExt cx="3333750" cy="914400"/>
          </a:xfrm>
        </p:grpSpPr>
        <p:sp>
          <p:nvSpPr>
            <p:cNvPr id="14" name="Rectangle 14"/>
            <p:cNvSpPr/>
            <p:nvPr/>
          </p:nvSpPr>
          <p:spPr>
            <a:xfrm>
              <a:off x="1238250" y="3429000"/>
              <a:ext cx="2857500" cy="9144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57706" y="3501390"/>
              <a:ext cx="14061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忘传 mask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59992" y="3816668"/>
              <a:ext cx="194252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mask=None → 125 行条件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通过 → 走 SDPA 快车道。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4133850" y="3886200"/>
              <a:ext cx="438150" cy="1"/>
            </a:xfrm>
            <a:prstGeom prst="line">
              <a:avLst/>
            </a:prstGeom>
            <a:noFill/>
            <a:ln w="14288">
              <a:solidFill>
                <a:schemeClr val="accent2"/>
              </a:solidFill>
              <a:tailEnd type="triangle" w="lg" len="lg"/>
            </a:ln>
          </p:spPr>
        </p:sp>
      </p:grpSp>
      <p:grpSp>
        <p:nvGrpSpPr>
          <p:cNvPr id="23" name="chain-pollute"/>
          <p:cNvGrpSpPr/>
          <p:nvPr/>
        </p:nvGrpSpPr>
        <p:grpSpPr>
          <a:xfrm>
            <a:off x="4667250" y="3429000"/>
            <a:ext cx="3333750" cy="914400"/>
            <a:chOff x="4667250" y="3429000"/>
            <a:chExt cx="3333750" cy="914400"/>
          </a:xfrm>
        </p:grpSpPr>
        <p:sp>
          <p:nvSpPr>
            <p:cNvPr id="19" name="Rectangle 19"/>
            <p:cNvSpPr/>
            <p:nvPr/>
          </p:nvSpPr>
          <p:spPr>
            <a:xfrm>
              <a:off x="4667250" y="3429000"/>
              <a:ext cx="2857500" cy="9144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886706" y="3501390"/>
              <a:ext cx="14461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表示被污染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88992" y="3816668"/>
              <a:ext cx="225113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请求 A 的注意力里混入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 个 pad 的 K/V，无人屏蔽。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7562850" y="3886200"/>
              <a:ext cx="438150" cy="1"/>
            </a:xfrm>
            <a:prstGeom prst="line">
              <a:avLst/>
            </a:prstGeom>
            <a:noFill/>
            <a:ln w="14288">
              <a:solidFill>
                <a:schemeClr val="accent2"/>
              </a:solidFill>
              <a:tailEnd type="triangle" w="lg" len="lg"/>
            </a:ln>
          </p:spPr>
        </p:sp>
      </p:grpSp>
      <p:grpSp>
        <p:nvGrpSpPr>
          <p:cNvPr id="27" name="chain-degrade"/>
          <p:cNvGrpSpPr/>
          <p:nvPr/>
        </p:nvGrpSpPr>
        <p:grpSpPr>
          <a:xfrm>
            <a:off x="8096250" y="3429000"/>
            <a:ext cx="2857500" cy="914400"/>
            <a:chOff x="8096250" y="3429000"/>
            <a:chExt cx="2857500" cy="914400"/>
          </a:xfrm>
        </p:grpSpPr>
        <p:sp>
          <p:nvSpPr>
            <p:cNvPr id="24" name="Rectangle 24"/>
            <p:cNvSpPr/>
            <p:nvPr/>
          </p:nvSpPr>
          <p:spPr>
            <a:xfrm>
              <a:off x="8096250" y="3429000"/>
              <a:ext cx="2857500" cy="914400"/>
            </a:xfrm>
            <a:prstGeom prst="rect">
              <a:avLst/>
            </a:prstGeom>
            <a:solidFill>
              <a:schemeClr val="accent2">
                <a:alpha val="8000"/>
              </a:schemeClr>
            </a:solidFill>
            <a:ln w="14288">
              <a:solidFill>
                <a:schemeClr val="accent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15706" y="3501390"/>
              <a:ext cx="19307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③ 不报错，只变差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17992" y="3816668"/>
              <a:ext cx="17282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能出结果，但回答质量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明显下降。</a:t>
              </a:r>
            </a:p>
          </p:txBody>
        </p:sp>
      </p:grpSp>
      <p:grpSp>
        <p:nvGrpSpPr>
          <p:cNvPr id="30" name="faq-need-mask"/>
          <p:cNvGrpSpPr/>
          <p:nvPr/>
        </p:nvGrpSpPr>
        <p:grpSpPr>
          <a:xfrm>
            <a:off x="600456" y="4682490"/>
            <a:ext cx="2643782" cy="1055561"/>
            <a:chOff x="600456" y="4682490"/>
            <a:chExt cx="2643782" cy="1055561"/>
          </a:xfrm>
        </p:grpSpPr>
        <p:sp>
          <p:nvSpPr>
            <p:cNvPr id="28" name="TextBox 28"/>
            <p:cNvSpPr txBox="1"/>
            <p:nvPr/>
          </p:nvSpPr>
          <p:spPr>
            <a:xfrm>
              <a:off x="600456" y="4682490"/>
              <a:ext cx="26437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怎么判断要不要传 mask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2742" y="4978718"/>
              <a:ext cx="2636901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口诀：这个 batch 里有 pad 吗？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有 → 必须传；没有（等长 / 单条）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 可不传。</a:t>
              </a:r>
            </a:p>
          </p:txBody>
        </p:sp>
      </p:grpSp>
      <p:grpSp>
        <p:nvGrpSpPr>
          <p:cNvPr id="33" name="faq-cache-pollution"/>
          <p:cNvGrpSpPr/>
          <p:nvPr/>
        </p:nvGrpSpPr>
        <p:grpSpPr>
          <a:xfrm>
            <a:off x="4343781" y="4682490"/>
            <a:ext cx="3057834" cy="1055561"/>
            <a:chOff x="4343781" y="4682490"/>
            <a:chExt cx="3057834" cy="1055561"/>
          </a:xfrm>
        </p:grpSpPr>
        <p:sp>
          <p:nvSpPr>
            <p:cNvPr id="31" name="TextBox 31"/>
            <p:cNvSpPr txBox="1"/>
            <p:nvPr/>
          </p:nvSpPr>
          <p:spPr>
            <a:xfrm>
              <a:off x="4343781" y="4682490"/>
              <a:ext cx="30578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pad 的 K/V 进缓存会污染吗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46067" y="4978718"/>
              <a:ext cx="2594038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会进缓存，但不会污染——130 行的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mask 在每一步都把这些列压成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−1e9，新 token 永远看不见。</a:t>
              </a:r>
            </a:p>
          </p:txBody>
        </p:sp>
      </p:grpSp>
      <p:grpSp>
        <p:nvGrpSpPr>
          <p:cNvPr id="36" name="faq-rope-position"/>
          <p:cNvGrpSpPr/>
          <p:nvPr/>
        </p:nvGrpSpPr>
        <p:grpSpPr>
          <a:xfrm>
            <a:off x="8087106" y="4682490"/>
            <a:ext cx="3029624" cy="1055561"/>
            <a:chOff x="8087106" y="4682490"/>
            <a:chExt cx="3029624" cy="1055561"/>
          </a:xfrm>
        </p:grpSpPr>
        <p:sp>
          <p:nvSpPr>
            <p:cNvPr id="34" name="TextBox 34"/>
            <p:cNvSpPr txBox="1"/>
            <p:nvPr/>
          </p:nvSpPr>
          <p:spPr>
            <a:xfrm>
              <a:off x="8087106" y="4682490"/>
              <a:ext cx="30296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左 pad 会影响 RoPE 位置吗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89392" y="4978718"/>
              <a:ext cx="2851213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位置按绝对排位算（pad 占 0~4，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 token 从 5 开始）；真实 token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拿到自己排位的角。</a:t>
              </a:r>
            </a:p>
          </p:txBody>
        </p:sp>
      </p:grpSp>
      <p:grpSp>
        <p:nvGrpSpPr>
          <p:cNvPr id="39" name="page-footer"/>
          <p:cNvGrpSpPr/>
          <p:nvPr/>
        </p:nvGrpSpPr>
        <p:grpSpPr>
          <a:xfrm>
            <a:off x="603504" y="6042660"/>
            <a:ext cx="10984992" cy="234696"/>
            <a:chOff x="603504" y="6042660"/>
            <a:chExt cx="10984992" cy="234696"/>
          </a:xfrm>
        </p:grpSpPr>
        <p:sp>
          <p:nvSpPr>
            <p:cNvPr id="37" name="TextBox 37"/>
            <p:cNvSpPr txBox="1"/>
            <p:nvPr/>
          </p:nvSpPr>
          <p:spPr>
            <a:xfrm>
              <a:off x="603504" y="6042660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静默 bug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035132" y="60426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18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5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40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15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900"/>
                            </p:stCondLst>
                            <p:childTnLst>
                              <p:par>
                                <p:cTn xmlns:p="http://schemas.openxmlformats.org/presentationml/2006/main" id="33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backdrop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smGrid">
            <a:fgClr>
              <a:schemeClr val="accent1">
                <a:alpha val="8000"/>
              </a:schemeClr>
            </a:fgClr>
            <a:bgClr>
              <a:schemeClr val="lt1">
                <a:alpha val="8000"/>
              </a:schemeClr>
            </a:bgClr>
          </a:pattFill>
          <a:ln>
            <a:noFill/>
          </a:ln>
        </p:spPr>
      </p:sp>
      <p:grpSp>
        <p:nvGrpSpPr>
          <p:cNvPr id="5" name="page-header"/>
          <p:cNvGrpSpPr/>
          <p:nvPr/>
        </p:nvGrpSpPr>
        <p:grpSpPr>
          <a:xfrm>
            <a:off x="593598" y="650558"/>
            <a:ext cx="8750808" cy="937259"/>
            <a:chOff x="593598" y="650558"/>
            <a:chExt cx="8750808" cy="937259"/>
          </a:xfrm>
        </p:grpSpPr>
        <p:sp>
          <p:nvSpPr>
            <p:cNvPr id="3" name="TextBox 3"/>
            <p:cNvSpPr txBox="1"/>
            <p:nvPr/>
          </p:nvSpPr>
          <p:spPr>
            <a:xfrm>
              <a:off x="593598" y="650558"/>
              <a:ext cx="572067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一屏速查：代码 ↔ 结构 ↔ 形状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170" y="1147762"/>
              <a:ext cx="874623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课后对照 model/model_minimind.py 复习时，从这张表往回找。</a:t>
              </a:r>
            </a:p>
          </p:txBody>
        </p:sp>
      </p:grpSp>
      <p:grpSp>
        <p:nvGrpSpPr>
          <p:cNvPr id="97" name="shape-cheatsheet"/>
          <p:cNvGrpSpPr/>
          <p:nvPr/>
        </p:nvGrpSpPr>
        <p:grpSpPr>
          <a:xfrm>
            <a:off x="609600" y="1771650"/>
            <a:ext cx="10972800" cy="3553206"/>
            <a:chOff x="609600" y="1771650"/>
            <a:chExt cx="10972800" cy="3553206"/>
          </a:xfrm>
        </p:grpSpPr>
        <p:sp>
          <p:nvSpPr>
            <p:cNvPr id="6" name="Rectangle 6"/>
            <p:cNvSpPr/>
            <p:nvPr/>
          </p:nvSpPr>
          <p:spPr>
            <a:xfrm>
              <a:off x="609600" y="1771650"/>
              <a:ext cx="10972800" cy="361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2343150"/>
              <a:ext cx="10972800" cy="209550"/>
            </a:xfrm>
            <a:prstGeom prst="rect">
              <a:avLst/>
            </a:prstGeom>
            <a:solidFill>
              <a:srgbClr val="131F3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09600" y="2762250"/>
              <a:ext cx="10972800" cy="209550"/>
            </a:xfrm>
            <a:prstGeom prst="rect">
              <a:avLst/>
            </a:prstGeom>
            <a:solidFill>
              <a:srgbClr val="131F3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" y="3181350"/>
              <a:ext cx="10972800" cy="209550"/>
            </a:xfrm>
            <a:prstGeom prst="rect">
              <a:avLst/>
            </a:prstGeom>
            <a:solidFill>
              <a:srgbClr val="131F30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3600450"/>
              <a:ext cx="10972800" cy="209550"/>
            </a:xfrm>
            <a:prstGeom prst="rect">
              <a:avLst/>
            </a:prstGeom>
            <a:solidFill>
              <a:srgbClr val="131F30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4019550"/>
              <a:ext cx="10972800" cy="209550"/>
            </a:xfrm>
            <a:prstGeom prst="rect">
              <a:avLst/>
            </a:prstGeom>
            <a:solidFill>
              <a:srgbClr val="131F30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4438650"/>
              <a:ext cx="10972800" cy="209550"/>
            </a:xfrm>
            <a:prstGeom prst="rect">
              <a:avLst/>
            </a:prstGeom>
            <a:solidFill>
              <a:srgbClr val="131F30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4857750"/>
              <a:ext cx="10972800" cy="209550"/>
            </a:xfrm>
            <a:prstGeom prst="rect">
              <a:avLst/>
            </a:prstGeom>
            <a:solidFill>
              <a:srgbClr val="131F30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09600" y="1771650"/>
              <a:ext cx="10972800" cy="350520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609600" y="2133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2705100" y="1771650"/>
              <a:ext cx="9525" cy="3505200"/>
            </a:xfrm>
            <a:custGeom>
              <a:avLst/>
              <a:gdLst/>
              <a:ahLst/>
              <a:cxnLst/>
              <a:rect l="l" t="t" r="r" b="b"/>
              <a:pathLst>
                <a:path w="9525" h="3505200">
                  <a:moveTo>
                    <a:pt x="0" y="0"/>
                  </a:moveTo>
                  <a:lnTo>
                    <a:pt x="0" y="35052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991100" y="1771650"/>
              <a:ext cx="9525" cy="3505200"/>
            </a:xfrm>
            <a:custGeom>
              <a:avLst/>
              <a:gdLst/>
              <a:ahLst/>
              <a:cxnLst/>
              <a:rect l="l" t="t" r="r" b="b"/>
              <a:pathLst>
                <a:path w="9525" h="3505200">
                  <a:moveTo>
                    <a:pt x="0" y="0"/>
                  </a:moveTo>
                  <a:lnTo>
                    <a:pt x="0" y="35052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848600" y="1771650"/>
              <a:ext cx="9525" cy="3505200"/>
            </a:xfrm>
            <a:custGeom>
              <a:avLst/>
              <a:gdLst/>
              <a:ahLst/>
              <a:cxnLst/>
              <a:rect l="l" t="t" r="r" b="b"/>
              <a:pathLst>
                <a:path w="9525" h="3505200">
                  <a:moveTo>
                    <a:pt x="0" y="0"/>
                  </a:moveTo>
                  <a:lnTo>
                    <a:pt x="0" y="35052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09600" y="2343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609600" y="2552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09600" y="2762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09600" y="2971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09600" y="3181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609600" y="3390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609600" y="36004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609600" y="3810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609600" y="4019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09600" y="4229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609600" y="4438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609600" y="4648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609600" y="4857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609600" y="506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9516" y="18964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组件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795016" y="18964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代码位置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081016" y="18964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图中位置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38516" y="18964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形状变化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8754" y="2156460"/>
              <a:ext cx="808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Embedding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794254" y="2156460"/>
              <a:ext cx="7310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201 / 214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080254" y="2156460"/>
              <a:ext cx="12661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Input Embedding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37754" y="2156460"/>
              <a:ext cx="1974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(32,340) → (32,340,768)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8754" y="2366010"/>
              <a:ext cx="11396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每层 Pre-Norm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794254" y="2366010"/>
              <a:ext cx="14418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182/183 → 189/193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080254" y="2366010"/>
              <a:ext cx="16756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(a)(b) 底部 RMSNorm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37754" y="23660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形状不变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8754" y="2575560"/>
              <a:ext cx="7022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QKV 投影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794254" y="2575560"/>
              <a:ext cx="10864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100-102 / 113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80254" y="2575560"/>
              <a:ext cx="14778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Linear → Q, K', V'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937754" y="2575560"/>
              <a:ext cx="264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(32,340,8,96) / (32,340,4,96)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8754" y="2785110"/>
              <a:ext cx="7181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QK-Norm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794254" y="2785110"/>
              <a:ext cx="10864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104-105 / 117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080254" y="278511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Ⓝ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937754" y="27851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形状不变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98754" y="2994660"/>
              <a:ext cx="3826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RoPE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794254" y="2994660"/>
              <a:ext cx="908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62-84 / 119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080254" y="2994660"/>
              <a:ext cx="14258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Ⓡ（Q,K 上，V 无）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37754" y="2994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形状不变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8754" y="3204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打分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794254" y="320421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128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080254" y="32042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⊗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937754" y="3204210"/>
              <a:ext cx="12560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(32,8,340,340)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98754" y="3413760"/>
              <a:ext cx="3998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mask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794254" y="341376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129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080254" y="3413760"/>
              <a:ext cx="6260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mask −∞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937754" y="34137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形状不变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98754" y="3623310"/>
              <a:ext cx="6770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SoftMax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794254" y="3623310"/>
              <a:ext cx="7310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126 / 131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080254" y="3623310"/>
              <a:ext cx="6770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SoftMax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937754" y="36233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形状不变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98754" y="3832860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repeat_kv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794254" y="3832860"/>
              <a:ext cx="908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86-89 / 124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080254" y="3832860"/>
              <a:ext cx="7193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V' 上的 Ⓡ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937754" y="3832860"/>
              <a:ext cx="795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 头 → 8 头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98754" y="4042410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o_proj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2794254" y="404241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133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080254" y="4042410"/>
              <a:ext cx="881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顶部 Linear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937754" y="4042410"/>
              <a:ext cx="2419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(32,8,340,96) → (32,340,768)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98754" y="4251960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残差 ⊕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2794254" y="4251960"/>
              <a:ext cx="1183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187 / 192 / 193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080254" y="42519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⊕ 与虚线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937754" y="4251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形状不变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98754" y="4461510"/>
              <a:ext cx="11106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gate/up/down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2794254" y="4461510"/>
              <a:ext cx="10864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140-142 / 146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5080254" y="4461510"/>
              <a:ext cx="15542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(b) 三 Linear + SiLU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937754" y="4461510"/>
              <a:ext cx="20718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(32,340,768) → 2432 → 768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98754" y="4671060"/>
              <a:ext cx="7776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最终 Norm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2794254" y="4671060"/>
              <a:ext cx="7310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204 / 230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5080254" y="4671060"/>
              <a:ext cx="10940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顶层 RMSNorm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937754" y="46710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形状不变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98754" y="4880610"/>
              <a:ext cx="6260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lm_head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2794254" y="4880610"/>
              <a:ext cx="7310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241 / 248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5080254" y="4880610"/>
              <a:ext cx="5095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Linear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937754" y="4880610"/>
              <a:ext cx="2419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(32,340,768) → (32,340,6400)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98754" y="5090160"/>
              <a:ext cx="6988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KV Cache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2794254" y="5090160"/>
              <a:ext cx="10864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120-123 / 213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5080254" y="50901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图未画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937754" y="50901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推理专用</a:t>
              </a:r>
            </a:p>
          </p:txBody>
        </p:sp>
      </p:grpSp>
      <p:grpSp>
        <p:nvGrpSpPr>
          <p:cNvPr id="102" name="closing-takeaway"/>
          <p:cNvGrpSpPr/>
          <p:nvPr/>
        </p:nvGrpSpPr>
        <p:grpSpPr>
          <a:xfrm>
            <a:off x="609600" y="5353050"/>
            <a:ext cx="10972800" cy="653034"/>
            <a:chOff x="609600" y="5353050"/>
            <a:chExt cx="10972800" cy="653034"/>
          </a:xfrm>
        </p:grpSpPr>
        <p:sp>
          <p:nvSpPr>
            <p:cNvPr id="98" name="Rectangle 98"/>
            <p:cNvSpPr/>
            <p:nvPr/>
          </p:nvSpPr>
          <p:spPr>
            <a:xfrm>
              <a:off x="609600" y="5353050"/>
              <a:ext cx="10972800" cy="628650"/>
            </a:xfrm>
            <a:prstGeom prst="rect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609600" y="5353050"/>
              <a:ext cx="38100" cy="628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829056" y="5406390"/>
              <a:ext cx="4708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形状守恒 + 残差累加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，让 8 层能稳定堆叠；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829056" y="5654040"/>
              <a:ext cx="50961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Q/K/V 的三重身份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，让 token 之间交换信息。</a:t>
              </a:r>
            </a:p>
          </p:txBody>
        </p:sp>
      </p:grpSp>
      <p:grpSp>
        <p:nvGrpSpPr>
          <p:cNvPr id="105" name="page-footer"/>
          <p:cNvGrpSpPr/>
          <p:nvPr/>
        </p:nvGrpSpPr>
        <p:grpSpPr>
          <a:xfrm>
            <a:off x="603504" y="6042660"/>
            <a:ext cx="10984992" cy="234696"/>
            <a:chOff x="603504" y="6042660"/>
            <a:chExt cx="10984992" cy="234696"/>
          </a:xfrm>
        </p:grpSpPr>
        <p:sp>
          <p:nvSpPr>
            <p:cNvPr id="103" name="TextBox 103"/>
            <p:cNvSpPr txBox="1"/>
            <p:nvPr/>
          </p:nvSpPr>
          <p:spPr>
            <a:xfrm>
              <a:off x="603504" y="6042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一屏速查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1035132" y="60426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19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inimind-transformer-internals">
  <a:themeElements>
    <a:clrScheme name="minimind-transformer-internals">
      <a:dk1>
        <a:srgbClr val="DCE6F2"/>
      </a:dk1>
      <a:lt1>
        <a:srgbClr val="0D1A2B"/>
      </a:lt1>
      <a:dk2>
        <a:srgbClr val="1F497D"/>
      </a:dk2>
      <a:lt2>
        <a:srgbClr val="16263C"/>
      </a:lt2>
      <a:accent1>
        <a:srgbClr val="5AA9E6"/>
      </a:accent1>
      <a:accent2>
        <a:srgbClr val="FFB020"/>
      </a:accent2>
      <a:accent3>
        <a:srgbClr val="46D3A3"/>
      </a:accent3>
      <a:accent4>
        <a:srgbClr val="5AA9E6"/>
      </a:accent4>
      <a:accent5>
        <a:srgbClr val="94A9C2"/>
      </a:accent5>
      <a:accent6>
        <a:srgbClr val="24384F"/>
      </a:accent6>
      <a:hlink>
        <a:srgbClr val="FFB020"/>
      </a:hlink>
      <a:folHlink>
        <a:srgbClr val="46D3A3"/>
      </a:folHlink>
    </a:clrScheme>
    <a:fontScheme name="minimind-transformer-internals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nimind-transformer-internal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inimind-transformer-internals">
  <a:themeElements>
    <a:clrScheme name="minimind-transformer-internals">
      <a:dk1>
        <a:srgbClr val="DCE6F2"/>
      </a:dk1>
      <a:lt1>
        <a:srgbClr val="0D1A2B"/>
      </a:lt1>
      <a:dk2>
        <a:srgbClr val="1F497D"/>
      </a:dk2>
      <a:lt2>
        <a:srgbClr val="16263C"/>
      </a:lt2>
      <a:accent1>
        <a:srgbClr val="5AA9E6"/>
      </a:accent1>
      <a:accent2>
        <a:srgbClr val="FFB020"/>
      </a:accent2>
      <a:accent3>
        <a:srgbClr val="46D3A3"/>
      </a:accent3>
      <a:accent4>
        <a:srgbClr val="5AA9E6"/>
      </a:accent4>
      <a:accent5>
        <a:srgbClr val="94A9C2"/>
      </a:accent5>
      <a:accent6>
        <a:srgbClr val="24384F"/>
      </a:accent6>
      <a:hlink>
        <a:srgbClr val="FFB020"/>
      </a:hlink>
      <a:folHlink>
        <a:srgbClr val="46D3A3"/>
      </a:folHlink>
    </a:clrScheme>
    <a:fontScheme name="minimind-transformer-internals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nimind-transformer-internal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2026-09-16T09:32:43Z</dcterms:created>
  <dcterms:modified xsi:type="dcterms:W3CDTF">2026-09-16T09:32:43Z</dcterms:modified>
  <cp:category/>
  <cp:contentStatus/>
</cp:coreProperties>
</file>