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2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  <Relationship Id="rId20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欢迎。接下来三十分钟，我们把 MiniMind 这个只有六千四百万参数的小模型从头拆到尾。它小到能在笔记本上跑完，但大模型该有的机制在里面一个都不少——八层 Transformer、分组查询注意力、旋转位置编码、SwiGLU 前馈、残差与归一化，甚至还有一个 MoE 版本。副标题里的三个数字值得先记住：隐藏维度七百六十八、八层、约六千四百万参数。今天不讲论文，只讲这份两百八十七行的代码里每一行到底在干什么。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先给一张全局地图。一次前向传播只有五站：分词器把文字变成整数 id，Embedding 把每个 id 查成七百六十八维向量，八层 Transformer 逐层精炼，最后经归一化和输出头打出六千四百个词各一个分数，再交给 SoftMax 变成概率。请特别注意中间那一段：八层进出都是三十二乘三百四十乘七百六十八，形状完全不变，变的只是内容。左边这张是官方结构总图，整幅完整呈现，后面每一页讲的都是它上面的一块。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第一站是查表。Embedding 就是一张六千四百行、七百六十八列的可学习表格，输入整数 id，直接抄出对应那一行；它和全连接层的区别是「取一行」和「全维加权混合」。这里有个省钱的设计：嵌入表与输出头共享同一个矩阵，省下约四百九十万参数，占整个模型的百分之八左右。更要记住一个伏笔——位置五的「好」和位置三百的「好」查出来一模一样，谁在跟谁说话、语气如何，全靠后面的注意力层补上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注意力让每个 token 环顾全句，从相关的 token 那里抄一点信息。它分四步：生成 Q 表示「我想找什么」，生成 K 表示「每个词能提供什么」，两者打分看对不对得上，最后按分数加权求和把内容抄过来。Q、K、V 其实是同一个输入向量经过三个不同线性层得到的三个身份。七百六十八维被切成八个查询头，每个头九十六维；而 K 和 V 只有四个头——这正是下一页要讲的 GQA。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八个查询头只需要四组 K、V。打分之前，重复复制函数把四组扩成八份，只是为了和八个查询头对齐形状，用完即弃。收益很实在：KV 的参数减半，推理时缓存也按四个头存，显存和每步带宽都省一半。图上有三个特别容易认错的地方：V 上面那个旋转记号其实是复制、不是位置编码，因为代码只旋转 Q 和 K；面板底部那个大块的归一化是主干的前置归一化，不是 QK 归一化；只有 Q 和 K 头顶那个小圆圈才是 QK 归一化。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位置不是加上去的，是转出来的。嵌入向量本身不含位置信息，不加处理的话「猫咬狗」和「狗咬猫」完全一样。旋转位置编码的做法是把 Q、K 在平面上旋转一个和位置成正比的角度：第五个词转五格，第三百个词转三百格，旋转之后两个向量的点积天然反映相对距离。注意 V 不旋转——位置是「查询时」的属性，不是内容本身的属性。另外 QK 归一化只对切完头之后的 Q、K 做处理，防止 softmax 饱和；而余弦、正弦表是初始化时一次算好的，注册成不持久化的缓冲区，不占参数也不进权重文件。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打分得到的是一个三百四十乘三百四十的方阵，这是全模型唯一的平方级张量，所以要除以根号九十六稳住数值。真正关键的是因果掩码：上三角加负无穷，softmax 之后这些位置权重精确为零，第 i 个 token 只能看见自己和前面的 token。为什么用负无穷而不是零？零不够「死」，还会漏进信息。这一条掩码也是语言模型能一次并行算出所有位置损失的前提。顺便一提，这里的 SoftMax 和最终输出层的 SoftMax 是两回事。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注意力负责「谁跟谁有关」，前馈网络才是参数大头，占单层参数的百分之七十六。整张图就是一行代码：降维投影作用在激活函数之后的门控结果上，再和升维投影逐元素相乘，最后回到七百六十八维。直觉上，升维那条是内容支路「我知道了什么」，门控那条加上 SiLU 是开关支路，相当于给每个特征维度装一个可学习的开关，把不重要的压向零。判断口诀是：谁接 SiLU 谁是门控，谁直通相乘符号谁是内容。图里那个 Dropout 是通用画法，这份代码默认是零点零，实际没有生效。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把一层完整走一遍。一层的两个公式是：先 x 加上注意力的输出，再 x 加上前馈网络的输出，每一次子层计算前都先过一次归一化。残差提供了一条梯度高速公路，反向传播时梯度可以顺着加号原样流回底层；子层也只需要学「对当前表示的修正量」。这里有个最容易读错的地方：第二条捷径的起点在第一个加号之后，不是回到最初的输入——两条捷径是接力，不是并联。MiniMind 里三种归一化各司其职：每层两个主干前置归一化、注意力内部一个 QK 归一化、出口一个全局归一化。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把前馈网络换成四个专家，每个 token 只走其中一个，就得到了 MoE 版本。路由器先给四个专家打分、做 softmax、选一个最高分，然后只对被选中的专家做前向，落选的直接跳过。参数量的算法很直观：每层多出三个专家、约一千六百八十万参数，八层下来约一亿三千四百万，加上基础模型的六千四百万，正好是官方标称的一亿九千八百万总参数，而激活仍是六千四百万。两个细节值得单独说：落选专家的参数也会被拉进计算图，否则分布式训练会报未使用参数；而默认的「选一个」加上权重归一化，路由权重恒等于一，图上的「加权求和」其实退化成了「整块选中」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同一份代码有两种走法。训练一次喂进整句三十二乘三百四十，因果掩码挡住未来，所有位置的损失一起算，所以训练相当于三百四十个「第一步」并行发生。推理则是自回归：先做一次预填充吃进整个提示，之后每一步只喂一个新 token，靠 KV 缓存接力。这张表把六个维度逐项对照了一遍——输入形状、位置起点、位置编码切片、打分阵形状、是否使用缓存、以及 SoftMax 出现在哪里。两者最大的差别是：训练的损失在 id 空间直接算，不需要解码器；只有推理和强化学习打分阶段才需要把 id 变回文字。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用一个具体例子走一遍。输入「我爱」，加上起始标记共三个 token，一次预填充同时算出这三个位置的 K、V 并写入缓存，再从最后一个位置采样出「天」。之后每一步只喂一个新 token：缓存从三格变四格、五格，打分阵也从三乘三变成一乘四、一乘五，最后采到结束符，解码回文字就是「我爱天空」。历史 K、V 之所以不用重算，是因为它们只由自己的内容和位置决定，内容没变就不必再算。缓存的「正本」始终是四个头的版本，GQA 的显存收益就是在这里兑现的。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最后看批量推理。两条请求长度不同，短的必须补齐，而且必须补在左边——因为采样只取最后一个位置的输出，补在右边会让采样点落在填充位上。补了左边就等于把填充挪到了真实 token 前面，而因果注意力挡不住左边，所以必须手动传注意力掩码把填充列压掉。两种掩码分工明确：负无穷挡未来，负一亿这个有限大负数挡凑数，重叠处相加仍是负无穷。这里藏着一个最危险的缺陷：左边补齐却忘了传掩码，代码会悄悄走融合注意力快车道，不报错、能出结果，但回答质量会明显下降。回到第二页那张总图——今天讲的每一页都是它上面的一块，关键机制在这两百八十七行里一个都不少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minimind-structure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minimind-structure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27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5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4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8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5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4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3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2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0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95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85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cbf471d7d9e0a3b0.png"/>
  <Relationship Id="rId3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68fd7204c5e2a78.jp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68fd7204c5e2a78.jp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968fd7204c5e2a78.jp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1d913b77424c4343.jp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3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ver-disc"/>
          <p:cNvSpPr/>
          <p:nvPr/>
        </p:nvSpPr>
        <p:spPr>
          <a:xfrm>
            <a:off x="7810500" y="4476750"/>
            <a:ext cx="5715000" cy="57150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</p:sp>
      <p:sp>
        <p:nvSpPr>
          <p:cNvPr id="3" name="cover-ring"/>
          <p:cNvSpPr/>
          <p:nvPr/>
        </p:nvSpPr>
        <p:spPr>
          <a:xfrm>
            <a:off x="8801100" y="5467350"/>
            <a:ext cx="3733800" cy="3733800"/>
          </a:xfrm>
          <a:prstGeom prst="ellipse">
            <a:avLst/>
          </a:prstGeom>
          <a:noFill/>
          <a:ln w="19050">
            <a:solidFill>
              <a:srgbClr val="E9EEF2"/>
            </a:solidFill>
          </a:ln>
        </p:spPr>
      </p:sp>
      <p:grpSp>
        <p:nvGrpSpPr>
          <p:cNvPr id="11" name="cover-title"/>
          <p:cNvGrpSpPr/>
          <p:nvPr/>
        </p:nvGrpSpPr>
        <p:grpSpPr>
          <a:xfrm>
            <a:off x="590550" y="1737360"/>
            <a:ext cx="4948682" cy="3651885"/>
            <a:chOff x="590550" y="1737360"/>
            <a:chExt cx="4948682" cy="3651885"/>
          </a:xfrm>
        </p:grpSpPr>
        <p:sp>
          <p:nvSpPr>
            <p:cNvPr id="4" name="TextBox 4"/>
            <p:cNvSpPr txBox="1"/>
            <p:nvPr/>
          </p:nvSpPr>
          <p:spPr>
            <a:xfrm>
              <a:off x="603504" y="1737360"/>
              <a:ext cx="18690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MINIMIND · 代码逐行拆解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90550" y="2270760"/>
              <a:ext cx="3787935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MiniMind 拆解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90550" y="2880360"/>
              <a:ext cx="3430524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一个小模型的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90550" y="3489960"/>
              <a:ext cx="2865120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结构与推理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98932" y="4250055"/>
              <a:ext cx="32545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768 维 · 8 层 · 64M 参数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98932" y="4573905"/>
              <a:ext cx="494030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从 Embedding 到 KV Cache 的完整旅程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1980" y="5095875"/>
              <a:ext cx="45884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不是讲论文，是讲这 </a:t>
              </a:r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287 行代码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里每一行在干什么</a:t>
              </a:r>
            </a:p>
          </p:txBody>
        </p:sp>
      </p:grpSp>
      <p:grpSp>
        <p:nvGrpSpPr>
          <p:cNvPr id="21" name="cover-figure"/>
          <p:cNvGrpSpPr/>
          <p:nvPr/>
        </p:nvGrpSpPr>
        <p:grpSpPr>
          <a:xfrm>
            <a:off x="7231380" y="2000250"/>
            <a:ext cx="4198620" cy="2798445"/>
            <a:chOff x="7231380" y="2000250"/>
            <a:chExt cx="4198620" cy="2798445"/>
          </a:xfrm>
        </p:grpSpPr>
        <p:sp>
          <p:nvSpPr>
            <p:cNvPr id="12" name="Rectangle 12"/>
            <p:cNvSpPr/>
            <p:nvPr/>
          </p:nvSpPr>
          <p:spPr>
            <a:xfrm>
              <a:off x="7239000" y="2000250"/>
              <a:ext cx="4191000" cy="590550"/>
            </a:xfrm>
            <a:prstGeom prst="roundRect">
              <a:avLst>
                <a:gd name="adj" fmla="val 22581"/>
              </a:avLst>
            </a:prstGeom>
            <a:solidFill>
              <a:schemeClr val="lt2"/>
            </a:solidFill>
            <a:ln w="9525">
              <a:solidFill>
                <a:srgbClr val="DDE4E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164525" y="2216468"/>
              <a:ext cx="23399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输入 (32, 340) ← 整数 id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9334500" y="2590800"/>
              <a:ext cx="1" cy="228600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239000" y="2857500"/>
              <a:ext cx="4191000" cy="590550"/>
            </a:xfrm>
            <a:prstGeom prst="roundRect">
              <a:avLst>
                <a:gd name="adj" fmla="val 22581"/>
              </a:avLst>
            </a:prstGeom>
            <a:solidFill>
              <a:schemeClr val="accent5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782877" y="3073718"/>
              <a:ext cx="3103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主干 (32, 340, 768) ← 8 层在这里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9334500" y="3448050"/>
              <a:ext cx="1" cy="228600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8" name="Rectangle 18"/>
            <p:cNvSpPr/>
            <p:nvPr/>
          </p:nvSpPr>
          <p:spPr>
            <a:xfrm>
              <a:off x="7239000" y="3714750"/>
              <a:ext cx="4191000" cy="590550"/>
            </a:xfrm>
            <a:prstGeom prst="roundRect">
              <a:avLst>
                <a:gd name="adj" fmla="val 22581"/>
              </a:avLst>
            </a:prstGeom>
            <a:solidFill>
              <a:schemeClr val="lt2"/>
            </a:solidFill>
            <a:ln w="9525">
              <a:solidFill>
                <a:srgbClr val="DDE4EA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651118" y="3930968"/>
              <a:ext cx="33667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输出 (32, 340, 6400) ← 每个位置打分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231380" y="4505325"/>
              <a:ext cx="34177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8 层进出形状始终不变，变的只是内容</a:t>
              </a:r>
            </a:p>
          </p:txBody>
        </p:sp>
      </p:grpSp>
      <p:grpSp>
        <p:nvGrpSpPr>
          <p:cNvPr id="24" name="cover-footer"/>
          <p:cNvGrpSpPr/>
          <p:nvPr/>
        </p:nvGrpSpPr>
        <p:grpSpPr>
          <a:xfrm>
            <a:off x="609600" y="6076950"/>
            <a:ext cx="10978896" cy="467106"/>
            <a:chOff x="609600" y="6076950"/>
            <a:chExt cx="10978896" cy="467106"/>
          </a:xfrm>
        </p:grpSpPr>
        <p:pic>
          <p:nvPicPr>
            <p:cNvPr id="22" name="Image 2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6076950"/>
              <a:ext cx="1638300" cy="400050"/>
            </a:xfrm>
            <a:prstGeom prst="rect">
              <a:avLst/>
            </a:prstGeom>
          </p:spPr>
        </p:pic>
        <p:sp>
          <p:nvSpPr>
            <p:cNvPr id="23" name="TextBox 23"/>
            <p:cNvSpPr txBox="1"/>
            <p:nvPr/>
          </p:nvSpPr>
          <p:spPr>
            <a:xfrm>
              <a:off x="5879810" y="6309360"/>
              <a:ext cx="57086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代码依据: model/model_minimind.py · 结构图: images/LLM-structure.jpg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884" y="699135"/>
            <a:ext cx="10993374" cy="529590"/>
            <a:chOff x="595884" y="699135"/>
            <a:chExt cx="10993374" cy="529590"/>
          </a:xfrm>
        </p:grpSpPr>
        <p:sp>
          <p:nvSpPr>
            <p:cNvPr id="2" name="TextBox 2"/>
            <p:cNvSpPr txBox="1"/>
            <p:nvPr/>
          </p:nvSpPr>
          <p:spPr>
            <a:xfrm>
              <a:off x="595884" y="699135"/>
              <a:ext cx="438912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一次前向传播的五站流水线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545887" y="844868"/>
              <a:ext cx="40433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6"/>
                  </a:solidFill>
                  <a:latin typeface="Consolas"/>
                  <a:ea typeface="Microsoft YaHei"/>
                  <a:cs typeface="Consolas"/>
                </a:rPr>
                <a:t>MiniMindForCausalLM.forward · 245–253 行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19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</p:grpSp>
      <p:grpSp>
        <p:nvGrpSpPr>
          <p:cNvPr id="8" name="global-map-figure"/>
          <p:cNvGrpSpPr/>
          <p:nvPr/>
        </p:nvGrpSpPr>
        <p:grpSpPr>
          <a:xfrm>
            <a:off x="603504" y="1409700"/>
            <a:ext cx="7391550" cy="4829556"/>
            <a:chOff x="603504" y="1409700"/>
            <a:chExt cx="7391550" cy="4829556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409700"/>
              <a:ext cx="7315200" cy="4572000"/>
            </a:xfrm>
            <a:prstGeom prst="rect">
              <a:avLst/>
            </a:prstGeom>
          </p:spPr>
        </p:pic>
        <p:sp>
          <p:nvSpPr>
            <p:cNvPr id="7" name="TextBox 7"/>
            <p:cNvSpPr txBox="1"/>
            <p:nvPr/>
          </p:nvSpPr>
          <p:spPr>
            <a:xfrm>
              <a:off x="603504" y="6004560"/>
              <a:ext cx="739155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官方结构图 The Structure of MiniMind (Dense Model) · images/LLM-structure.jpg（完整呈现）</a:t>
              </a:r>
            </a:p>
          </p:txBody>
        </p:sp>
      </p:grpSp>
      <p:grpSp>
        <p:nvGrpSpPr>
          <p:cNvPr id="24" name="shape-pipeline"/>
          <p:cNvGrpSpPr/>
          <p:nvPr/>
        </p:nvGrpSpPr>
        <p:grpSpPr>
          <a:xfrm>
            <a:off x="8183880" y="1546860"/>
            <a:ext cx="3398520" cy="4318635"/>
            <a:chOff x="8183880" y="1546860"/>
            <a:chExt cx="3398520" cy="4318635"/>
          </a:xfrm>
        </p:grpSpPr>
        <p:sp>
          <p:nvSpPr>
            <p:cNvPr id="9" name="TextBox 9"/>
            <p:cNvSpPr txBox="1"/>
            <p:nvPr/>
          </p:nvSpPr>
          <p:spPr>
            <a:xfrm>
              <a:off x="8185404" y="1546860"/>
              <a:ext cx="21203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形状怎么变 · tensor shapes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191500" y="1809750"/>
              <a:ext cx="3390900" cy="438150"/>
            </a:xfrm>
            <a:prstGeom prst="roundRect">
              <a:avLst>
                <a:gd name="adj" fmla="val 26087"/>
              </a:avLst>
            </a:prstGeom>
            <a:solidFill>
              <a:schemeClr val="lt2"/>
            </a:solidFill>
            <a:ln w="9525">
              <a:solidFill>
                <a:srgbClr val="DDE4E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198578" y="1949768"/>
              <a:ext cx="13767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输入 (32, 340)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9886950" y="2247900"/>
              <a:ext cx="1" cy="190500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3" name="Rectangle 13"/>
            <p:cNvSpPr/>
            <p:nvPr/>
          </p:nvSpPr>
          <p:spPr>
            <a:xfrm>
              <a:off x="8191500" y="2457450"/>
              <a:ext cx="3390900" cy="438150"/>
            </a:xfrm>
            <a:prstGeom prst="roundRect">
              <a:avLst>
                <a:gd name="adj" fmla="val 26087"/>
              </a:avLst>
            </a:prstGeom>
            <a:solidFill>
              <a:schemeClr val="accent5"/>
            </a:solidFill>
            <a:ln w="19050">
              <a:solidFill>
                <a:schemeClr val="accent2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948690" y="2597468"/>
              <a:ext cx="18765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主干 (32, 340, 768)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9886950" y="2895600"/>
              <a:ext cx="1" cy="190500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6" name="Rectangle 16"/>
            <p:cNvSpPr/>
            <p:nvPr/>
          </p:nvSpPr>
          <p:spPr>
            <a:xfrm>
              <a:off x="8191500" y="3105150"/>
              <a:ext cx="3390900" cy="438150"/>
            </a:xfrm>
            <a:prstGeom prst="roundRect">
              <a:avLst>
                <a:gd name="adj" fmla="val 26087"/>
              </a:avLst>
            </a:prstGeom>
            <a:solidFill>
              <a:schemeClr val="lt2"/>
            </a:solidFill>
            <a:ln w="9525">
              <a:solidFill>
                <a:srgbClr val="DDE4E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898712" y="3245168"/>
              <a:ext cx="19764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打分 (32, 340, 6400)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183880" y="3762375"/>
              <a:ext cx="218300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 层 Transformer 进出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183880" y="404812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形状完全相同。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183880" y="45243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变的是内容：注意力让信息在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183880" y="4810125"/>
              <a:ext cx="307657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token 间流动，FFN 对每个 token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183880" y="50958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独立加工知识。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183880" y="5572125"/>
              <a:ext cx="27614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五站全在 </a:t>
              </a:r>
              <a:r>
                <a:rPr lang="zh-CN" sz="1500" b="1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245–253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 这 9 行里。</a:t>
              </a:r>
            </a:p>
          </p:txBody>
        </p:sp>
      </p:grpSp>
      <p:grpSp>
        <p:nvGrpSpPr>
          <p:cNvPr id="27" name="footer"/>
          <p:cNvGrpSpPr/>
          <p:nvPr/>
        </p:nvGrpSpPr>
        <p:grpSpPr>
          <a:xfrm>
            <a:off x="603504" y="6309360"/>
            <a:ext cx="10984992" cy="234696"/>
            <a:chOff x="603504" y="6309360"/>
            <a:chExt cx="10984992" cy="234696"/>
          </a:xfrm>
        </p:grpSpPr>
        <p:sp>
          <p:nvSpPr>
            <p:cNvPr id="25" name="TextBox 25"/>
            <p:cNvSpPr txBox="1"/>
            <p:nvPr/>
          </p:nvSpPr>
          <p:spPr>
            <a:xfrm>
              <a:off x="603504" y="6309360"/>
              <a:ext cx="18556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MiniMind 结构与推理拆解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035132" y="63093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02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884" y="699135"/>
            <a:ext cx="10993374" cy="529590"/>
            <a:chOff x="595884" y="699135"/>
            <a:chExt cx="10993374" cy="529590"/>
          </a:xfrm>
        </p:grpSpPr>
        <p:sp>
          <p:nvSpPr>
            <p:cNvPr id="2" name="TextBox 2"/>
            <p:cNvSpPr txBox="1"/>
            <p:nvPr/>
          </p:nvSpPr>
          <p:spPr>
            <a:xfrm>
              <a:off x="595884" y="699135"/>
              <a:ext cx="420532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Embedding 只是一次查表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286995" y="844868"/>
              <a:ext cx="53022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6"/>
                  </a:solidFill>
                  <a:latin typeface="Consolas"/>
                  <a:ea typeface="Microsoft YaHei"/>
                  <a:cs typeface="Consolas"/>
                </a:rPr>
                <a:t>model_minimind.py · 201 定义 / 214 使用 / 241–242 绑定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19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</p:grpSp>
      <p:grpSp>
        <p:nvGrpSpPr>
          <p:cNvPr id="26" name="lookup-diagram"/>
          <p:cNvGrpSpPr/>
          <p:nvPr/>
        </p:nvGrpSpPr>
        <p:grpSpPr>
          <a:xfrm>
            <a:off x="601980" y="1661160"/>
            <a:ext cx="5684520" cy="4280535"/>
            <a:chOff x="601980" y="1661160"/>
            <a:chExt cx="5684520" cy="4280535"/>
          </a:xfrm>
        </p:grpSpPr>
        <p:sp>
          <p:nvSpPr>
            <p:cNvPr id="6" name="TextBox 6"/>
            <p:cNvSpPr txBox="1"/>
            <p:nvPr/>
          </p:nvSpPr>
          <p:spPr>
            <a:xfrm>
              <a:off x="603504" y="1661160"/>
              <a:ext cx="13368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一次查表 · lookup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09600" y="3143250"/>
              <a:ext cx="1143000" cy="495300"/>
            </a:xfrm>
            <a:prstGeom prst="roundRect">
              <a:avLst>
                <a:gd name="adj" fmla="val 23077"/>
              </a:avLst>
            </a:prstGeom>
            <a:solidFill>
              <a:schemeClr val="lt2"/>
            </a:solidFill>
            <a:ln w="9525">
              <a:solidFill>
                <a:srgbClr val="DDE4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24398" y="3302318"/>
              <a:ext cx="713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id 2456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1752600" y="3390900"/>
              <a:ext cx="4191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0" name="Rectangle 10"/>
            <p:cNvSpPr/>
            <p:nvPr/>
          </p:nvSpPr>
          <p:spPr>
            <a:xfrm>
              <a:off x="2247900" y="1676400"/>
              <a:ext cx="2171700" cy="3467100"/>
            </a:xfrm>
            <a:prstGeom prst="roundRect">
              <a:avLst>
                <a:gd name="adj" fmla="val 6140"/>
              </a:avLst>
            </a:prstGeom>
            <a:solidFill>
              <a:schemeClr val="lt2"/>
            </a:solidFill>
            <a:ln w="9525">
              <a:solidFill>
                <a:srgbClr val="DDE4EA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713787" y="1813560"/>
              <a:ext cx="12399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6400 行 × 768 列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2247900" y="2114550"/>
              <a:ext cx="2171700" cy="9525"/>
            </a:xfrm>
            <a:custGeom>
              <a:avLst/>
              <a:gdLst/>
              <a:ahLst/>
              <a:cxnLst/>
              <a:rect l="l" t="t" r="r" b="b"/>
              <a:pathLst>
                <a:path w="2171700" h="9525">
                  <a:moveTo>
                    <a:pt x="0" y="0"/>
                  </a:moveTo>
                  <a:lnTo>
                    <a:pt x="21717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2247900" y="2533650"/>
              <a:ext cx="2171700" cy="9525"/>
            </a:xfrm>
            <a:custGeom>
              <a:avLst/>
              <a:gdLst/>
              <a:ahLst/>
              <a:cxnLst/>
              <a:rect l="l" t="t" r="r" b="b"/>
              <a:pathLst>
                <a:path w="2171700" h="9525">
                  <a:moveTo>
                    <a:pt x="0" y="0"/>
                  </a:moveTo>
                  <a:lnTo>
                    <a:pt x="21717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2247900" y="2952750"/>
              <a:ext cx="2171700" cy="9525"/>
            </a:xfrm>
            <a:custGeom>
              <a:avLst/>
              <a:gdLst/>
              <a:ahLst/>
              <a:cxnLst/>
              <a:rect l="l" t="t" r="r" b="b"/>
              <a:pathLst>
                <a:path w="2171700" h="9525">
                  <a:moveTo>
                    <a:pt x="0" y="0"/>
                  </a:moveTo>
                  <a:lnTo>
                    <a:pt x="21717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2247900" y="3790950"/>
              <a:ext cx="2171700" cy="9525"/>
            </a:xfrm>
            <a:custGeom>
              <a:avLst/>
              <a:gdLst/>
              <a:ahLst/>
              <a:cxnLst/>
              <a:rect l="l" t="t" r="r" b="b"/>
              <a:pathLst>
                <a:path w="2171700" h="9525">
                  <a:moveTo>
                    <a:pt x="0" y="0"/>
                  </a:moveTo>
                  <a:lnTo>
                    <a:pt x="21717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2247900" y="4210050"/>
              <a:ext cx="2171700" cy="9525"/>
            </a:xfrm>
            <a:custGeom>
              <a:avLst/>
              <a:gdLst/>
              <a:ahLst/>
              <a:cxnLst/>
              <a:rect l="l" t="t" r="r" b="b"/>
              <a:pathLst>
                <a:path w="2171700" h="9525">
                  <a:moveTo>
                    <a:pt x="0" y="0"/>
                  </a:moveTo>
                  <a:lnTo>
                    <a:pt x="21717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2247900" y="4629150"/>
              <a:ext cx="2171700" cy="9525"/>
            </a:xfrm>
            <a:custGeom>
              <a:avLst/>
              <a:gdLst/>
              <a:ahLst/>
              <a:cxnLst/>
              <a:rect l="l" t="t" r="r" b="b"/>
              <a:pathLst>
                <a:path w="2171700" h="9525">
                  <a:moveTo>
                    <a:pt x="0" y="0"/>
                  </a:moveTo>
                  <a:lnTo>
                    <a:pt x="21717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8" name="Rectangle 18"/>
            <p:cNvSpPr/>
            <p:nvPr/>
          </p:nvSpPr>
          <p:spPr>
            <a:xfrm>
              <a:off x="2247900" y="2971800"/>
              <a:ext cx="2171700" cy="800100"/>
            </a:xfrm>
            <a:prstGeom prst="rect">
              <a:avLst/>
            </a:prstGeom>
            <a:solidFill>
              <a:schemeClr val="accent2">
                <a:alpha val="10000"/>
              </a:schemeClr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2247900" y="2971800"/>
              <a:ext cx="2171700" cy="80010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845289" y="3302318"/>
              <a:ext cx="9769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第 2456 行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4419600" y="3390900"/>
              <a:ext cx="4572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953000" y="3143250"/>
              <a:ext cx="1333500" cy="495300"/>
            </a:xfrm>
            <a:prstGeom prst="roundRect">
              <a:avLst>
                <a:gd name="adj" fmla="val 23077"/>
              </a:avLst>
            </a:prstGeom>
            <a:solidFill>
              <a:schemeClr val="accent5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140376" y="3302318"/>
              <a:ext cx="9587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768 维向量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01980" y="5362575"/>
              <a:ext cx="38549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整张表就是 </a:t>
              </a:r>
              <a:r>
                <a:rPr lang="en-US" sz="15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nn.Embedding(6400, 768)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01980" y="5648325"/>
              <a:ext cx="36802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输入整数 id，输出表格里对应的那一行。</a:t>
              </a:r>
            </a:p>
          </p:txBody>
        </p:sp>
      </p:grpSp>
      <p:grpSp>
        <p:nvGrpSpPr>
          <p:cNvPr id="38" name="embedding-notes"/>
          <p:cNvGrpSpPr/>
          <p:nvPr/>
        </p:nvGrpSpPr>
        <p:grpSpPr>
          <a:xfrm>
            <a:off x="6278880" y="1546860"/>
            <a:ext cx="3545815" cy="3709035"/>
            <a:chOff x="6278880" y="1546860"/>
            <a:chExt cx="3545815" cy="3709035"/>
          </a:xfrm>
        </p:grpSpPr>
        <p:sp>
          <p:nvSpPr>
            <p:cNvPr id="27" name="TextBox 27"/>
            <p:cNvSpPr txBox="1"/>
            <p:nvPr/>
          </p:nvSpPr>
          <p:spPr>
            <a:xfrm>
              <a:off x="6280404" y="1546860"/>
              <a:ext cx="21667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它和 nn.Linear 有什么不一样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78880" y="1857375"/>
              <a:ext cx="33612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与 nn.Linear 的区别：Embedding 是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78880" y="214312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「取一行」，每个位置独立查表；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278880" y="2428875"/>
              <a:ext cx="25154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Linear 是全维度加权混合。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78880" y="2981325"/>
              <a:ext cx="33268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权重绑定（</a:t>
              </a:r>
              <a:r>
                <a:rPr lang="zh-CN" sz="15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242 行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）：embedding 与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278880" y="3267075"/>
              <a:ext cx="31249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输出头 lm_head 共享同一个矩阵，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278880" y="3552825"/>
              <a:ext cx="35458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省下约 </a:t>
              </a:r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4.9M 参数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，占 64M 的约 8%。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278880" y="4105275"/>
              <a:ext cx="30643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伏笔：位置 5 的「好」和位置 300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278880" y="439102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的「好」，查出来的向量一模一样。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78880" y="467677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谁在跟谁说话、语气如何，全靠后面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78880" y="49625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的注意力层补上。</a:t>
              </a:r>
            </a:p>
          </p:txBody>
        </p:sp>
      </p:grpSp>
      <p:grpSp>
        <p:nvGrpSpPr>
          <p:cNvPr id="41" name="footer"/>
          <p:cNvGrpSpPr/>
          <p:nvPr/>
        </p:nvGrpSpPr>
        <p:grpSpPr>
          <a:xfrm>
            <a:off x="603504" y="6309360"/>
            <a:ext cx="10984992" cy="234696"/>
            <a:chOff x="603504" y="6309360"/>
            <a:chExt cx="10984992" cy="234696"/>
          </a:xfrm>
        </p:grpSpPr>
        <p:sp>
          <p:nvSpPr>
            <p:cNvPr id="39" name="TextBox 39"/>
            <p:cNvSpPr txBox="1"/>
            <p:nvPr/>
          </p:nvSpPr>
          <p:spPr>
            <a:xfrm>
              <a:off x="603504" y="6309360"/>
              <a:ext cx="58358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形状: (32,340) → (32,340,768) · 词表只影响 embedding 与 lm_head 两处参数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035132" y="63093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03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884" y="699135"/>
            <a:ext cx="10993374" cy="529590"/>
            <a:chOff x="595884" y="699135"/>
            <a:chExt cx="10993374" cy="529590"/>
          </a:xfrm>
        </p:grpSpPr>
        <p:sp>
          <p:nvSpPr>
            <p:cNvPr id="2" name="TextBox 2"/>
            <p:cNvSpPr txBox="1"/>
            <p:nvPr/>
          </p:nvSpPr>
          <p:spPr>
            <a:xfrm>
              <a:off x="595884" y="699135"/>
              <a:ext cx="438912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注意力就是按相关度抄信息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950335" y="844868"/>
              <a:ext cx="46389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6"/>
                  </a:solidFill>
                  <a:latin typeface="Consolas"/>
                  <a:ea typeface="Microsoft YaHei"/>
                  <a:cs typeface="Consolas"/>
                </a:rPr>
                <a:t>model_minimind.py · 100–102 定义 / 113–116 执行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19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</p:grpSp>
      <p:grpSp>
        <p:nvGrpSpPr>
          <p:cNvPr id="35" name="attention-four-steps"/>
          <p:cNvGrpSpPr/>
          <p:nvPr/>
        </p:nvGrpSpPr>
        <p:grpSpPr>
          <a:xfrm>
            <a:off x="609600" y="1676400"/>
            <a:ext cx="6667500" cy="2095500"/>
            <a:chOff x="609600" y="1676400"/>
            <a:chExt cx="6667500" cy="2095500"/>
          </a:xfrm>
        </p:grpSpPr>
        <p:sp>
          <p:nvSpPr>
            <p:cNvPr id="6" name="Rectangle 6"/>
            <p:cNvSpPr/>
            <p:nvPr/>
          </p:nvSpPr>
          <p:spPr>
            <a:xfrm>
              <a:off x="609600" y="1676400"/>
              <a:ext cx="6667500" cy="2095500"/>
            </a:xfrm>
            <a:prstGeom prst="rect">
              <a:avLst/>
            </a:prstGeom>
            <a:noFill/>
            <a:ln w="9525">
              <a:solidFill>
                <a:srgbClr val="DDE4EA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76400"/>
              <a:ext cx="6667500" cy="419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609600" y="2095500"/>
              <a:ext cx="6667500" cy="9525"/>
            </a:xfrm>
            <a:custGeom>
              <a:avLst/>
              <a:gdLst/>
              <a:ahLst/>
              <a:cxnLst/>
              <a:rect l="l" t="t" r="r" b="b"/>
              <a:pathLst>
                <a:path w="6667500" h="9525">
                  <a:moveTo>
                    <a:pt x="0" y="0"/>
                  </a:moveTo>
                  <a:lnTo>
                    <a:pt x="66675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609600" y="2514600"/>
              <a:ext cx="6667500" cy="9525"/>
            </a:xfrm>
            <a:custGeom>
              <a:avLst/>
              <a:gdLst/>
              <a:ahLst/>
              <a:cxnLst/>
              <a:rect l="l" t="t" r="r" b="b"/>
              <a:pathLst>
                <a:path w="6667500" h="9525">
                  <a:moveTo>
                    <a:pt x="0" y="0"/>
                  </a:moveTo>
                  <a:lnTo>
                    <a:pt x="66675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609600" y="2933700"/>
              <a:ext cx="6667500" cy="9525"/>
            </a:xfrm>
            <a:custGeom>
              <a:avLst/>
              <a:gdLst/>
              <a:ahLst/>
              <a:cxnLst/>
              <a:rect l="l" t="t" r="r" b="b"/>
              <a:pathLst>
                <a:path w="6667500" h="9525">
                  <a:moveTo>
                    <a:pt x="0" y="0"/>
                  </a:moveTo>
                  <a:lnTo>
                    <a:pt x="66675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609600" y="3352800"/>
              <a:ext cx="6667500" cy="9525"/>
            </a:xfrm>
            <a:custGeom>
              <a:avLst/>
              <a:gdLst/>
              <a:ahLst/>
              <a:cxnLst/>
              <a:rect l="l" t="t" r="r" b="b"/>
              <a:pathLst>
                <a:path w="6667500" h="9525">
                  <a:moveTo>
                    <a:pt x="0" y="0"/>
                  </a:moveTo>
                  <a:lnTo>
                    <a:pt x="66675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752600" y="1676400"/>
              <a:ext cx="9525" cy="2095500"/>
            </a:xfrm>
            <a:custGeom>
              <a:avLst/>
              <a:gdLst/>
              <a:ahLst/>
              <a:cxnLst/>
              <a:rect l="l" t="t" r="r" b="b"/>
              <a:pathLst>
                <a:path w="9525" h="2095500">
                  <a:moveTo>
                    <a:pt x="0" y="0"/>
                  </a:moveTo>
                  <a:lnTo>
                    <a:pt x="0" y="209550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3371850" y="1676400"/>
              <a:ext cx="9525" cy="2095500"/>
            </a:xfrm>
            <a:custGeom>
              <a:avLst/>
              <a:gdLst/>
              <a:ahLst/>
              <a:cxnLst/>
              <a:rect l="l" t="t" r="r" b="b"/>
              <a:pathLst>
                <a:path w="9525" h="2095500">
                  <a:moveTo>
                    <a:pt x="0" y="0"/>
                  </a:moveTo>
                  <a:lnTo>
                    <a:pt x="0" y="209550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4419600" y="1676400"/>
              <a:ext cx="9525" cy="2095500"/>
            </a:xfrm>
            <a:custGeom>
              <a:avLst/>
              <a:gdLst/>
              <a:ahLst/>
              <a:cxnLst/>
              <a:rect l="l" t="t" r="r" b="b"/>
              <a:pathLst>
                <a:path w="9525" h="2095500">
                  <a:moveTo>
                    <a:pt x="0" y="0"/>
                  </a:moveTo>
                  <a:lnTo>
                    <a:pt x="0" y="209550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35330" y="17811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步骤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878330" y="17811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提问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497580" y="17811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类比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545330" y="17811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作用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35330" y="2200275"/>
              <a:ext cx="6431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生成 Q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878330" y="22002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我想找什么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97580" y="22002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提问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45330" y="2200275"/>
              <a:ext cx="25090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当前 token 发出的查询向量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35330" y="2619375"/>
              <a:ext cx="6004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生成 K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878330" y="26193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每个词提供什么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497580" y="26193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标签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545330" y="2619375"/>
              <a:ext cx="23071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每个 token 的被查询向量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35330" y="3038475"/>
              <a:ext cx="8778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Q·K 打分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878330" y="30384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对不对得上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497580" y="303847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对暗号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45330" y="30384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两两相似度分数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35330" y="3457575"/>
              <a:ext cx="100431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加权求和 V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878330" y="345757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抄什么内容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497580" y="34575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抄写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545330" y="3457575"/>
              <a:ext cx="18760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按相关度混合 V 信息</a:t>
              </a:r>
            </a:p>
          </p:txBody>
        </p:sp>
      </p:grpSp>
      <p:grpSp>
        <p:nvGrpSpPr>
          <p:cNvPr id="48" name="qkv-identity"/>
          <p:cNvGrpSpPr/>
          <p:nvPr/>
        </p:nvGrpSpPr>
        <p:grpSpPr>
          <a:xfrm>
            <a:off x="603504" y="4133850"/>
            <a:ext cx="4349496" cy="1600200"/>
            <a:chOff x="603504" y="4133850"/>
            <a:chExt cx="4349496" cy="1600200"/>
          </a:xfrm>
        </p:grpSpPr>
        <p:sp>
          <p:nvSpPr>
            <p:cNvPr id="36" name="TextBox 36"/>
            <p:cNvSpPr txBox="1"/>
            <p:nvPr/>
          </p:nvSpPr>
          <p:spPr>
            <a:xfrm>
              <a:off x="603504" y="4213860"/>
              <a:ext cx="15099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Q、K、V 的三重身份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609600" y="4476750"/>
              <a:ext cx="1485900" cy="495300"/>
            </a:xfrm>
            <a:prstGeom prst="roundRect">
              <a:avLst>
                <a:gd name="adj" fmla="val 23077"/>
              </a:avLst>
            </a:prstGeom>
            <a:solidFill>
              <a:schemeClr val="accent5"/>
            </a:solidFill>
            <a:ln w="19050">
              <a:solidFill>
                <a:schemeClr val="accent1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46005" y="4635818"/>
              <a:ext cx="14130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x (32,340,768)</a:t>
              </a:r>
            </a:p>
          </p:txBody>
        </p:sp>
        <p:sp>
          <p:nvSpPr>
            <p:cNvPr id="39" name="Line 39"/>
            <p:cNvSpPr/>
            <p:nvPr/>
          </p:nvSpPr>
          <p:spPr>
            <a:xfrm flipV="1">
              <a:off x="2095500" y="4381500"/>
              <a:ext cx="1066800" cy="342900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40" name="Line 40"/>
            <p:cNvSpPr/>
            <p:nvPr/>
          </p:nvSpPr>
          <p:spPr>
            <a:xfrm>
              <a:off x="2095500" y="4724400"/>
              <a:ext cx="1066800" cy="209550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41" name="Line 41"/>
            <p:cNvSpPr/>
            <p:nvPr/>
          </p:nvSpPr>
          <p:spPr>
            <a:xfrm>
              <a:off x="2095500" y="4724400"/>
              <a:ext cx="1066800" cy="762000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42" name="Rectangle 42"/>
            <p:cNvSpPr/>
            <p:nvPr/>
          </p:nvSpPr>
          <p:spPr>
            <a:xfrm>
              <a:off x="3238500" y="4133850"/>
              <a:ext cx="1714500" cy="495300"/>
            </a:xfrm>
            <a:prstGeom prst="roundRect">
              <a:avLst>
                <a:gd name="adj" fmla="val 23077"/>
              </a:avLst>
            </a:prstGeom>
            <a:solidFill>
              <a:schemeClr val="lt2"/>
            </a:solidFill>
            <a:ln w="9525">
              <a:solidFill>
                <a:srgbClr val="DDE4EA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3431296" y="4292918"/>
              <a:ext cx="13289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Q · 8 头 × 96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3238500" y="4686300"/>
              <a:ext cx="1714500" cy="495300"/>
            </a:xfrm>
            <a:prstGeom prst="roundRect">
              <a:avLst>
                <a:gd name="adj" fmla="val 23077"/>
              </a:avLst>
            </a:prstGeom>
            <a:solidFill>
              <a:schemeClr val="lt2"/>
            </a:solidFill>
            <a:ln w="9525">
              <a:solidFill>
                <a:srgbClr val="DDE4E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3431296" y="4845368"/>
              <a:ext cx="13289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K · 4 头 × 96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3238500" y="5238750"/>
              <a:ext cx="1714500" cy="495300"/>
            </a:xfrm>
            <a:prstGeom prst="roundRect">
              <a:avLst>
                <a:gd name="adj" fmla="val 23077"/>
              </a:avLst>
            </a:prstGeom>
            <a:solidFill>
              <a:schemeClr val="lt2"/>
            </a:solidFill>
            <a:ln w="9525">
              <a:solidFill>
                <a:srgbClr val="DDE4EA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3431296" y="5397818"/>
              <a:ext cx="13289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V · 4 头 × 96</a:t>
              </a:r>
            </a:p>
          </p:txBody>
        </p:sp>
      </p:grpSp>
      <p:grpSp>
        <p:nvGrpSpPr>
          <p:cNvPr id="59" name="attention-notes"/>
          <p:cNvGrpSpPr/>
          <p:nvPr/>
        </p:nvGrpSpPr>
        <p:grpSpPr>
          <a:xfrm>
            <a:off x="7612380" y="1546860"/>
            <a:ext cx="3099054" cy="3537585"/>
            <a:chOff x="7612380" y="1546860"/>
            <a:chExt cx="3099054" cy="3537585"/>
          </a:xfrm>
        </p:grpSpPr>
        <p:sp>
          <p:nvSpPr>
            <p:cNvPr id="49" name="TextBox 49"/>
            <p:cNvSpPr txBox="1"/>
            <p:nvPr/>
          </p:nvSpPr>
          <p:spPr>
            <a:xfrm>
              <a:off x="7613904" y="15468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为什么叫「三重身份」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612380" y="1857375"/>
              <a:ext cx="30990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Q、K、V 都是同一个输入向量经过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7612380" y="214312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三个不同线性层变换出来的。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613904" y="2727960"/>
              <a:ext cx="14014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拆头：768 = 8 × 96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612380" y="3038475"/>
              <a:ext cx="30217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 切成 8 个头，K、V 只有 4 个；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612380" y="3324225"/>
              <a:ext cx="27816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每个头 96 维，各自独立打分。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613904" y="39090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为什么要多个头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612380" y="421957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一个头只能学一种关注模式；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7612380" y="4505325"/>
              <a:ext cx="26100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 个头从不同角度提取关系，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612380" y="4791075"/>
              <a:ext cx="228695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最后拼合回 768 维主干。</a:t>
              </a:r>
            </a:p>
          </p:txBody>
        </p:sp>
      </p:grpSp>
      <p:grpSp>
        <p:nvGrpSpPr>
          <p:cNvPr id="62" name="footer"/>
          <p:cNvGrpSpPr/>
          <p:nvPr/>
        </p:nvGrpSpPr>
        <p:grpSpPr>
          <a:xfrm>
            <a:off x="603504" y="6309360"/>
            <a:ext cx="10984992" cy="234696"/>
            <a:chOff x="603504" y="6309360"/>
            <a:chExt cx="10984992" cy="234696"/>
          </a:xfrm>
        </p:grpSpPr>
        <p:sp>
          <p:nvSpPr>
            <p:cNvPr id="60" name="TextBox 60"/>
            <p:cNvSpPr txBox="1"/>
            <p:nvPr/>
          </p:nvSpPr>
          <p:spPr>
            <a:xfrm>
              <a:off x="603504" y="6309360"/>
              <a:ext cx="47026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类比与四步拆解出自 docs/Transformer层工作原理.md §三～四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1035132" y="63093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04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884" y="699135"/>
            <a:ext cx="10993374" cy="529590"/>
            <a:chOff x="595884" y="699135"/>
            <a:chExt cx="10993374" cy="529590"/>
          </a:xfrm>
        </p:grpSpPr>
        <p:sp>
          <p:nvSpPr>
            <p:cNvPr id="2" name="TextBox 2"/>
            <p:cNvSpPr txBox="1"/>
            <p:nvPr/>
          </p:nvSpPr>
          <p:spPr>
            <a:xfrm>
              <a:off x="595884" y="699135"/>
              <a:ext cx="383801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 组 KV 服务 8 个 Q 头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550514" y="844868"/>
              <a:ext cx="50387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6"/>
                  </a:solidFill>
                  <a:latin typeface="Consolas"/>
                  <a:ea typeface="Microsoft YaHei"/>
                  <a:cs typeface="Consolas"/>
                </a:rPr>
                <a:t>model_minimind.py · 86–89 定义 repeat_kv / 124 执行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19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</p:grpSp>
      <p:grpSp>
        <p:nvGrpSpPr>
          <p:cNvPr id="12" name="gqa-locator"/>
          <p:cNvGrpSpPr/>
          <p:nvPr/>
        </p:nvGrpSpPr>
        <p:grpSpPr>
          <a:xfrm>
            <a:off x="609600" y="1600200"/>
            <a:ext cx="4809744" cy="1190625"/>
            <a:chOff x="609600" y="1600200"/>
            <a:chExt cx="4809744" cy="1190625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600200"/>
              <a:ext cx="1905000" cy="1190625"/>
            </a:xfrm>
            <a:prstGeom prst="rect">
              <a:avLst/>
            </a:prstGeom>
          </p:spPr>
        </p:pic>
        <p:sp>
          <p:nvSpPr>
            <p:cNvPr id="7" name="Rectangle 7"/>
            <p:cNvSpPr/>
            <p:nvPr/>
          </p:nvSpPr>
          <p:spPr>
            <a:xfrm>
              <a:off x="1543050" y="1638300"/>
              <a:ext cx="457200" cy="104775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660904" y="17754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官方总图（完整呈现）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60904" y="2023110"/>
              <a:ext cx="1916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本页拆的是 </a:t>
              </a:r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(a) GQA 面板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60142" y="2254568"/>
              <a:ext cx="24320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images/LLM-structure.jpg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660904" y="25184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裁切会切断图内标注，故整幅完整呈现</a:t>
              </a:r>
            </a:p>
          </p:txBody>
        </p:sp>
      </p:grpSp>
      <p:grpSp>
        <p:nvGrpSpPr>
          <p:cNvPr id="47" name="gqa-pairing"/>
          <p:cNvGrpSpPr/>
          <p:nvPr/>
        </p:nvGrpSpPr>
        <p:grpSpPr>
          <a:xfrm>
            <a:off x="533400" y="3185160"/>
            <a:ext cx="5848845" cy="2625471"/>
            <a:chOff x="533400" y="3185160"/>
            <a:chExt cx="5848845" cy="2625471"/>
          </a:xfrm>
        </p:grpSpPr>
        <p:sp>
          <p:nvSpPr>
            <p:cNvPr id="13" name="TextBox 13"/>
            <p:cNvSpPr txBox="1"/>
            <p:nvPr/>
          </p:nvSpPr>
          <p:spPr>
            <a:xfrm>
              <a:off x="603504" y="3185160"/>
              <a:ext cx="18846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一组 KV 被 2 个 Q 头共享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3504" y="3432810"/>
              <a:ext cx="7030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8 个 Q 头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32404" y="3432810"/>
              <a:ext cx="7463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4 组 K / V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3619500"/>
              <a:ext cx="4324350" cy="514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09600" y="3648075"/>
              <a:ext cx="1333500" cy="209550"/>
            </a:xfrm>
            <a:prstGeom prst="roundRect">
              <a:avLst>
                <a:gd name="adj" fmla="val 36364"/>
              </a:avLst>
            </a:prstGeom>
            <a:solidFill>
              <a:schemeClr val="lt1"/>
            </a:solidFill>
            <a:ln w="9525">
              <a:solidFill>
                <a:srgbClr val="DDE4E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59307" y="3670935"/>
              <a:ext cx="2340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09600" y="3895725"/>
              <a:ext cx="1333500" cy="209550"/>
            </a:xfrm>
            <a:prstGeom prst="roundRect">
              <a:avLst>
                <a:gd name="adj" fmla="val 36364"/>
              </a:avLst>
            </a:prstGeom>
            <a:solidFill>
              <a:schemeClr val="lt1"/>
            </a:solidFill>
            <a:ln w="9525">
              <a:solidFill>
                <a:srgbClr val="DDE4E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59307" y="3918585"/>
              <a:ext cx="2340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238500" y="3714750"/>
              <a:ext cx="1333500" cy="323850"/>
            </a:xfrm>
            <a:prstGeom prst="roundRect">
              <a:avLst>
                <a:gd name="adj" fmla="val 29412"/>
              </a:avLst>
            </a:prstGeom>
            <a:solidFill>
              <a:schemeClr val="accent5"/>
            </a:solidFill>
            <a:ln w="19050">
              <a:solidFill>
                <a:schemeClr val="accent3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685794" y="3794760"/>
              <a:ext cx="438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KV #1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4171950"/>
              <a:ext cx="4324350" cy="5143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609600" y="4200525"/>
              <a:ext cx="1333500" cy="209550"/>
            </a:xfrm>
            <a:prstGeom prst="roundRect">
              <a:avLst>
                <a:gd name="adj" fmla="val 36364"/>
              </a:avLst>
            </a:prstGeom>
            <a:solidFill>
              <a:schemeClr val="lt1"/>
            </a:solidFill>
            <a:ln w="9525">
              <a:solidFill>
                <a:srgbClr val="DDE4E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159307" y="4223385"/>
              <a:ext cx="2340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09600" y="4448175"/>
              <a:ext cx="1333500" cy="209550"/>
            </a:xfrm>
            <a:prstGeom prst="roundRect">
              <a:avLst>
                <a:gd name="adj" fmla="val 36364"/>
              </a:avLst>
            </a:prstGeom>
            <a:solidFill>
              <a:schemeClr val="lt1"/>
            </a:solidFill>
            <a:ln w="9525">
              <a:solidFill>
                <a:srgbClr val="DDE4E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159307" y="4471035"/>
              <a:ext cx="2340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238500" y="4267200"/>
              <a:ext cx="1333500" cy="323850"/>
            </a:xfrm>
            <a:prstGeom prst="roundRect">
              <a:avLst>
                <a:gd name="adj" fmla="val 29412"/>
              </a:avLst>
            </a:prstGeom>
            <a:solidFill>
              <a:schemeClr val="accent5"/>
            </a:solidFill>
            <a:ln w="19050">
              <a:solidFill>
                <a:schemeClr val="accent3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685794" y="4347210"/>
              <a:ext cx="438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KV #2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33400" y="4724400"/>
              <a:ext cx="4324350" cy="514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609600" y="4752975"/>
              <a:ext cx="1333500" cy="209550"/>
            </a:xfrm>
            <a:prstGeom prst="roundRect">
              <a:avLst>
                <a:gd name="adj" fmla="val 36364"/>
              </a:avLst>
            </a:prstGeom>
            <a:solidFill>
              <a:schemeClr val="lt1"/>
            </a:solidFill>
            <a:ln w="9525">
              <a:solidFill>
                <a:srgbClr val="DDE4EA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159307" y="4775835"/>
              <a:ext cx="2340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09600" y="5000625"/>
              <a:ext cx="1333500" cy="209550"/>
            </a:xfrm>
            <a:prstGeom prst="roundRect">
              <a:avLst>
                <a:gd name="adj" fmla="val 36364"/>
              </a:avLst>
            </a:prstGeom>
            <a:solidFill>
              <a:schemeClr val="lt1"/>
            </a:solidFill>
            <a:ln w="9525">
              <a:solidFill>
                <a:srgbClr val="DDE4EA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159307" y="5023485"/>
              <a:ext cx="2340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3238500" y="4819650"/>
              <a:ext cx="1333500" cy="323850"/>
            </a:xfrm>
            <a:prstGeom prst="roundRect">
              <a:avLst>
                <a:gd name="adj" fmla="val 29412"/>
              </a:avLst>
            </a:prstGeom>
            <a:solidFill>
              <a:schemeClr val="accent5"/>
            </a:solidFill>
            <a:ln w="19050">
              <a:solidFill>
                <a:schemeClr val="accent3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3685794" y="4899660"/>
              <a:ext cx="438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KV #3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5276850"/>
              <a:ext cx="4324350" cy="5143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609600" y="5305425"/>
              <a:ext cx="1333500" cy="209550"/>
            </a:xfrm>
            <a:prstGeom prst="roundRect">
              <a:avLst>
                <a:gd name="adj" fmla="val 36364"/>
              </a:avLst>
            </a:prstGeom>
            <a:solidFill>
              <a:schemeClr val="lt1"/>
            </a:solidFill>
            <a:ln w="9525">
              <a:solidFill>
                <a:srgbClr val="DDE4EA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159307" y="5328285"/>
              <a:ext cx="2340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Q7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09600" y="5553075"/>
              <a:ext cx="1333500" cy="209550"/>
            </a:xfrm>
            <a:prstGeom prst="roundRect">
              <a:avLst>
                <a:gd name="adj" fmla="val 36364"/>
              </a:avLst>
            </a:prstGeom>
            <a:solidFill>
              <a:schemeClr val="lt1"/>
            </a:solidFill>
            <a:ln w="9525">
              <a:solidFill>
                <a:srgbClr val="DDE4EA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159307" y="5575935"/>
              <a:ext cx="2340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Q8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3238500" y="5372100"/>
              <a:ext cx="1333500" cy="323850"/>
            </a:xfrm>
            <a:prstGeom prst="roundRect">
              <a:avLst>
                <a:gd name="adj" fmla="val 29412"/>
              </a:avLst>
            </a:prstGeom>
            <a:solidFill>
              <a:schemeClr val="accent5"/>
            </a:solidFill>
            <a:ln w="19050">
              <a:solidFill>
                <a:schemeClr val="accent3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3685794" y="5452110"/>
              <a:ext cx="438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KV #4</a:t>
              </a:r>
            </a:p>
          </p:txBody>
        </p:sp>
        <p:sp>
          <p:nvSpPr>
            <p:cNvPr id="44" name="Line 44"/>
            <p:cNvSpPr/>
            <p:nvPr/>
          </p:nvSpPr>
          <p:spPr>
            <a:xfrm flipH="1">
              <a:off x="4895850" y="4981575"/>
              <a:ext cx="20955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5156454" y="4709160"/>
              <a:ext cx="12257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repeat_kv 复制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156454" y="4937760"/>
              <a:ext cx="9178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不是 RoPE！</a:t>
              </a:r>
            </a:p>
          </p:txBody>
        </p:sp>
      </p:grpSp>
      <p:grpSp>
        <p:nvGrpSpPr>
          <p:cNvPr id="61" name="gqa-notes"/>
          <p:cNvGrpSpPr/>
          <p:nvPr/>
        </p:nvGrpSpPr>
        <p:grpSpPr>
          <a:xfrm>
            <a:off x="6278880" y="1546860"/>
            <a:ext cx="4134612" cy="4566285"/>
            <a:chOff x="6278880" y="1546860"/>
            <a:chExt cx="4134612" cy="4566285"/>
          </a:xfrm>
        </p:grpSpPr>
        <p:sp>
          <p:nvSpPr>
            <p:cNvPr id="48" name="TextBox 48"/>
            <p:cNvSpPr txBox="1"/>
            <p:nvPr/>
          </p:nvSpPr>
          <p:spPr>
            <a:xfrm>
              <a:off x="6280404" y="1546860"/>
              <a:ext cx="15488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repeat_kv 做了什么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278880" y="1857375"/>
              <a:ext cx="39016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打分前把 4 组 KV 复制成 8 份，只为和 8 个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278880" y="2143125"/>
              <a:ext cx="30662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 头对齐形状；这一步用完即弃。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280404" y="27279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省在哪里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78880" y="3038475"/>
              <a:ext cx="396887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KV 参数量减半；推理缓存按 4 头存（cat 在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278880" y="3324225"/>
              <a:ext cx="41346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repeat_kv 之前，120–123 行），显存与每步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278880" y="360997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带宽都省一半。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280404" y="4118610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278880" y="4429125"/>
              <a:ext cx="35389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每步多一次临时复制（expand 零拷贝 +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278880" y="4714875"/>
              <a:ext cx="32764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reshape 实拷贝），本步用完即弃。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6280404" y="522351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三个容易认错的地方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278880" y="5534025"/>
              <a:ext cx="3104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V' 头顶的 Ⓡ 是复制，不是 RoPE。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278880" y="5819775"/>
              <a:ext cx="34452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底部大 RMSNorm 是主干 Pre-Norm。</a:t>
              </a:r>
            </a:p>
          </p:txBody>
        </p:sp>
      </p:grpSp>
      <p:grpSp>
        <p:nvGrpSpPr>
          <p:cNvPr id="64" name="footer"/>
          <p:cNvGrpSpPr/>
          <p:nvPr/>
        </p:nvGrpSpPr>
        <p:grpSpPr>
          <a:xfrm>
            <a:off x="603504" y="6309360"/>
            <a:ext cx="10984992" cy="234696"/>
            <a:chOff x="603504" y="6309360"/>
            <a:chExt cx="10984992" cy="234696"/>
          </a:xfrm>
        </p:grpSpPr>
        <p:sp>
          <p:nvSpPr>
            <p:cNvPr id="62" name="TextBox 62"/>
            <p:cNvSpPr txBox="1"/>
            <p:nvPr/>
          </p:nvSpPr>
          <p:spPr>
            <a:xfrm>
              <a:off x="603504" y="6309360"/>
              <a:ext cx="63186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q_heads=8 · kv_heads=4 · head_dim=96 · 这是 Llama / Qwen 等现代模型的标准配置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1035132" y="63093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05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884" y="699135"/>
            <a:ext cx="10993374" cy="529590"/>
            <a:chOff x="595884" y="699135"/>
            <a:chExt cx="10993374" cy="529590"/>
          </a:xfrm>
        </p:grpSpPr>
        <p:sp>
          <p:nvSpPr>
            <p:cNvPr id="2" name="TextBox 2"/>
            <p:cNvSpPr txBox="1"/>
            <p:nvPr/>
          </p:nvSpPr>
          <p:spPr>
            <a:xfrm>
              <a:off x="595884" y="699135"/>
              <a:ext cx="5116068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位置不是加上去的，是转出来的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05348" y="844868"/>
              <a:ext cx="56839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6"/>
                  </a:solidFill>
                  <a:latin typeface="Consolas"/>
                  <a:ea typeface="Microsoft YaHei"/>
                  <a:cs typeface="Consolas"/>
                </a:rPr>
                <a:t>model_minimind.py · 62–78 预计算 / 119 应用 / 205–207 注册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19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</p:grpSp>
      <p:grpSp>
        <p:nvGrpSpPr>
          <p:cNvPr id="19" name="rope-rotation"/>
          <p:cNvGrpSpPr/>
          <p:nvPr/>
        </p:nvGrpSpPr>
        <p:grpSpPr>
          <a:xfrm>
            <a:off x="601980" y="1737360"/>
            <a:ext cx="3973068" cy="4204335"/>
            <a:chOff x="601980" y="1737360"/>
            <a:chExt cx="3973068" cy="4204335"/>
          </a:xfrm>
        </p:grpSpPr>
        <p:sp>
          <p:nvSpPr>
            <p:cNvPr id="6" name="TextBox 6"/>
            <p:cNvSpPr txBox="1"/>
            <p:nvPr/>
          </p:nvSpPr>
          <p:spPr>
            <a:xfrm>
              <a:off x="603504" y="1737360"/>
              <a:ext cx="28204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把 Q / K 旋转一个与位置成正比的角度</a:t>
              </a:r>
            </a:p>
          </p:txBody>
        </p:sp>
        <p:sp>
          <p:nvSpPr>
            <p:cNvPr id="7" name="Freeform 7"/>
            <p:cNvSpPr/>
            <p:nvPr/>
          </p:nvSpPr>
          <p:spPr>
            <a:xfrm>
              <a:off x="1333500" y="1962150"/>
              <a:ext cx="2286000" cy="2286000"/>
            </a:xfrm>
            <a:prstGeom prst="circularArrow">
              <a:avLst/>
            </a:pr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1762125" y="2390775"/>
              <a:ext cx="1428750" cy="1428750"/>
            </a:xfrm>
            <a:prstGeom prst="ellipse">
              <a:avLst/>
            </a:prstGeom>
            <a:noFill/>
            <a:ln w="9525">
              <a:solidFill>
                <a:srgbClr val="DDE4EA"/>
              </a:solidFill>
              <a:prstDash val="dash"/>
            </a:ln>
          </p:spPr>
        </p:sp>
        <p:sp>
          <p:nvSpPr>
            <p:cNvPr id="9" name="Ellipse 9"/>
            <p:cNvSpPr/>
            <p:nvPr/>
          </p:nvSpPr>
          <p:spPr>
            <a:xfrm>
              <a:off x="2438400" y="306705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Line 10"/>
            <p:cNvSpPr/>
            <p:nvPr/>
          </p:nvSpPr>
          <p:spPr>
            <a:xfrm>
              <a:off x="2476500" y="3105150"/>
              <a:ext cx="714375" cy="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1" name="Line 11"/>
            <p:cNvSpPr/>
            <p:nvPr/>
          </p:nvSpPr>
          <p:spPr>
            <a:xfrm flipV="1">
              <a:off x="2476500" y="2695575"/>
              <a:ext cx="581025" cy="409575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tailEnd type="triangle" w="lg" len="lg"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3308604" y="3032760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位置 m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175254" y="2461260"/>
              <a:ext cx="6826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位置 m+1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1980" y="4505325"/>
              <a:ext cx="37711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旋转角 = 位置 × 常数：第 5 个词转 5 格，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1980" y="4791075"/>
              <a:ext cx="397306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 300 个转 300 格——点积只反映相对距离。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01980" y="5076825"/>
              <a:ext cx="34274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V 不旋转：位置是「查询时」的属性。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1980" y="5362575"/>
              <a:ext cx="32966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cos/sin 表在 62–78 行一次性算好，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01980" y="5648325"/>
              <a:ext cx="35557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注册为 persistent=False 的 buffer。</a:t>
              </a:r>
            </a:p>
          </p:txBody>
        </p:sp>
      </p:grpSp>
      <p:grpSp>
        <p:nvGrpSpPr>
          <p:cNvPr id="32" name="rope-notes"/>
          <p:cNvGrpSpPr/>
          <p:nvPr/>
        </p:nvGrpSpPr>
        <p:grpSpPr>
          <a:xfrm>
            <a:off x="6278880" y="1546860"/>
            <a:ext cx="4712379" cy="4400741"/>
            <a:chOff x="6278880" y="1546860"/>
            <a:chExt cx="4712379" cy="4400741"/>
          </a:xfrm>
        </p:grpSpPr>
        <p:sp>
          <p:nvSpPr>
            <p:cNvPr id="20" name="TextBox 20"/>
            <p:cNvSpPr txBox="1"/>
            <p:nvPr/>
          </p:nvSpPr>
          <p:spPr>
            <a:xfrm>
              <a:off x="6280404" y="15468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为什么必须补位置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278880" y="1857375"/>
              <a:ext cx="36969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Embedding 不含位置信息：「猫咬狗」和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278880" y="2143125"/>
              <a:ext cx="40553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「狗咬猫」会一样，位置必须补在 Q、K 上。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280404" y="2727960"/>
              <a:ext cx="29525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QK-Norm（104–105 定义 / 117 执行）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278880" y="3038475"/>
              <a:ext cx="4273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只对切完头的 Q、K（各 96 维）做 RMSNorm，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78880" y="3324225"/>
              <a:ext cx="31754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稳住打分范围、防 softmax 饱和。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80404" y="39090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训练与推理的位置一致性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278880" y="4219575"/>
              <a:ext cx="25393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219 行按 start_pos 切片：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78880" y="4505325"/>
              <a:ext cx="325621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位置 5 在两边拿到同一行 cos/sin。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278880" y="4791075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位置认知在训练与推理间无缝衔接。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280404" y="5375910"/>
              <a:ext cx="18218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旋转的公式（80–84 行）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279642" y="5683568"/>
              <a:ext cx="47116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f(q,m) = q ⊙ cos(mθ) + rotate_half(q) ⊙ sin(mθ)</a:t>
              </a: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603504" y="6309360"/>
            <a:ext cx="10984992" cy="234696"/>
            <a:chOff x="603504" y="6309360"/>
            <a:chExt cx="10984992" cy="234696"/>
          </a:xfrm>
        </p:grpSpPr>
        <p:sp>
          <p:nvSpPr>
            <p:cNvPr id="33" name="TextBox 33"/>
            <p:cNvSpPr txBox="1"/>
            <p:nvPr/>
          </p:nvSpPr>
          <p:spPr>
            <a:xfrm>
              <a:off x="603504" y="6309360"/>
              <a:ext cx="65062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cos/sin 表形状 (32768, 96)；训练取 freqs_cos[0:340]，推理只取 freqs_cos[t-1:t]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035132" y="63093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06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884" y="699135"/>
            <a:ext cx="10993374" cy="529590"/>
            <a:chOff x="595884" y="699135"/>
            <a:chExt cx="10993374" cy="529590"/>
          </a:xfrm>
        </p:grpSpPr>
        <p:sp>
          <p:nvSpPr>
            <p:cNvPr id="2" name="TextBox 2"/>
            <p:cNvSpPr txBox="1"/>
            <p:nvPr/>
          </p:nvSpPr>
          <p:spPr>
            <a:xfrm>
              <a:off x="595884" y="699135"/>
              <a:ext cx="561130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-inf 是绝对看不见，不是不太关注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523700" y="844868"/>
              <a:ext cx="60655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6"/>
                  </a:solidFill>
                  <a:latin typeface="Consolas"/>
                  <a:ea typeface="Microsoft YaHei"/>
                  <a:cs typeface="Consolas"/>
                </a:rPr>
                <a:t>model_minimind.py · 128 打分 / 129 因果掩码 / 130 padding 掩码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19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</p:grpSp>
      <p:grpSp>
        <p:nvGrpSpPr>
          <p:cNvPr id="45" name="causal-mask-grid"/>
          <p:cNvGrpSpPr/>
          <p:nvPr/>
        </p:nvGrpSpPr>
        <p:grpSpPr>
          <a:xfrm>
            <a:off x="766420" y="2061210"/>
            <a:ext cx="5311292" cy="3994785"/>
            <a:chOff x="766420" y="2061210"/>
            <a:chExt cx="5311292" cy="3994785"/>
          </a:xfrm>
        </p:grpSpPr>
        <p:sp>
          <p:nvSpPr>
            <p:cNvPr id="6" name="TextBox 6"/>
            <p:cNvSpPr txBox="1"/>
            <p:nvPr/>
          </p:nvSpPr>
          <p:spPr>
            <a:xfrm>
              <a:off x="1327404" y="2061210"/>
              <a:ext cx="5129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key j →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 rot="-5400000">
              <a:off x="766420" y="3692652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query i ↓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333500" y="2286000"/>
              <a:ext cx="3048000" cy="3048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Freeform 9"/>
            <p:cNvSpPr/>
            <p:nvPr/>
          </p:nvSpPr>
          <p:spPr>
            <a:xfrm>
              <a:off x="1333500" y="2286000"/>
              <a:ext cx="3048000" cy="3048000"/>
            </a:xfrm>
            <a:prstGeom prst="rtTriangle">
              <a:avLst/>
            </a:prstGeom>
            <a:solidFill>
              <a:schemeClr val="accent1">
                <a:alpha val="10000"/>
              </a:schemeClr>
            </a:solidFill>
            <a:ln>
              <a:noFill/>
            </a:ln>
          </p:spPr>
        </p:sp>
        <p:sp>
          <p:nvSpPr>
            <p:cNvPr id="10" name="Line 10"/>
            <p:cNvSpPr/>
            <p:nvPr/>
          </p:nvSpPr>
          <p:spPr>
            <a:xfrm>
              <a:off x="1714500" y="22860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2095500" y="22860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2476500" y="22860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2857500" y="22860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3238500" y="22860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3619500" y="22860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4000500" y="2286000"/>
              <a:ext cx="9525" cy="3048000"/>
            </a:xfrm>
            <a:custGeom>
              <a:avLst/>
              <a:gdLst/>
              <a:ahLst/>
              <a:cxnLst/>
              <a:rect l="l" t="t" r="r" b="b"/>
              <a:pathLst>
                <a:path w="9525" h="3048000">
                  <a:moveTo>
                    <a:pt x="0" y="0"/>
                  </a:moveTo>
                  <a:lnTo>
                    <a:pt x="0" y="304800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1333500" y="26670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333500" y="30480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1333500" y="34290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1333500" y="38100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1333500" y="41910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1333500" y="45720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1333500" y="4953000"/>
              <a:ext cx="3048000" cy="9525"/>
            </a:xfrm>
            <a:custGeom>
              <a:avLst/>
              <a:gdLst/>
              <a:ahLst/>
              <a:cxnLst/>
              <a:rect l="l" t="t" r="r" b="b"/>
              <a:pathLst>
                <a:path w="3048000" h="9525">
                  <a:moveTo>
                    <a:pt x="0" y="0"/>
                  </a:moveTo>
                  <a:lnTo>
                    <a:pt x="30480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1333500" y="2286000"/>
              <a:ext cx="3048000" cy="3048000"/>
            </a:xfrm>
            <a:custGeom>
              <a:avLst/>
              <a:gdLst/>
              <a:ahLst/>
              <a:cxnLst/>
              <a:rect l="l" t="t" r="r" b="b"/>
              <a:pathLst>
                <a:path w="3048000" h="3048000">
                  <a:moveTo>
                    <a:pt x="0" y="0"/>
                  </a:moveTo>
                  <a:lnTo>
                    <a:pt x="3048000" y="304800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5" name="Rectangle 25"/>
            <p:cNvSpPr/>
            <p:nvPr/>
          </p:nvSpPr>
          <p:spPr>
            <a:xfrm>
              <a:off x="2095500" y="4191000"/>
              <a:ext cx="381000" cy="381000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394204" y="5242560"/>
              <a:ext cx="7956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j = 2, i = 5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473479" y="20993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854479" y="20993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235479" y="20993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616479" y="20993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997479" y="20993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378479" y="20993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759479" y="20993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4140479" y="20993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124255" y="23850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124255" y="27660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24255" y="31470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24255" y="35280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24255" y="39090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124255" y="42900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24255" y="46710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24255" y="50520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35380" y="5514975"/>
              <a:ext cx="49423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下三角（含对角线）＝ 能看见的位置；上三角 = -inf。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35380" y="5762625"/>
              <a:ext cx="37105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 × 8 是示意；真实打分阵是 340 × 340。</a:t>
              </a:r>
            </a:p>
          </p:txBody>
        </p:sp>
      </p:grpSp>
      <p:grpSp>
        <p:nvGrpSpPr>
          <p:cNvPr id="58" name="mask-notes"/>
          <p:cNvGrpSpPr/>
          <p:nvPr/>
        </p:nvGrpSpPr>
        <p:grpSpPr>
          <a:xfrm>
            <a:off x="6278880" y="1546860"/>
            <a:ext cx="5346192" cy="4413885"/>
            <a:chOff x="6278880" y="1546860"/>
            <a:chExt cx="5346192" cy="4413885"/>
          </a:xfrm>
        </p:grpSpPr>
        <p:sp>
          <p:nvSpPr>
            <p:cNvPr id="46" name="TextBox 46"/>
            <p:cNvSpPr txBox="1"/>
            <p:nvPr/>
          </p:nvSpPr>
          <p:spPr>
            <a:xfrm>
              <a:off x="6280404" y="1546860"/>
              <a:ext cx="178715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打分：340 × 340 的方阵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TextBox 47"/>
                <p:cNvSpPr txBox="1"/>
                <p:nvPr/>
              </p:nvSpPr>
              <p:spPr>
                <a:xfrm>
                  <a:off x="6278880" y="1857306"/>
                  <a:ext cx="1731074" cy="51738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5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 xml:space="preserve">打分 = </a:t>
                  </a:r>
                  <a14:m>
                    <m:oMath xmlns:a="http://schemas.openxmlformats.org/drawingml/2006/main" xmlns:m="http://schemas.openxmlformats.org/officeDocument/2006/math">
                      <m:f>
                        <m:fPr>
                          <m:type m:val="bar"/>
                          <m:ctrlPr>
                            <a:rPr lang="zh-CN" sz="150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500" dirty="0">
                              <a:solidFill>
                                <a:schemeClr val="dk1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Q</m:t>
                          </m:r>
                          <m:sSup>
                            <m:e>
                              <m:r>
                                <a:rPr lang="zh-CN" sz="1500" dirty="0">
                                  <a:solidFill>
                                    <a:schemeClr val="dk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e>
                            <m:sup>
                              <m:r>
                                <m:rPr>
                                  <m:sty m:val="p"/>
                                </m:rPr>
                                <a:rPr lang="zh-CN" sz="1500" dirty="0">
                                  <a:solidFill>
                                    <a:schemeClr val="dk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⊤</m:t>
                              </m:r>
                            </m:sup>
                          </m:sSup>
                        </m:num>
                        <m:den>
                          <m:rad>
                            <m:radPr>
                              <m:degHide m:val="on"/>
                              <m:ctrlPr>
                                <a:rPr lang="zh-CN" sz="1500" dirty="0">
                                  <a:solidFill>
                                    <a:schemeClr val="dk1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radPr>
                            <m:deg/>
                            <m:e>
                              <m:sSub>
                                <m:e>
                                  <m:r>
                                    <a:rPr lang="zh-CN" sz="1500" dirty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d</m:t>
                                  </m:r>
                                </m:e>
                                <m:sub>
                                  <m:r>
                                    <a:rPr lang="zh-CN" sz="1500" dirty="0">
                                      <a:solidFill>
                                        <a:schemeClr val="dk1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</m:sub>
                              </m:sSub>
                            </m:e>
                          </m:rad>
                        </m:den>
                      </m:f>
                    </m:oMath>
                  </a14:m>
                </a:p>
              </p:txBody>
            </p:sp>
          </mc:Choice>
        </mc:AlternateContent>
        <p:sp>
          <p:nvSpPr>
            <p:cNvPr id="48" name="TextBox 48"/>
            <p:cNvSpPr txBox="1"/>
            <p:nvPr/>
          </p:nvSpPr>
          <p:spPr>
            <a:xfrm>
              <a:off x="6278880" y="2371725"/>
              <a:ext cx="50061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形状 (32,8,340,340)，全模型唯一的 O(seq²) 张量。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280404" y="2861310"/>
              <a:ext cx="13122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为什么要除以 √96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278880" y="3171825"/>
              <a:ext cx="47807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head_dim = 96。不缩放的话，维度一大分数就过大，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278880" y="3457575"/>
              <a:ext cx="27110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softmax 会饱和、梯度消失。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80404" y="3966210"/>
              <a:ext cx="18303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因果掩码：-inf 而不是 0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6278880" y="4276725"/>
              <a:ext cx="494233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129 行给上三角加 -inf，softmax 后权重为精确的 0。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278880" y="4562475"/>
              <a:ext cx="53461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用 0 掩码不够「死」，仍会漏进信息；-inf 彻底断绝泄露。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278880" y="4848225"/>
              <a:ext cx="455866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这条约束让训练能一次并行算 340 个位置的 loss。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280404" y="53568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两条路径，数学等价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278880" y="5667375"/>
              <a:ext cx="426758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126 行 SDPA 融合四步；128–131 行手写路径。</a:t>
              </a:r>
            </a:p>
          </p:txBody>
        </p:sp>
      </p:grpSp>
      <p:grpSp>
        <p:nvGrpSpPr>
          <p:cNvPr id="61" name="footer"/>
          <p:cNvGrpSpPr/>
          <p:nvPr/>
        </p:nvGrpSpPr>
        <p:grpSpPr>
          <a:xfrm>
            <a:off x="603504" y="6309360"/>
            <a:ext cx="10984992" cy="234696"/>
            <a:chOff x="603504" y="6309360"/>
            <a:chExt cx="10984992" cy="234696"/>
          </a:xfrm>
        </p:grpSpPr>
        <p:sp>
          <p:nvSpPr>
            <p:cNvPr id="59" name="TextBox 59"/>
            <p:cNvSpPr txBox="1"/>
            <p:nvPr/>
          </p:nvSpPr>
          <p:spPr>
            <a:xfrm>
              <a:off x="603504" y="6309360"/>
              <a:ext cx="5020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例中画的是 5 个注意力头中的一个；8 个头各有一张同样形状的打分阵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1035132" y="63093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07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884" y="699135"/>
            <a:ext cx="10993374" cy="529590"/>
            <a:chOff x="595884" y="699135"/>
            <a:chExt cx="10993374" cy="529590"/>
          </a:xfrm>
        </p:grpSpPr>
        <p:sp>
          <p:nvSpPr>
            <p:cNvPr id="2" name="TextBox 2"/>
            <p:cNvSpPr txBox="1"/>
            <p:nvPr/>
          </p:nvSpPr>
          <p:spPr>
            <a:xfrm>
              <a:off x="595884" y="699135"/>
              <a:ext cx="299461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FFN 才是参数大头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660310" y="844868"/>
              <a:ext cx="39289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model_minimind.py · 136–146 FeedForward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19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</p:grpSp>
      <p:grpSp>
        <p:nvGrpSpPr>
          <p:cNvPr id="12" name="ffn-locator"/>
          <p:cNvGrpSpPr/>
          <p:nvPr/>
        </p:nvGrpSpPr>
        <p:grpSpPr>
          <a:xfrm>
            <a:off x="609600" y="1600200"/>
            <a:ext cx="4809744" cy="1190625"/>
            <a:chOff x="609600" y="1600200"/>
            <a:chExt cx="4809744" cy="1190625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600200"/>
              <a:ext cx="1905000" cy="1190625"/>
            </a:xfrm>
            <a:prstGeom prst="rect">
              <a:avLst/>
            </a:prstGeom>
          </p:spPr>
        </p:pic>
        <p:sp>
          <p:nvSpPr>
            <p:cNvPr id="7" name="Rectangle 7"/>
            <p:cNvSpPr/>
            <p:nvPr/>
          </p:nvSpPr>
          <p:spPr>
            <a:xfrm>
              <a:off x="2047875" y="1628775"/>
              <a:ext cx="409575" cy="1057275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660904" y="17373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官方总图（完整呈现）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660904" y="1985010"/>
              <a:ext cx="18810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本页拆的是 </a:t>
              </a:r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(b) FFN 面板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660142" y="2216468"/>
              <a:ext cx="24320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images/LLM-structure.jpg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660904" y="248031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裁切会切断图内标注，故整幅完整呈现</a:t>
              </a:r>
            </a:p>
          </p:txBody>
        </p:sp>
      </p:grpSp>
      <p:grpSp>
        <p:nvGrpSpPr>
          <p:cNvPr id="36" name="swiglu-flow"/>
          <p:cNvGrpSpPr/>
          <p:nvPr/>
        </p:nvGrpSpPr>
        <p:grpSpPr>
          <a:xfrm>
            <a:off x="601980" y="2857500"/>
            <a:ext cx="5455920" cy="3027045"/>
            <a:chOff x="601980" y="2857500"/>
            <a:chExt cx="5455920" cy="3027045"/>
          </a:xfrm>
        </p:grpSpPr>
        <p:sp>
          <p:nvSpPr>
            <p:cNvPr id="13" name="Rectangle 13"/>
            <p:cNvSpPr/>
            <p:nvPr/>
          </p:nvSpPr>
          <p:spPr>
            <a:xfrm>
              <a:off x="1676400" y="2857500"/>
              <a:ext cx="1905000" cy="381000"/>
            </a:xfrm>
            <a:prstGeom prst="roundRect">
              <a:avLst>
                <a:gd name="adj" fmla="val 30000"/>
              </a:avLst>
            </a:prstGeom>
            <a:solidFill>
              <a:schemeClr val="accent2">
                <a:alpha val="12000"/>
              </a:schemeClr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413645" y="2959418"/>
              <a:ext cx="4305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SiLU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676400" y="3390900"/>
              <a:ext cx="1905000" cy="419100"/>
            </a:xfrm>
            <a:prstGeom prst="roundRect">
              <a:avLst>
                <a:gd name="adj" fmla="val 27273"/>
              </a:avLst>
            </a:prstGeom>
            <a:solidFill>
              <a:schemeClr val="lt2"/>
            </a:solidFill>
            <a:ln w="9525">
              <a:solidFill>
                <a:srgbClr val="DDE4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172243" y="3511868"/>
              <a:ext cx="9133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gate_proj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676400" y="4610100"/>
              <a:ext cx="1905000" cy="419100"/>
            </a:xfrm>
            <a:prstGeom prst="roundRect">
              <a:avLst>
                <a:gd name="adj" fmla="val 27273"/>
              </a:avLst>
            </a:prstGeom>
            <a:solidFill>
              <a:schemeClr val="lt2"/>
            </a:solidFill>
            <a:ln w="9525">
              <a:solidFill>
                <a:srgbClr val="DDE4EA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272198" y="4731068"/>
              <a:ext cx="71340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up_proj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09600" y="4000500"/>
              <a:ext cx="762000" cy="419100"/>
            </a:xfrm>
            <a:prstGeom prst="roundRect">
              <a:avLst>
                <a:gd name="adj" fmla="val 27273"/>
              </a:avLst>
            </a:prstGeom>
            <a:solidFill>
              <a:schemeClr val="accent5"/>
            </a:solidFill>
            <a:ln w="19050">
              <a:solidFill>
                <a:schemeClr val="accent1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33764" y="412146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x</a:t>
              </a:r>
            </a:p>
          </p:txBody>
        </p:sp>
        <p:sp>
          <p:nvSpPr>
            <p:cNvPr id="21" name="Line 21"/>
            <p:cNvSpPr/>
            <p:nvPr/>
          </p:nvSpPr>
          <p:spPr>
            <a:xfrm flipV="1">
              <a:off x="1371600" y="3638550"/>
              <a:ext cx="266700" cy="571500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22" name="Line 22"/>
            <p:cNvSpPr/>
            <p:nvPr/>
          </p:nvSpPr>
          <p:spPr>
            <a:xfrm>
              <a:off x="1371600" y="4210050"/>
              <a:ext cx="266700" cy="571500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23" name="Line 23"/>
            <p:cNvSpPr/>
            <p:nvPr/>
          </p:nvSpPr>
          <p:spPr>
            <a:xfrm flipV="1">
              <a:off x="2628900" y="3276600"/>
              <a:ext cx="1" cy="114300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24" name="Line 24"/>
            <p:cNvSpPr/>
            <p:nvPr/>
          </p:nvSpPr>
          <p:spPr>
            <a:xfrm>
              <a:off x="3581400" y="3048000"/>
              <a:ext cx="647700" cy="9525"/>
            </a:xfrm>
            <a:custGeom>
              <a:avLst/>
              <a:gdLst/>
              <a:ahLst/>
              <a:cxnLst/>
              <a:rect l="l" t="t" r="r" b="b"/>
              <a:pathLst>
                <a:path w="647700" h="9525">
                  <a:moveTo>
                    <a:pt x="0" y="0"/>
                  </a:moveTo>
                  <a:lnTo>
                    <a:pt x="6477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4229100" y="3048000"/>
              <a:ext cx="1" cy="933450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26" name="Line 26"/>
            <p:cNvSpPr/>
            <p:nvPr/>
          </p:nvSpPr>
          <p:spPr>
            <a:xfrm>
              <a:off x="3581400" y="4819650"/>
              <a:ext cx="647700" cy="9525"/>
            </a:xfrm>
            <a:custGeom>
              <a:avLst/>
              <a:gdLst/>
              <a:ahLst/>
              <a:cxnLst/>
              <a:rect l="l" t="t" r="r" b="b"/>
              <a:pathLst>
                <a:path w="647700" h="9525">
                  <a:moveTo>
                    <a:pt x="0" y="0"/>
                  </a:moveTo>
                  <a:lnTo>
                    <a:pt x="647700" y="0"/>
                  </a:lnTo>
                </a:path>
              </a:pathLst>
            </a:cu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7" name="Line 27"/>
            <p:cNvSpPr/>
            <p:nvPr/>
          </p:nvSpPr>
          <p:spPr>
            <a:xfrm flipV="1">
              <a:off x="4229100" y="4400550"/>
              <a:ext cx="1" cy="419100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28" name="Line 28"/>
            <p:cNvSpPr/>
            <p:nvPr/>
          </p:nvSpPr>
          <p:spPr>
            <a:xfrm>
              <a:off x="4419600" y="4191000"/>
              <a:ext cx="2667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29" name="Freeform 29"/>
            <p:cNvSpPr/>
            <p:nvPr/>
          </p:nvSpPr>
          <p:spPr>
            <a:xfrm>
              <a:off x="4038600" y="4000500"/>
              <a:ext cx="381000" cy="381000"/>
            </a:xfrm>
            <a:prstGeom prst="mathMultiply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724400" y="3981450"/>
              <a:ext cx="1333500" cy="419100"/>
            </a:xfrm>
            <a:prstGeom prst="roundRect">
              <a:avLst>
                <a:gd name="adj" fmla="val 27273"/>
              </a:avLst>
            </a:prstGeom>
            <a:solidFill>
              <a:schemeClr val="lt2"/>
            </a:solidFill>
            <a:ln w="9525">
              <a:solidFill>
                <a:srgbClr val="DDE4EA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4934493" y="4102418"/>
              <a:ext cx="9133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down_proj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670554" y="35661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门控支路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670554" y="47853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内容支路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1980" y="5305425"/>
              <a:ext cx="39768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up_proj 是内容；gate + SiLU 是门控开关。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01980" y="5591175"/>
              <a:ext cx="48026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判断口诀：谁接 SiLU 谁是 gate，谁直通 ⊙ 谁是 up。</a:t>
              </a:r>
            </a:p>
          </p:txBody>
        </p:sp>
      </p:grpSp>
      <p:grpSp>
        <p:nvGrpSpPr>
          <p:cNvPr id="48" name="ffn-notes"/>
          <p:cNvGrpSpPr/>
          <p:nvPr/>
        </p:nvGrpSpPr>
        <p:grpSpPr>
          <a:xfrm>
            <a:off x="6278880" y="1546860"/>
            <a:ext cx="5447157" cy="4109085"/>
            <a:chOff x="6278880" y="1546860"/>
            <a:chExt cx="5447157" cy="4109085"/>
          </a:xfrm>
        </p:grpSpPr>
        <p:sp>
          <p:nvSpPr>
            <p:cNvPr id="37" name="TextBox 37"/>
            <p:cNvSpPr txBox="1"/>
            <p:nvPr/>
          </p:nvSpPr>
          <p:spPr>
            <a:xfrm>
              <a:off x="6280404" y="15468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一行代码就是整张图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79642" y="1873568"/>
              <a:ext cx="441175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down_proj(act_fn(gate_proj(x)) * up_proj(x))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278880" y="2238375"/>
              <a:ext cx="40125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act_fn 是 SiLU；* 是逐元素相乘（门控）。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78880" y="2524125"/>
              <a:ext cx="528856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双支路直觉：up_proj 是内容，gate_proj + SiLU 是给每个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278880" y="2809875"/>
              <a:ext cx="42254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特征维度装的可学习开关，把不重要的压向 0。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80404" y="348996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形状旅程与参数量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278880" y="3800475"/>
              <a:ext cx="54471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768 → 2432 → 768；intermediate_size = ⌈768×π/64⌉×64。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78880" y="4086225"/>
              <a:ext cx="51825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FFN 占单层参数 </a:t>
              </a:r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76%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（5.6M / 7.4M），比注意力还多。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278880" y="4371975"/>
              <a:ext cx="50634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它是模型的「知识库存取器」，事实与模式存在权重里。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280404" y="505206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图上的一处通用画法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278880" y="5362575"/>
              <a:ext cx="459622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图 (b) 的 Dropout 是通用画法：本代码默认 0.0。</a:t>
              </a:r>
            </a:p>
          </p:txBody>
        </p:sp>
      </p:grpSp>
      <p:grpSp>
        <p:nvGrpSpPr>
          <p:cNvPr id="51" name="footer"/>
          <p:cNvGrpSpPr/>
          <p:nvPr/>
        </p:nvGrpSpPr>
        <p:grpSpPr>
          <a:xfrm>
            <a:off x="603504" y="6309360"/>
            <a:ext cx="10984992" cy="234696"/>
            <a:chOff x="603504" y="6309360"/>
            <a:chExt cx="10984992" cy="234696"/>
          </a:xfrm>
        </p:grpSpPr>
        <p:sp>
          <p:nvSpPr>
            <p:cNvPr id="49" name="TextBox 49"/>
            <p:cNvSpPr txBox="1"/>
            <p:nvPr/>
          </p:nvSpPr>
          <p:spPr>
            <a:xfrm>
              <a:off x="603504" y="6309360"/>
              <a:ext cx="50782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注意力是计算热点（340×340 打分阵），FFN 是参数大头（单层 76%）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1035132" y="63093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08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884" y="699135"/>
            <a:ext cx="10993374" cy="529590"/>
            <a:chOff x="595884" y="699135"/>
            <a:chExt cx="10993374" cy="529590"/>
          </a:xfrm>
        </p:grpSpPr>
        <p:sp>
          <p:nvSpPr>
            <p:cNvPr id="2" name="TextBox 2"/>
            <p:cNvSpPr txBox="1"/>
            <p:nvPr/>
          </p:nvSpPr>
          <p:spPr>
            <a:xfrm>
              <a:off x="595884" y="699135"/>
              <a:ext cx="438912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两条捷径是接力，不是并联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53967" y="844868"/>
              <a:ext cx="49352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model_minimind.py · 186–194 MiniMindBlock.forward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19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</p:grpSp>
      <p:grpSp>
        <p:nvGrpSpPr>
          <p:cNvPr id="37" name="layer-walkthrough"/>
          <p:cNvGrpSpPr/>
          <p:nvPr/>
        </p:nvGrpSpPr>
        <p:grpSpPr>
          <a:xfrm>
            <a:off x="1905000" y="1676400"/>
            <a:ext cx="3927676" cy="4210050"/>
            <a:chOff x="1905000" y="1676400"/>
            <a:chExt cx="3927676" cy="4210050"/>
          </a:xfrm>
        </p:grpSpPr>
        <p:sp>
          <p:nvSpPr>
            <p:cNvPr id="6" name="Rectangle 6"/>
            <p:cNvSpPr/>
            <p:nvPr/>
          </p:nvSpPr>
          <p:spPr>
            <a:xfrm>
              <a:off x="1905000" y="1676400"/>
              <a:ext cx="1905000" cy="400050"/>
            </a:xfrm>
            <a:prstGeom prst="roundRect">
              <a:avLst>
                <a:gd name="adj" fmla="val 28571"/>
              </a:avLst>
            </a:prstGeom>
            <a:solidFill>
              <a:schemeClr val="accent5"/>
            </a:solidFill>
            <a:ln w="19050">
              <a:solidFill>
                <a:schemeClr val="accent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2019195" y="1787842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输入 (32,340,768)</a:t>
              </a:r>
            </a:p>
          </p:txBody>
        </p:sp>
        <p:sp>
          <p:nvSpPr>
            <p:cNvPr id="8" name="Ellipse 8"/>
            <p:cNvSpPr/>
            <p:nvPr/>
          </p:nvSpPr>
          <p:spPr>
            <a:xfrm>
              <a:off x="2828925" y="2124075"/>
              <a:ext cx="57150" cy="571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Line 9"/>
            <p:cNvSpPr/>
            <p:nvPr/>
          </p:nvSpPr>
          <p:spPr>
            <a:xfrm>
              <a:off x="2857500" y="2181225"/>
              <a:ext cx="9525" cy="28575"/>
            </a:xfrm>
            <a:custGeom>
              <a:avLst/>
              <a:gdLst/>
              <a:ahLst/>
              <a:cxnLst/>
              <a:rect l="l" t="t" r="r" b="b"/>
              <a:pathLst>
                <a:path w="9525" h="28575">
                  <a:moveTo>
                    <a:pt x="0" y="0"/>
                  </a:moveTo>
                  <a:lnTo>
                    <a:pt x="0" y="28575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2857500" y="2152650"/>
              <a:ext cx="1905000" cy="9525"/>
            </a:xfrm>
            <a:custGeom>
              <a:avLst/>
              <a:gdLst/>
              <a:ahLst/>
              <a:cxnLst/>
              <a:rect l="l" t="t" r="r" b="b"/>
              <a:pathLst>
                <a:path w="1905000" h="9525">
                  <a:moveTo>
                    <a:pt x="0" y="0"/>
                  </a:moveTo>
                  <a:lnTo>
                    <a:pt x="19050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4762500" y="2152650"/>
              <a:ext cx="9525" cy="1257300"/>
            </a:xfrm>
            <a:custGeom>
              <a:avLst/>
              <a:gdLst/>
              <a:ahLst/>
              <a:cxnLst/>
              <a:rect l="l" t="t" r="r" b="b"/>
              <a:pathLst>
                <a:path w="9525" h="1257300">
                  <a:moveTo>
                    <a:pt x="0" y="0"/>
                  </a:moveTo>
                  <a:lnTo>
                    <a:pt x="0" y="125730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12" name="Line 12"/>
            <p:cNvSpPr/>
            <p:nvPr/>
          </p:nvSpPr>
          <p:spPr>
            <a:xfrm flipH="1">
              <a:off x="3009900" y="3409950"/>
              <a:ext cx="17526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3" name="Rectangle 13"/>
            <p:cNvSpPr/>
            <p:nvPr/>
          </p:nvSpPr>
          <p:spPr>
            <a:xfrm>
              <a:off x="2000250" y="2209800"/>
              <a:ext cx="1714500" cy="361950"/>
            </a:xfrm>
            <a:prstGeom prst="roundRect">
              <a:avLst>
                <a:gd name="adj" fmla="val 31579"/>
              </a:avLst>
            </a:prstGeom>
            <a:solidFill>
              <a:schemeClr val="lt2"/>
            </a:solidFill>
            <a:ln w="9525">
              <a:solidFill>
                <a:srgbClr val="DDE4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437888" y="2311718"/>
              <a:ext cx="8392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RMSNorm①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2857500" y="2571750"/>
              <a:ext cx="1" cy="9525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6" name="Rectangle 16"/>
            <p:cNvSpPr/>
            <p:nvPr/>
          </p:nvSpPr>
          <p:spPr>
            <a:xfrm>
              <a:off x="2000250" y="2686050"/>
              <a:ext cx="1714500" cy="419100"/>
            </a:xfrm>
            <a:prstGeom prst="roundRect">
              <a:avLst>
                <a:gd name="adj" fmla="val 27273"/>
              </a:avLst>
            </a:prstGeom>
            <a:solidFill>
              <a:schemeClr val="lt2"/>
            </a:solidFill>
            <a:ln w="9525">
              <a:solidFill>
                <a:srgbClr val="DDE4EA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692222" y="2807018"/>
              <a:ext cx="330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GQA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2857500" y="3105150"/>
              <a:ext cx="1" cy="11430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19" name="Freeform 19"/>
            <p:cNvSpPr/>
            <p:nvPr/>
          </p:nvSpPr>
          <p:spPr>
            <a:xfrm>
              <a:off x="2686050" y="3238500"/>
              <a:ext cx="342900" cy="342900"/>
            </a:xfrm>
            <a:prstGeom prst="mathPlus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2828925" y="3629025"/>
              <a:ext cx="57150" cy="571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Line 21"/>
            <p:cNvSpPr/>
            <p:nvPr/>
          </p:nvSpPr>
          <p:spPr>
            <a:xfrm>
              <a:off x="2857500" y="358140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2857500" y="3657600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0"/>
                  </a:moveTo>
                  <a:lnTo>
                    <a:pt x="2476500" y="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5334000" y="3657600"/>
              <a:ext cx="9525" cy="1352550"/>
            </a:xfrm>
            <a:custGeom>
              <a:avLst/>
              <a:gdLst/>
              <a:ahLst/>
              <a:cxnLst/>
              <a:rect l="l" t="t" r="r" b="b"/>
              <a:pathLst>
                <a:path w="9525" h="1352550">
                  <a:moveTo>
                    <a:pt x="0" y="0"/>
                  </a:moveTo>
                  <a:lnTo>
                    <a:pt x="0" y="1352550"/>
                  </a:lnTo>
                </a:path>
              </a:pathLst>
            </a:cu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24" name="Line 24"/>
            <p:cNvSpPr/>
            <p:nvPr/>
          </p:nvSpPr>
          <p:spPr>
            <a:xfrm flipH="1">
              <a:off x="3009900" y="5010150"/>
              <a:ext cx="2324100" cy="1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5" name="Rectangle 25"/>
            <p:cNvSpPr/>
            <p:nvPr/>
          </p:nvSpPr>
          <p:spPr>
            <a:xfrm>
              <a:off x="2000250" y="3752850"/>
              <a:ext cx="1714500" cy="361950"/>
            </a:xfrm>
            <a:prstGeom prst="roundRect">
              <a:avLst>
                <a:gd name="adj" fmla="val 31579"/>
              </a:avLst>
            </a:prstGeom>
            <a:solidFill>
              <a:schemeClr val="lt2"/>
            </a:solidFill>
            <a:ln w="9525">
              <a:solidFill>
                <a:srgbClr val="DDE4E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437888" y="3854768"/>
              <a:ext cx="8392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RMSNorm②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2857500" y="4114800"/>
              <a:ext cx="1" cy="15240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28" name="Rectangle 28"/>
            <p:cNvSpPr/>
            <p:nvPr/>
          </p:nvSpPr>
          <p:spPr>
            <a:xfrm>
              <a:off x="2000250" y="4286250"/>
              <a:ext cx="1714500" cy="419100"/>
            </a:xfrm>
            <a:prstGeom prst="roundRect">
              <a:avLst>
                <a:gd name="adj" fmla="val 27273"/>
              </a:avLst>
            </a:prstGeom>
            <a:solidFill>
              <a:schemeClr val="lt2"/>
            </a:solidFill>
            <a:ln w="9525">
              <a:solidFill>
                <a:srgbClr val="DDE4EA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2692222" y="4407218"/>
              <a:ext cx="3305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FFN</a:t>
              </a:r>
            </a:p>
          </p:txBody>
        </p:sp>
        <p:sp>
          <p:nvSpPr>
            <p:cNvPr id="30" name="Line 30"/>
            <p:cNvSpPr/>
            <p:nvPr/>
          </p:nvSpPr>
          <p:spPr>
            <a:xfrm>
              <a:off x="2857500" y="4705350"/>
              <a:ext cx="1" cy="11430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31" name="Freeform 31"/>
            <p:cNvSpPr/>
            <p:nvPr/>
          </p:nvSpPr>
          <p:spPr>
            <a:xfrm>
              <a:off x="2686050" y="4838700"/>
              <a:ext cx="342900" cy="342900"/>
            </a:xfrm>
            <a:prstGeom prst="mathPlus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2857500" y="5181600"/>
              <a:ext cx="1" cy="285750"/>
            </a:xfrm>
            <a:prstGeom prst="line">
              <a:avLst/>
            </a:prstGeom>
            <a:noFill/>
            <a:ln w="19050">
              <a:solidFill>
                <a:schemeClr val="accent1"/>
              </a:solidFill>
              <a:tailEnd type="triangle" w="lg" len="lg"/>
            </a:ln>
          </p:spPr>
        </p:sp>
        <p:sp>
          <p:nvSpPr>
            <p:cNvPr id="33" name="Rectangle 33"/>
            <p:cNvSpPr/>
            <p:nvPr/>
          </p:nvSpPr>
          <p:spPr>
            <a:xfrm>
              <a:off x="1905000" y="5486400"/>
              <a:ext cx="1905000" cy="400050"/>
            </a:xfrm>
            <a:prstGeom prst="roundRect">
              <a:avLst>
                <a:gd name="adj" fmla="val 28571"/>
              </a:avLst>
            </a:prstGeom>
            <a:solidFill>
              <a:schemeClr val="accent5"/>
            </a:solidFill>
            <a:ln w="19050">
              <a:solidFill>
                <a:schemeClr val="accent1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2019195" y="5597842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输出 (32,340,768)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832604" y="2727960"/>
              <a:ext cx="4285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残差①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404104" y="4175760"/>
              <a:ext cx="4285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残差②</a:t>
              </a:r>
            </a:p>
          </p:txBody>
        </p:sp>
      </p:grpSp>
      <p:grpSp>
        <p:nvGrpSpPr>
          <p:cNvPr id="50" name="residual-notes"/>
          <p:cNvGrpSpPr/>
          <p:nvPr/>
        </p:nvGrpSpPr>
        <p:grpSpPr>
          <a:xfrm>
            <a:off x="6278880" y="1546860"/>
            <a:ext cx="4523640" cy="4585335"/>
            <a:chOff x="6278880" y="1546860"/>
            <a:chExt cx="4523640" cy="4585335"/>
          </a:xfrm>
        </p:grpSpPr>
        <p:sp>
          <p:nvSpPr>
            <p:cNvPr id="38" name="TextBox 38"/>
            <p:cNvSpPr txBox="1"/>
            <p:nvPr/>
          </p:nvSpPr>
          <p:spPr>
            <a:xfrm>
              <a:off x="6280404" y="15468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一层的两个公式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279642" y="1873568"/>
              <a:ext cx="21343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x = x + Attn(Norm(x))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79642" y="2140268"/>
              <a:ext cx="2058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x = x + FFN(Norm(x))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278880" y="254317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残差提供梯度高速公路；子层只学修正量。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78880" y="2828925"/>
              <a:ext cx="45236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虚线从 Norm 之前分出，这是 Pre-Norm 的标志。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280404" y="3356610"/>
              <a:ext cx="149752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三种 Norm 各司其职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78880" y="3667125"/>
              <a:ext cx="39082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每层 2 个主干 Pre-Norm（182/183 定义）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278880" y="3952875"/>
              <a:ext cx="437026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attention 内 QK-Norm；出口 1 个全局 Norm。</a:t>
              </a:r>
            </a:p>
          </p:txBody>
        </p:sp>
        <p:sp>
          <p:nvSpPr>
            <p:cNvPr id="46" name="Freeform 46"/>
            <p:cNvSpPr/>
            <p:nvPr/>
          </p:nvSpPr>
          <p:spPr>
            <a:xfrm>
              <a:off x="6286500" y="4476750"/>
              <a:ext cx="4000500" cy="1238250"/>
            </a:xfrm>
            <a:prstGeom prst="wedgeRectCallout">
              <a:avLst>
                <a:gd name="adj1" fmla="val -50000"/>
                <a:gd name="adj2" fmla="val -10000"/>
              </a:avLst>
            </a:prstGeom>
            <a:solidFill>
              <a:schemeClr val="lt1"/>
            </a:solidFill>
            <a:ln w="19050">
              <a:solidFill>
                <a:schemeClr val="accent2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659880" y="4714875"/>
              <a:ext cx="23096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捷径②的起点在 ⊕① 之后，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59880" y="501967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不是回到最初输入。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278880" y="5838825"/>
              <a:ext cx="42860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形状守恒 + 残差累加 = 8 层能稳定串联的原因。</a:t>
              </a:r>
            </a:p>
          </p:txBody>
        </p:sp>
      </p:grpSp>
      <p:grpSp>
        <p:nvGrpSpPr>
          <p:cNvPr id="53" name="footer"/>
          <p:cNvGrpSpPr/>
          <p:nvPr/>
        </p:nvGrpSpPr>
        <p:grpSpPr>
          <a:xfrm>
            <a:off x="603504" y="6309360"/>
            <a:ext cx="10984992" cy="234696"/>
            <a:chOff x="603504" y="6309360"/>
            <a:chExt cx="10984992" cy="234696"/>
          </a:xfrm>
        </p:grpSpPr>
        <p:sp>
          <p:nvSpPr>
            <p:cNvPr id="51" name="TextBox 51"/>
            <p:cNvSpPr txBox="1"/>
            <p:nvPr/>
          </p:nvSpPr>
          <p:spPr>
            <a:xfrm>
              <a:off x="603504" y="6309360"/>
              <a:ext cx="58600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易错点出自 docs/结构图与代码映射分析.md 第二节；形状守恒是残差成立的前提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1035132" y="63093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09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884" y="699135"/>
            <a:ext cx="10993374" cy="529590"/>
            <a:chOff x="595884" y="699135"/>
            <a:chExt cx="10993374" cy="529590"/>
          </a:xfrm>
        </p:grpSpPr>
        <p:sp>
          <p:nvSpPr>
            <p:cNvPr id="2" name="TextBox 2"/>
            <p:cNvSpPr txBox="1"/>
            <p:nvPr/>
          </p:nvSpPr>
          <p:spPr>
            <a:xfrm>
              <a:off x="595884" y="699135"/>
              <a:ext cx="416404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198M 总参数，64M 激活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336447" y="844868"/>
              <a:ext cx="42528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3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model_minimind.py · 148–176 MOEFeedForward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19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</p:grpSp>
      <p:grpSp>
        <p:nvGrpSpPr>
          <p:cNvPr id="12" name="moe-locator"/>
          <p:cNvGrpSpPr/>
          <p:nvPr/>
        </p:nvGrpSpPr>
        <p:grpSpPr>
          <a:xfrm>
            <a:off x="609600" y="1600200"/>
            <a:ext cx="5593537" cy="1114806"/>
            <a:chOff x="609600" y="1600200"/>
            <a:chExt cx="5593537" cy="1114806"/>
          </a:xfrm>
        </p:grpSpPr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9600" y="1600200"/>
              <a:ext cx="1905000" cy="1038225"/>
            </a:xfrm>
            <a:prstGeom prst="rect">
              <a:avLst/>
            </a:prstGeom>
          </p:spPr>
        </p:pic>
        <p:sp>
          <p:nvSpPr>
            <p:cNvPr id="7" name="Rectangle 7"/>
            <p:cNvSpPr/>
            <p:nvPr/>
          </p:nvSpPr>
          <p:spPr>
            <a:xfrm>
              <a:off x="1543050" y="1752600"/>
              <a:ext cx="952500" cy="733425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2737104" y="1737360"/>
              <a:ext cx="22204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官方 MoE 结构图（完整呈现）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737104" y="1985010"/>
              <a:ext cx="26509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本页拆的是 </a:t>
              </a:r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右侧 Router / 专家面板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736342" y="2216468"/>
              <a:ext cx="28322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images/LLM-structure-moe.jpg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737104" y="2480310"/>
              <a:ext cx="34660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灰色专家 = 被跳过，左上角标注对应 N=4 / M=1</a:t>
              </a:r>
            </a:p>
          </p:txBody>
        </p:sp>
      </p:grpSp>
      <p:grpSp>
        <p:nvGrpSpPr>
          <p:cNvPr id="35" name="moe-routing"/>
          <p:cNvGrpSpPr/>
          <p:nvPr/>
        </p:nvGrpSpPr>
        <p:grpSpPr>
          <a:xfrm>
            <a:off x="609600" y="3124200"/>
            <a:ext cx="5448300" cy="2410206"/>
            <a:chOff x="609600" y="3124200"/>
            <a:chExt cx="5448300" cy="2410206"/>
          </a:xfrm>
        </p:grpSpPr>
        <p:sp>
          <p:nvSpPr>
            <p:cNvPr id="13" name="Rectangle 13"/>
            <p:cNvSpPr/>
            <p:nvPr/>
          </p:nvSpPr>
          <p:spPr>
            <a:xfrm>
              <a:off x="609600" y="4305300"/>
              <a:ext cx="914400" cy="381000"/>
            </a:xfrm>
            <a:prstGeom prst="roundRect">
              <a:avLst>
                <a:gd name="adj" fmla="val 30000"/>
              </a:avLst>
            </a:prstGeom>
            <a:solidFill>
              <a:schemeClr val="lt2"/>
            </a:solidFill>
            <a:ln w="9525">
              <a:solidFill>
                <a:srgbClr val="DDE4EA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60076" y="4407218"/>
              <a:ext cx="6134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tokens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1524000" y="4495800"/>
              <a:ext cx="1524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6" name="Freeform 16"/>
            <p:cNvSpPr/>
            <p:nvPr/>
          </p:nvSpPr>
          <p:spPr>
            <a:xfrm>
              <a:off x="1714500" y="4191000"/>
              <a:ext cx="609600" cy="609600"/>
            </a:xfrm>
            <a:prstGeom prst="funnel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730689" y="4918710"/>
              <a:ext cx="5772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Router</a:t>
              </a:r>
            </a:p>
          </p:txBody>
        </p:sp>
        <p:sp>
          <p:nvSpPr>
            <p:cNvPr id="18" name="Line 18"/>
            <p:cNvSpPr/>
            <p:nvPr/>
          </p:nvSpPr>
          <p:spPr>
            <a:xfrm flipV="1">
              <a:off x="2324100" y="3333750"/>
              <a:ext cx="647700" cy="1162050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19" name="Line 19"/>
            <p:cNvSpPr/>
            <p:nvPr/>
          </p:nvSpPr>
          <p:spPr>
            <a:xfrm flipV="1">
              <a:off x="2324100" y="3867150"/>
              <a:ext cx="647700" cy="628650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20" name="Line 20"/>
            <p:cNvSpPr/>
            <p:nvPr/>
          </p:nvSpPr>
          <p:spPr>
            <a:xfrm flipV="1">
              <a:off x="2324100" y="4400550"/>
              <a:ext cx="647700" cy="95250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21" name="Line 21"/>
            <p:cNvSpPr/>
            <p:nvPr/>
          </p:nvSpPr>
          <p:spPr>
            <a:xfrm>
              <a:off x="2324100" y="4495800"/>
              <a:ext cx="647700" cy="438150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22" name="Rectangle 22"/>
            <p:cNvSpPr/>
            <p:nvPr/>
          </p:nvSpPr>
          <p:spPr>
            <a:xfrm>
              <a:off x="3009900" y="3143250"/>
              <a:ext cx="1809750" cy="381000"/>
            </a:xfrm>
            <a:prstGeom prst="roundRect">
              <a:avLst>
                <a:gd name="adj" fmla="val 30000"/>
              </a:avLst>
            </a:prstGeom>
            <a:solidFill>
              <a:schemeClr val="lt2"/>
            </a:solidFill>
            <a:ln w="9525">
              <a:solidFill>
                <a:srgbClr val="DDE4E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626225" y="3245168"/>
              <a:ext cx="5771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专家 1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009900" y="3676650"/>
              <a:ext cx="1809750" cy="381000"/>
            </a:xfrm>
            <a:prstGeom prst="roundRect">
              <a:avLst>
                <a:gd name="adj" fmla="val 30000"/>
              </a:avLst>
            </a:prstGeom>
            <a:solidFill>
              <a:schemeClr val="lt2"/>
            </a:solidFill>
            <a:ln w="9525">
              <a:solidFill>
                <a:srgbClr val="DDE4E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626225" y="3778568"/>
              <a:ext cx="5771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专家 2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009900" y="4210050"/>
              <a:ext cx="1809750" cy="381000"/>
            </a:xfrm>
            <a:prstGeom prst="roundRect">
              <a:avLst>
                <a:gd name="adj" fmla="val 30000"/>
              </a:avLst>
            </a:prstGeom>
            <a:solidFill>
              <a:schemeClr val="lt2"/>
            </a:solidFill>
            <a:ln w="9525">
              <a:solidFill>
                <a:srgbClr val="DDE4E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626225" y="4311968"/>
              <a:ext cx="5771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专家 3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009900" y="4743450"/>
              <a:ext cx="1809750" cy="381000"/>
            </a:xfrm>
            <a:prstGeom prst="roundRect">
              <a:avLst>
                <a:gd name="adj" fmla="val 30000"/>
              </a:avLst>
            </a:prstGeom>
            <a:solidFill>
              <a:schemeClr val="lt1"/>
            </a:solidFill>
            <a:ln w="9525">
              <a:solidFill>
                <a:srgbClr val="DDE4EA"/>
              </a:solidFill>
              <a:prstDash val="dash"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626225" y="4845368"/>
              <a:ext cx="5771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Consolas"/>
                  <a:ea typeface="Microsoft YaHei"/>
                  <a:cs typeface="Consolas"/>
                </a:rPr>
                <a:t>专家 4</a:t>
              </a:r>
            </a:p>
          </p:txBody>
        </p:sp>
        <p:sp>
          <p:nvSpPr>
            <p:cNvPr id="30" name="Freeform 30"/>
            <p:cNvSpPr/>
            <p:nvPr/>
          </p:nvSpPr>
          <p:spPr>
            <a:xfrm>
              <a:off x="4895850" y="3124200"/>
              <a:ext cx="209550" cy="2038350"/>
            </a:xfrm>
            <a:prstGeom prst="rightBrace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5105400" y="4143375"/>
              <a:ext cx="9525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238750" y="3933825"/>
              <a:ext cx="819150" cy="419100"/>
            </a:xfrm>
            <a:prstGeom prst="roundRect">
              <a:avLst>
                <a:gd name="adj" fmla="val 27273"/>
              </a:avLst>
            </a:prstGeom>
            <a:solidFill>
              <a:schemeClr val="accent5"/>
            </a:solidFill>
            <a:ln w="19050">
              <a:solidFill>
                <a:schemeClr val="accent1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354117" y="4054792"/>
              <a:ext cx="5884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1"/>
                  </a:solidFill>
                  <a:latin typeface="Consolas"/>
                  <a:ea typeface="Microsoft YaHei"/>
                  <a:cs typeface="Consolas"/>
                </a:rPr>
                <a:t>Σ 加权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003804" y="529971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灰色专家被跳过，不参与本次计算</a:t>
              </a:r>
            </a:p>
          </p:txBody>
        </p:sp>
      </p:grpSp>
      <p:grpSp>
        <p:nvGrpSpPr>
          <p:cNvPr id="46" name="moe-notes"/>
          <p:cNvGrpSpPr/>
          <p:nvPr/>
        </p:nvGrpSpPr>
        <p:grpSpPr>
          <a:xfrm>
            <a:off x="6278880" y="1546860"/>
            <a:ext cx="5214938" cy="3777996"/>
            <a:chOff x="6278880" y="1546860"/>
            <a:chExt cx="5214938" cy="3777996"/>
          </a:xfrm>
        </p:grpSpPr>
        <p:sp>
          <p:nvSpPr>
            <p:cNvPr id="36" name="TextBox 36"/>
            <p:cNvSpPr txBox="1"/>
            <p:nvPr/>
          </p:nvSpPr>
          <p:spPr>
            <a:xfrm>
              <a:off x="6280404" y="1546860"/>
              <a:ext cx="21402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Router 三步（159–160 行）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278880" y="1857375"/>
              <a:ext cx="52149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gate 打分 → softmax → top-k 选 1；只对被选中的专家做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278880" y="2143125"/>
              <a:ext cx="404374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forward（163–168 行按 topk_idx 分桶）。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280404" y="272796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承接上一页的形状守恒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78880" y="3038475"/>
              <a:ext cx="51816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对外接口与 Dense FFN 完全一致，所以 Block 里一行切换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278880" y="3324225"/>
              <a:ext cx="12167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（184 行）。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280404" y="390906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参数量算术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278880" y="4219575"/>
              <a:ext cx="419195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每层多出 3 × 5.6M = 16.8M，8 层约 134M；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78880" y="4505325"/>
              <a:ext cx="382264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 xml:space="preserve">64M + 134M ≈ </a:t>
              </a:r>
              <a:r>
                <a:rPr lang="en-US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198M</a:t>
              </a:r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，而激活仍是 64M。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280404" y="5090160"/>
              <a:ext cx="26017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负载均衡 aux_loss（171–173 行）</a:t>
              </a:r>
            </a:p>
          </p:txBody>
        </p:sp>
      </p:grpSp>
      <p:grpSp>
        <p:nvGrpSpPr>
          <p:cNvPr id="49" name="moe-caveats"/>
          <p:cNvGrpSpPr/>
          <p:nvPr/>
        </p:nvGrpSpPr>
        <p:grpSpPr>
          <a:xfrm>
            <a:off x="792480" y="5610225"/>
            <a:ext cx="9548334" cy="521970"/>
            <a:chOff x="792480" y="5610225"/>
            <a:chExt cx="9548334" cy="521970"/>
          </a:xfrm>
        </p:grpSpPr>
        <p:sp>
          <p:nvSpPr>
            <p:cNvPr id="47" name="TextBox 47"/>
            <p:cNvSpPr txBox="1"/>
            <p:nvPr/>
          </p:nvSpPr>
          <p:spPr>
            <a:xfrm>
              <a:off x="792480" y="5610225"/>
              <a:ext cx="73104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落选专家的参数也进计算图（169–170 行），否则 DDP 报 unused parameters。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92480" y="5838825"/>
              <a:ext cx="95483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top-1 + norm_topk_prob 时路由权重恒为 1；原生 PyTorch 下 4 experts / top-1 比 Dense 慢约 50%。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603504" y="6309360"/>
            <a:ext cx="10984992" cy="234696"/>
            <a:chOff x="603504" y="6309360"/>
            <a:chExt cx="10984992" cy="234696"/>
          </a:xfrm>
        </p:grpSpPr>
        <p:sp>
          <p:nvSpPr>
            <p:cNvPr id="50" name="TextBox 50"/>
            <p:cNvSpPr txBox="1"/>
            <p:nvPr/>
          </p:nvSpPr>
          <p:spPr>
            <a:xfrm>
              <a:off x="603504" y="6309360"/>
              <a:ext cx="85776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要兑现「MoE 更快」得靠 Triton / DeepSpeed-MoE 这类融合算子；aux_loss 只在 self.training 时计算，推理零开销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035132" y="63093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10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884" y="699135"/>
            <a:ext cx="10993374" cy="529590"/>
            <a:chOff x="595884" y="699135"/>
            <a:chExt cx="10993374" cy="529590"/>
          </a:xfrm>
        </p:grpSpPr>
        <p:sp>
          <p:nvSpPr>
            <p:cNvPr id="2" name="TextBox 2"/>
            <p:cNvSpPr txBox="1"/>
            <p:nvPr/>
          </p:nvSpPr>
          <p:spPr>
            <a:xfrm>
              <a:off x="595884" y="699135"/>
              <a:ext cx="366217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同一份代码的两种走法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514167" y="844868"/>
              <a:ext cx="50750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6"/>
                  </a:solidFill>
                  <a:latin typeface="Consolas"/>
                  <a:ea typeface="Microsoft YaHei"/>
                  <a:cs typeface="Consolas"/>
                </a:rPr>
                <a:t>model_minimind.py · 245–253 训练 / 257–287 generate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19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</p:grpSp>
      <p:grpSp>
        <p:nvGrpSpPr>
          <p:cNvPr id="37" name="train-vs-infer"/>
          <p:cNvGrpSpPr/>
          <p:nvPr/>
        </p:nvGrpSpPr>
        <p:grpSpPr>
          <a:xfrm>
            <a:off x="609600" y="1676400"/>
            <a:ext cx="6667500" cy="2933700"/>
            <a:chOff x="609600" y="1676400"/>
            <a:chExt cx="6667500" cy="2933700"/>
          </a:xfrm>
        </p:grpSpPr>
        <p:sp>
          <p:nvSpPr>
            <p:cNvPr id="6" name="Rectangle 6"/>
            <p:cNvSpPr/>
            <p:nvPr/>
          </p:nvSpPr>
          <p:spPr>
            <a:xfrm>
              <a:off x="609600" y="1676400"/>
              <a:ext cx="6667500" cy="2933700"/>
            </a:xfrm>
            <a:prstGeom prst="rect">
              <a:avLst/>
            </a:prstGeom>
            <a:noFill/>
            <a:ln w="9525">
              <a:solidFill>
                <a:srgbClr val="DDE4EA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1676400"/>
              <a:ext cx="6667500" cy="419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609600" y="2095500"/>
              <a:ext cx="6667500" cy="9525"/>
            </a:xfrm>
            <a:custGeom>
              <a:avLst/>
              <a:gdLst/>
              <a:ahLst/>
              <a:cxnLst/>
              <a:rect l="l" t="t" r="r" b="b"/>
              <a:pathLst>
                <a:path w="6667500" h="9525">
                  <a:moveTo>
                    <a:pt x="0" y="0"/>
                  </a:moveTo>
                  <a:lnTo>
                    <a:pt x="66675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609600" y="2514600"/>
              <a:ext cx="6667500" cy="9525"/>
            </a:xfrm>
            <a:custGeom>
              <a:avLst/>
              <a:gdLst/>
              <a:ahLst/>
              <a:cxnLst/>
              <a:rect l="l" t="t" r="r" b="b"/>
              <a:pathLst>
                <a:path w="6667500" h="9525">
                  <a:moveTo>
                    <a:pt x="0" y="0"/>
                  </a:moveTo>
                  <a:lnTo>
                    <a:pt x="66675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609600" y="2933700"/>
              <a:ext cx="6667500" cy="9525"/>
            </a:xfrm>
            <a:custGeom>
              <a:avLst/>
              <a:gdLst/>
              <a:ahLst/>
              <a:cxnLst/>
              <a:rect l="l" t="t" r="r" b="b"/>
              <a:pathLst>
                <a:path w="6667500" h="9525">
                  <a:moveTo>
                    <a:pt x="0" y="0"/>
                  </a:moveTo>
                  <a:lnTo>
                    <a:pt x="66675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609600" y="3352800"/>
              <a:ext cx="6667500" cy="9525"/>
            </a:xfrm>
            <a:custGeom>
              <a:avLst/>
              <a:gdLst/>
              <a:ahLst/>
              <a:cxnLst/>
              <a:rect l="l" t="t" r="r" b="b"/>
              <a:pathLst>
                <a:path w="6667500" h="9525">
                  <a:moveTo>
                    <a:pt x="0" y="0"/>
                  </a:moveTo>
                  <a:lnTo>
                    <a:pt x="66675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609600" y="3771900"/>
              <a:ext cx="6667500" cy="9525"/>
            </a:xfrm>
            <a:custGeom>
              <a:avLst/>
              <a:gdLst/>
              <a:ahLst/>
              <a:cxnLst/>
              <a:rect l="l" t="t" r="r" b="b"/>
              <a:pathLst>
                <a:path w="6667500" h="9525">
                  <a:moveTo>
                    <a:pt x="0" y="0"/>
                  </a:moveTo>
                  <a:lnTo>
                    <a:pt x="66675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3" name="Line 13"/>
            <p:cNvSpPr/>
            <p:nvPr/>
          </p:nvSpPr>
          <p:spPr>
            <a:xfrm>
              <a:off x="609600" y="4191000"/>
              <a:ext cx="6667500" cy="9525"/>
            </a:xfrm>
            <a:custGeom>
              <a:avLst/>
              <a:gdLst/>
              <a:ahLst/>
              <a:cxnLst/>
              <a:rect l="l" t="t" r="r" b="b"/>
              <a:pathLst>
                <a:path w="6667500" h="9525">
                  <a:moveTo>
                    <a:pt x="0" y="0"/>
                  </a:moveTo>
                  <a:lnTo>
                    <a:pt x="66675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2038350" y="1676400"/>
              <a:ext cx="9525" cy="2933700"/>
            </a:xfrm>
            <a:custGeom>
              <a:avLst/>
              <a:gdLst/>
              <a:ahLst/>
              <a:cxnLst/>
              <a:rect l="l" t="t" r="r" b="b"/>
              <a:pathLst>
                <a:path w="9525" h="2933700">
                  <a:moveTo>
                    <a:pt x="0" y="0"/>
                  </a:moveTo>
                  <a:lnTo>
                    <a:pt x="0" y="293370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5" name="Line 15"/>
            <p:cNvSpPr/>
            <p:nvPr/>
          </p:nvSpPr>
          <p:spPr>
            <a:xfrm>
              <a:off x="4610100" y="1676400"/>
              <a:ext cx="9525" cy="2933700"/>
            </a:xfrm>
            <a:custGeom>
              <a:avLst/>
              <a:gdLst/>
              <a:ahLst/>
              <a:cxnLst/>
              <a:rect l="l" t="t" r="r" b="b"/>
              <a:pathLst>
                <a:path w="9525" h="2933700">
                  <a:moveTo>
                    <a:pt x="0" y="0"/>
                  </a:moveTo>
                  <a:lnTo>
                    <a:pt x="0" y="293370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35330" y="17811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维度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164080" y="17811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训练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35830" y="17811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推理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35330" y="2200275"/>
              <a:ext cx="9845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input 形状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164080" y="2200275"/>
              <a:ext cx="15701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(32,340) 全序列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35830" y="2200275"/>
              <a:ext cx="205473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(1,1) 每步一个 token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5330" y="2619375"/>
              <a:ext cx="10147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start_pos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164080" y="26193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35830" y="2619375"/>
              <a:ext cx="15600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t-1（缓存长度）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35330" y="3038475"/>
              <a:ext cx="9453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RoPE 切片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164080" y="3038475"/>
              <a:ext cx="7926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[0:340]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735830" y="3038475"/>
              <a:ext cx="7926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[t-1:t]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35330" y="345757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打分阵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164080" y="3457575"/>
              <a:ext cx="157010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(32,8,340,340)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735830" y="3457575"/>
              <a:ext cx="10147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(1,8,1,t)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35330" y="3876675"/>
              <a:ext cx="7178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KV 缓存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164080" y="3876675"/>
              <a:ext cx="2364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不使用（present=None）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735830" y="3876675"/>
              <a:ext cx="127177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每层攒 (K,V)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35330" y="4295775"/>
              <a:ext cx="84628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SoftMax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164080" y="4295775"/>
              <a:ext cx="21254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融合进 cross_entropy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735830" y="4295775"/>
              <a:ext cx="1963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显式 softmax 后采样</a:t>
              </a:r>
            </a:p>
          </p:txBody>
        </p:sp>
      </p:grpSp>
      <p:grpSp>
        <p:nvGrpSpPr>
          <p:cNvPr id="70" name="train-vs-infer-shapes"/>
          <p:cNvGrpSpPr/>
          <p:nvPr/>
        </p:nvGrpSpPr>
        <p:grpSpPr>
          <a:xfrm>
            <a:off x="7612380" y="1680210"/>
            <a:ext cx="3865082" cy="3594735"/>
            <a:chOff x="7612380" y="1680210"/>
            <a:chExt cx="3865082" cy="3594735"/>
          </a:xfrm>
        </p:grpSpPr>
        <p:sp>
          <p:nvSpPr>
            <p:cNvPr id="38" name="TextBox 38"/>
            <p:cNvSpPr txBox="1"/>
            <p:nvPr/>
          </p:nvSpPr>
          <p:spPr>
            <a:xfrm>
              <a:off x="7613904" y="1680210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训练：一个大方阵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7620000" y="1905000"/>
              <a:ext cx="1714500" cy="1714500"/>
            </a:xfrm>
            <a:prstGeom prst="roundRect">
              <a:avLst>
                <a:gd name="adj" fmla="val 7778"/>
              </a:avLst>
            </a:prstGeom>
            <a:solidFill>
              <a:schemeClr val="accent1">
                <a:alpha val="10000"/>
              </a:schemeClr>
            </a:solidFill>
            <a:ln w="19050">
              <a:solidFill>
                <a:schemeClr val="accent1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7905750" y="1905000"/>
              <a:ext cx="9525" cy="1714500"/>
            </a:xfrm>
            <a:custGeom>
              <a:avLst/>
              <a:gdLst/>
              <a:ahLst/>
              <a:cxnLst/>
              <a:rect l="l" t="t" r="r" b="b"/>
              <a:pathLst>
                <a:path w="9525" h="1714500">
                  <a:moveTo>
                    <a:pt x="0" y="0"/>
                  </a:moveTo>
                  <a:lnTo>
                    <a:pt x="0" y="171450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8191500" y="1905000"/>
              <a:ext cx="9525" cy="1714500"/>
            </a:xfrm>
            <a:custGeom>
              <a:avLst/>
              <a:gdLst/>
              <a:ahLst/>
              <a:cxnLst/>
              <a:rect l="l" t="t" r="r" b="b"/>
              <a:pathLst>
                <a:path w="9525" h="1714500">
                  <a:moveTo>
                    <a:pt x="0" y="0"/>
                  </a:moveTo>
                  <a:lnTo>
                    <a:pt x="0" y="171450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8477250" y="1905000"/>
              <a:ext cx="9525" cy="1714500"/>
            </a:xfrm>
            <a:custGeom>
              <a:avLst/>
              <a:gdLst/>
              <a:ahLst/>
              <a:cxnLst/>
              <a:rect l="l" t="t" r="r" b="b"/>
              <a:pathLst>
                <a:path w="9525" h="1714500">
                  <a:moveTo>
                    <a:pt x="0" y="0"/>
                  </a:moveTo>
                  <a:lnTo>
                    <a:pt x="0" y="171450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8763000" y="1905000"/>
              <a:ext cx="9525" cy="1714500"/>
            </a:xfrm>
            <a:custGeom>
              <a:avLst/>
              <a:gdLst/>
              <a:ahLst/>
              <a:cxnLst/>
              <a:rect l="l" t="t" r="r" b="b"/>
              <a:pathLst>
                <a:path w="9525" h="1714500">
                  <a:moveTo>
                    <a:pt x="0" y="0"/>
                  </a:moveTo>
                  <a:lnTo>
                    <a:pt x="0" y="171450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9048750" y="1905000"/>
              <a:ext cx="9525" cy="1714500"/>
            </a:xfrm>
            <a:custGeom>
              <a:avLst/>
              <a:gdLst/>
              <a:ahLst/>
              <a:cxnLst/>
              <a:rect l="l" t="t" r="r" b="b"/>
              <a:pathLst>
                <a:path w="9525" h="1714500">
                  <a:moveTo>
                    <a:pt x="0" y="0"/>
                  </a:moveTo>
                  <a:lnTo>
                    <a:pt x="0" y="171450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7620000" y="219075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7620000" y="247650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7620000" y="276225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7620000" y="304800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7620000" y="3333750"/>
              <a:ext cx="1714500" cy="9525"/>
            </a:xfrm>
            <a:custGeom>
              <a:avLst/>
              <a:gdLst/>
              <a:ahLst/>
              <a:cxnLst/>
              <a:rect l="l" t="t" r="r" b="b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517380" y="23336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一次喂全句，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517380" y="2619375"/>
              <a:ext cx="10147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340 个位置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517380" y="2905125"/>
              <a:ext cx="6715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的 loss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517380" y="31908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一起算。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613904" y="40614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推理：一条逐格延长的链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7620000" y="4343400"/>
              <a:ext cx="533400" cy="381000"/>
            </a:xfrm>
            <a:prstGeom prst="roundRect">
              <a:avLst>
                <a:gd name="adj" fmla="val 25000"/>
              </a:avLst>
            </a:prstGeom>
            <a:solidFill>
              <a:schemeClr val="accent5"/>
            </a:solidFill>
            <a:ln w="19050">
              <a:solidFill>
                <a:schemeClr val="accent1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833665" y="4461510"/>
              <a:ext cx="1060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57" name="Line 57"/>
            <p:cNvSpPr/>
            <p:nvPr/>
          </p:nvSpPr>
          <p:spPr>
            <a:xfrm>
              <a:off x="8153400" y="4533900"/>
              <a:ext cx="1143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58" name="Rectangle 58"/>
            <p:cNvSpPr/>
            <p:nvPr/>
          </p:nvSpPr>
          <p:spPr>
            <a:xfrm>
              <a:off x="8305800" y="4343400"/>
              <a:ext cx="533400" cy="3810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 w="9525">
              <a:solidFill>
                <a:srgbClr val="DDE4EA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521979" y="44615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0" name="Line 60"/>
            <p:cNvSpPr/>
            <p:nvPr/>
          </p:nvSpPr>
          <p:spPr>
            <a:xfrm>
              <a:off x="8839200" y="4533900"/>
              <a:ext cx="1143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61" name="Rectangle 61"/>
            <p:cNvSpPr/>
            <p:nvPr/>
          </p:nvSpPr>
          <p:spPr>
            <a:xfrm>
              <a:off x="8991600" y="4343400"/>
              <a:ext cx="533400" cy="3810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 w="9525">
              <a:solidFill>
                <a:srgbClr val="DDE4EA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9207779" y="44615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3" name="Line 63"/>
            <p:cNvSpPr/>
            <p:nvPr/>
          </p:nvSpPr>
          <p:spPr>
            <a:xfrm>
              <a:off x="9525000" y="4533900"/>
              <a:ext cx="1143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64" name="Rectangle 64"/>
            <p:cNvSpPr/>
            <p:nvPr/>
          </p:nvSpPr>
          <p:spPr>
            <a:xfrm>
              <a:off x="9677400" y="4343400"/>
              <a:ext cx="533400" cy="3810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 w="9525">
              <a:solidFill>
                <a:srgbClr val="DDE4EA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9893579" y="44615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6" name="Line 66"/>
            <p:cNvSpPr/>
            <p:nvPr/>
          </p:nvSpPr>
          <p:spPr>
            <a:xfrm>
              <a:off x="10210800" y="4533900"/>
              <a:ext cx="114300" cy="1"/>
            </a:xfrm>
            <a:prstGeom prst="line">
              <a:avLst/>
            </a:prstGeom>
            <a:noFill/>
            <a:ln w="19050">
              <a:solidFill>
                <a:schemeClr val="accent3"/>
              </a:solidFill>
              <a:tailEnd type="triangle" w="lg" len="lg"/>
            </a:ln>
          </p:spPr>
        </p:sp>
        <p:sp>
          <p:nvSpPr>
            <p:cNvPr id="67" name="Rectangle 67"/>
            <p:cNvSpPr/>
            <p:nvPr/>
          </p:nvSpPr>
          <p:spPr>
            <a:xfrm>
              <a:off x="10363200" y="4343400"/>
              <a:ext cx="533400" cy="381000"/>
            </a:xfrm>
            <a:prstGeom prst="roundRect">
              <a:avLst>
                <a:gd name="adj" fmla="val 25000"/>
              </a:avLst>
            </a:prstGeom>
            <a:solidFill>
              <a:schemeClr val="lt2"/>
            </a:solidFill>
            <a:ln w="9525">
              <a:solidFill>
                <a:srgbClr val="DDE4EA"/>
              </a:solidFill>
              <a:prstDash val="dash"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10579379" y="44615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t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612380" y="4981575"/>
              <a:ext cx="38650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每步只喂 1 个 token，靠 KV Cache 接力。</a:t>
              </a:r>
            </a:p>
          </p:txBody>
        </p:sp>
      </p:grpSp>
      <p:grpSp>
        <p:nvGrpSpPr>
          <p:cNvPr id="73" name="footer"/>
          <p:cNvGrpSpPr/>
          <p:nvPr/>
        </p:nvGrpSpPr>
        <p:grpSpPr>
          <a:xfrm>
            <a:off x="603504" y="6309360"/>
            <a:ext cx="10984992" cy="234696"/>
            <a:chOff x="603504" y="6309360"/>
            <a:chExt cx="10984992" cy="234696"/>
          </a:xfrm>
        </p:grpSpPr>
        <p:sp>
          <p:nvSpPr>
            <p:cNvPr id="71" name="TextBox 71"/>
            <p:cNvSpPr txBox="1"/>
            <p:nvPr/>
          </p:nvSpPr>
          <p:spPr>
            <a:xfrm>
              <a:off x="603504" y="6309360"/>
              <a:ext cx="69752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训练不需要 Tokenizer Decoder（loss 在 id 空间算）；只有推理与 PPO 奖励打分才需要 decode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1035132" y="63093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11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884" y="699135"/>
            <a:ext cx="10993374" cy="529590"/>
            <a:chOff x="595884" y="699135"/>
            <a:chExt cx="10993374" cy="529590"/>
          </a:xfrm>
        </p:grpSpPr>
        <p:sp>
          <p:nvSpPr>
            <p:cNvPr id="2" name="TextBox 2"/>
            <p:cNvSpPr txBox="1"/>
            <p:nvPr/>
          </p:nvSpPr>
          <p:spPr>
            <a:xfrm>
              <a:off x="595884" y="699135"/>
              <a:ext cx="4389120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从「我爱」到「我爱天空」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7513720" y="844868"/>
              <a:ext cx="40755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6"/>
                  </a:solidFill>
                  <a:latin typeface="Consolas"/>
                  <a:ea typeface="Microsoft YaHei"/>
                  <a:cs typeface="Consolas"/>
                </a:rPr>
                <a:t>model_minimind.py · 263–285 generate 循环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19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</p:grpSp>
      <p:grpSp>
        <p:nvGrpSpPr>
          <p:cNvPr id="12" name="inference-stages"/>
          <p:cNvGrpSpPr/>
          <p:nvPr/>
        </p:nvGrpSpPr>
        <p:grpSpPr>
          <a:xfrm>
            <a:off x="609600" y="1676400"/>
            <a:ext cx="10287000" cy="533400"/>
            <a:chOff x="609600" y="1676400"/>
            <a:chExt cx="10287000" cy="533400"/>
          </a:xfrm>
        </p:grpSpPr>
        <p:sp>
          <p:nvSpPr>
            <p:cNvPr id="6" name="Freeform 6"/>
            <p:cNvSpPr/>
            <p:nvPr/>
          </p:nvSpPr>
          <p:spPr>
            <a:xfrm>
              <a:off x="609600" y="1676400"/>
              <a:ext cx="3429000" cy="533400"/>
            </a:xfrm>
            <a:prstGeom prst="chevron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327404" y="1889760"/>
              <a:ext cx="16735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 Prefill 吃进「我爱」</a:t>
              </a:r>
            </a:p>
          </p:txBody>
        </p:sp>
        <p:sp>
          <p:nvSpPr>
            <p:cNvPr id="8" name="Freeform 8"/>
            <p:cNvSpPr/>
            <p:nvPr/>
          </p:nvSpPr>
          <p:spPr>
            <a:xfrm>
              <a:off x="4038600" y="1676400"/>
              <a:ext cx="3429000" cy="533400"/>
            </a:xfrm>
            <a:prstGeom prst="chevron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756404" y="1889760"/>
              <a:ext cx="15455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② Decode 生成「天」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7467600" y="1676400"/>
              <a:ext cx="3429000" cy="533400"/>
            </a:xfrm>
            <a:prstGeom prst="chevron">
              <a:avLst/>
            </a:prstGeom>
            <a:solidFill>
              <a:srgbClr val="6E9BC0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185404" y="1889760"/>
              <a:ext cx="20064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③ Decode 生成「空」→ EOS</a:t>
              </a:r>
            </a:p>
          </p:txBody>
        </p:sp>
      </p:grpSp>
      <p:grpSp>
        <p:nvGrpSpPr>
          <p:cNvPr id="57" name="kv-cache-evolution"/>
          <p:cNvGrpSpPr/>
          <p:nvPr/>
        </p:nvGrpSpPr>
        <p:grpSpPr>
          <a:xfrm>
            <a:off x="609600" y="2476500"/>
            <a:ext cx="10972800" cy="1676400"/>
            <a:chOff x="609600" y="2476500"/>
            <a:chExt cx="10972800" cy="1676400"/>
          </a:xfrm>
        </p:grpSpPr>
        <p:sp>
          <p:nvSpPr>
            <p:cNvPr id="13" name="Rectangle 13"/>
            <p:cNvSpPr/>
            <p:nvPr/>
          </p:nvSpPr>
          <p:spPr>
            <a:xfrm>
              <a:off x="609600" y="2476500"/>
              <a:ext cx="10972800" cy="1676400"/>
            </a:xfrm>
            <a:prstGeom prst="rect">
              <a:avLst/>
            </a:prstGeom>
            <a:noFill/>
            <a:ln w="9525">
              <a:solidFill>
                <a:srgbClr val="DDE4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609600" y="2476500"/>
              <a:ext cx="10972800" cy="4191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Line 15"/>
            <p:cNvSpPr/>
            <p:nvPr/>
          </p:nvSpPr>
          <p:spPr>
            <a:xfrm>
              <a:off x="609600" y="28956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6" name="Line 16"/>
            <p:cNvSpPr/>
            <p:nvPr/>
          </p:nvSpPr>
          <p:spPr>
            <a:xfrm>
              <a:off x="609600" y="33147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609600" y="37338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1371600" y="2476500"/>
              <a:ext cx="9525" cy="1676400"/>
            </a:xfrm>
            <a:custGeom>
              <a:avLst/>
              <a:gdLst/>
              <a:ahLst/>
              <a:cxnLst/>
              <a:rect l="l" t="t" r="r" b="b"/>
              <a:pathLst>
                <a:path w="9525" h="1676400">
                  <a:moveTo>
                    <a:pt x="0" y="0"/>
                  </a:moveTo>
                  <a:lnTo>
                    <a:pt x="0" y="167640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2228850" y="2476500"/>
              <a:ext cx="9525" cy="1676400"/>
            </a:xfrm>
            <a:custGeom>
              <a:avLst/>
              <a:gdLst/>
              <a:ahLst/>
              <a:cxnLst/>
              <a:rect l="l" t="t" r="r" b="b"/>
              <a:pathLst>
                <a:path w="9525" h="1676400">
                  <a:moveTo>
                    <a:pt x="0" y="0"/>
                  </a:moveTo>
                  <a:lnTo>
                    <a:pt x="0" y="167640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3848100" y="2476500"/>
              <a:ext cx="9525" cy="1676400"/>
            </a:xfrm>
            <a:custGeom>
              <a:avLst/>
              <a:gdLst/>
              <a:ahLst/>
              <a:cxnLst/>
              <a:rect l="l" t="t" r="r" b="b"/>
              <a:pathLst>
                <a:path w="9525" h="1676400">
                  <a:moveTo>
                    <a:pt x="0" y="0"/>
                  </a:moveTo>
                  <a:lnTo>
                    <a:pt x="0" y="167640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5086350" y="2476500"/>
              <a:ext cx="9525" cy="1676400"/>
            </a:xfrm>
            <a:custGeom>
              <a:avLst/>
              <a:gdLst/>
              <a:ahLst/>
              <a:cxnLst/>
              <a:rect l="l" t="t" r="r" b="b"/>
              <a:pathLst>
                <a:path w="9525" h="1676400">
                  <a:moveTo>
                    <a:pt x="0" y="0"/>
                  </a:moveTo>
                  <a:lnTo>
                    <a:pt x="0" y="167640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6229350" y="2476500"/>
              <a:ext cx="9525" cy="1676400"/>
            </a:xfrm>
            <a:custGeom>
              <a:avLst/>
              <a:gdLst/>
              <a:ahLst/>
              <a:cxnLst/>
              <a:rect l="l" t="t" r="r" b="b"/>
              <a:pathLst>
                <a:path w="9525" h="1676400">
                  <a:moveTo>
                    <a:pt x="0" y="0"/>
                  </a:moveTo>
                  <a:lnTo>
                    <a:pt x="0" y="167640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8134350" y="2476500"/>
              <a:ext cx="9525" cy="1676400"/>
            </a:xfrm>
            <a:custGeom>
              <a:avLst/>
              <a:gdLst/>
              <a:ahLst/>
              <a:cxnLst/>
              <a:rect l="l" t="t" r="r" b="b"/>
              <a:pathLst>
                <a:path w="9525" h="1676400">
                  <a:moveTo>
                    <a:pt x="0" y="0"/>
                  </a:moveTo>
                  <a:lnTo>
                    <a:pt x="0" y="167640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9563100" y="2476500"/>
              <a:ext cx="9525" cy="1676400"/>
            </a:xfrm>
            <a:custGeom>
              <a:avLst/>
              <a:gdLst/>
              <a:ahLst/>
              <a:cxnLst/>
              <a:rect l="l" t="t" r="r" b="b"/>
              <a:pathLst>
                <a:path w="9525" h="1676400">
                  <a:moveTo>
                    <a:pt x="0" y="0"/>
                  </a:moveTo>
                  <a:lnTo>
                    <a:pt x="0" y="167640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35330" y="25812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步骤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97330" y="25812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阶段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354580" y="25812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973830" y="2581275"/>
              <a:ext cx="10647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start_pos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212080" y="2581275"/>
              <a:ext cx="97166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RoPE 切片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355080" y="2581275"/>
              <a:ext cx="150624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缓存形状 (K=V)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60080" y="258127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打分阵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688830" y="25812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采样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735330" y="30003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497330" y="3000375"/>
              <a:ext cx="64628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Prefill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354580" y="3000375"/>
              <a:ext cx="12706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[BOS,我,爱]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973830" y="30003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12080" y="3000375"/>
              <a:ext cx="570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[0:3]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355080" y="3000375"/>
              <a:ext cx="1125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(1,3,4,96)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260080" y="3000375"/>
              <a:ext cx="10147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(1,8,3,3)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688830" y="300037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天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35330" y="34194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497330" y="3419475"/>
              <a:ext cx="6878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Decode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354580" y="3419475"/>
              <a:ext cx="1055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[天] (1,1)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973830" y="34194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212080" y="3419475"/>
              <a:ext cx="570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[3:4]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355080" y="3419475"/>
              <a:ext cx="1125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(1,4,4,96)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260080" y="3419475"/>
              <a:ext cx="10147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(1,8,1,4)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688830" y="3419475"/>
              <a:ext cx="2171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空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35330" y="38385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497330" y="3838575"/>
              <a:ext cx="68789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Decode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354580" y="3838575"/>
              <a:ext cx="10551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[空] (1,1)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3973830" y="3838575"/>
              <a:ext cx="12630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212080" y="3838575"/>
              <a:ext cx="570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[4:5]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6355080" y="3838575"/>
              <a:ext cx="112585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(1,5,4,96)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260080" y="3838575"/>
              <a:ext cx="10147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(1,8,1,5)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9688830" y="3838575"/>
              <a:ext cx="4099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EOS</a:t>
              </a:r>
            </a:p>
          </p:txBody>
        </p:sp>
      </p:grpSp>
      <p:grpSp>
        <p:nvGrpSpPr>
          <p:cNvPr id="68" name="inference-notes"/>
          <p:cNvGrpSpPr/>
          <p:nvPr/>
        </p:nvGrpSpPr>
        <p:grpSpPr>
          <a:xfrm>
            <a:off x="601980" y="4347210"/>
            <a:ext cx="10499027" cy="1499235"/>
            <a:chOff x="601980" y="4347210"/>
            <a:chExt cx="10499027" cy="1499235"/>
          </a:xfrm>
        </p:grpSpPr>
        <p:sp>
          <p:nvSpPr>
            <p:cNvPr id="58" name="TextBox 58"/>
            <p:cNvSpPr txBox="1"/>
            <p:nvPr/>
          </p:nvSpPr>
          <p:spPr>
            <a:xfrm>
              <a:off x="603504" y="4347210"/>
              <a:ext cx="170779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为什么历史 K/V 不重算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01980" y="4657725"/>
              <a:ext cx="30563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K/V 只由自己的内容和位置决定，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01980" y="49434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内容没变就不必重算。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413504" y="4347210"/>
              <a:ext cx="16611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缓存的「正本」是 4 头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4411980" y="4657725"/>
              <a:ext cx="274129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cat 发生在 repeat_kv 之前，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4411980" y="4943475"/>
              <a:ext cx="24932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GQA 的显存收益由此兑现。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223504" y="43472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显存账单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221980" y="4657725"/>
              <a:ext cx="22141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 token 每层 1536 B；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221980" y="4943475"/>
              <a:ext cx="287902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生成 1024 token 约 12.6 MB。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01980" y="5553075"/>
              <a:ext cx="855119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Prefill 受 compute 限制（GPU 打满），Decode 受 memory bandwidth 限制（每步读缓存）。</a:t>
              </a:r>
            </a:p>
          </p:txBody>
        </p:sp>
      </p:grpSp>
      <p:grpSp>
        <p:nvGrpSpPr>
          <p:cNvPr id="71" name="footer"/>
          <p:cNvGrpSpPr/>
          <p:nvPr/>
        </p:nvGrpSpPr>
        <p:grpSpPr>
          <a:xfrm>
            <a:off x="603504" y="6309360"/>
            <a:ext cx="10984992" cy="234696"/>
            <a:chOff x="603504" y="6309360"/>
            <a:chExt cx="10984992" cy="234696"/>
          </a:xfrm>
        </p:grpSpPr>
        <p:sp>
          <p:nvSpPr>
            <p:cNvPr id="69" name="TextBox 69"/>
            <p:cNvSpPr txBox="1"/>
            <p:nvPr/>
          </p:nvSpPr>
          <p:spPr>
            <a:xfrm>
              <a:off x="603504" y="6309360"/>
              <a:ext cx="78713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采样只取最后一个位置的 logits：/temperature → top-k → top-p → softmax → multinomial（267–278 行）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1035132" y="63093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12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5884" y="699135"/>
            <a:ext cx="10993374" cy="529590"/>
            <a:chOff x="595884" y="699135"/>
            <a:chExt cx="10993374" cy="529590"/>
          </a:xfrm>
        </p:grpSpPr>
        <p:sp>
          <p:nvSpPr>
            <p:cNvPr id="2" name="TextBox 2"/>
            <p:cNvSpPr txBox="1"/>
            <p:nvPr/>
          </p:nvSpPr>
          <p:spPr>
            <a:xfrm>
              <a:off x="595884" y="699135"/>
              <a:ext cx="344772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左 padding 与双掩码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6623209" y="844868"/>
              <a:ext cx="49660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accent6"/>
                  </a:solidFill>
                  <a:latin typeface="Consolas"/>
                  <a:ea typeface="Microsoft YaHei"/>
                  <a:cs typeface="Consolas"/>
                </a:rPr>
                <a:t>model_minimind.py · 125 路径判断 / 128–131 手写路径</a:t>
              </a:r>
            </a:p>
          </p:txBody>
        </p:sp>
        <p:sp>
          <p:nvSpPr>
            <p:cNvPr id="4" name="Line 4"/>
            <p:cNvSpPr/>
            <p:nvPr/>
          </p:nvSpPr>
          <p:spPr>
            <a:xfrm>
              <a:off x="609600" y="121920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</p:grpSp>
      <p:grpSp>
        <p:nvGrpSpPr>
          <p:cNvPr id="72" name="batch-input"/>
          <p:cNvGrpSpPr/>
          <p:nvPr/>
        </p:nvGrpSpPr>
        <p:grpSpPr>
          <a:xfrm>
            <a:off x="601980" y="1623060"/>
            <a:ext cx="5503545" cy="2318385"/>
            <a:chOff x="601980" y="1623060"/>
            <a:chExt cx="5503545" cy="2318385"/>
          </a:xfrm>
        </p:grpSpPr>
        <p:sp>
          <p:nvSpPr>
            <p:cNvPr id="6" name="TextBox 6"/>
            <p:cNvSpPr txBox="1"/>
            <p:nvPr/>
          </p:nvSpPr>
          <p:spPr>
            <a:xfrm>
              <a:off x="1759229" y="16230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330729" y="16230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902229" y="16230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473729" y="16230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045229" y="16230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616729" y="16230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188229" y="16230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759729" y="16230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524000" y="1809750"/>
              <a:ext cx="2857500" cy="381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381500" y="1809750"/>
              <a:ext cx="1714500" cy="381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670380" y="192786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pad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241880" y="192786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pad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813380" y="192786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pad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384880" y="192786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pad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956380" y="1927860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pad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503268" y="1927860"/>
              <a:ext cx="327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BOS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151882" y="192786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你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723382" y="192786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好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524000" y="2228850"/>
              <a:ext cx="4572000" cy="381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645768" y="2346960"/>
              <a:ext cx="3279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BOS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294382" y="234696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今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865882" y="234696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天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437382" y="234696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天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008882" y="234696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气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80382" y="234696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怎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151882" y="234696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么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723382" y="2346960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样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1524000" y="2724150"/>
              <a:ext cx="2857500" cy="381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381500" y="2724150"/>
              <a:ext cx="1714500" cy="381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759229" y="28422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330729" y="28422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902229" y="28422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473729" y="28422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045229" y="28422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616729" y="28422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188229" y="28422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759729" y="28422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524000" y="3143250"/>
              <a:ext cx="4572000" cy="3810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759229" y="32613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330729" y="32613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2902229" y="32613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473729" y="32613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4045229" y="32613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616729" y="32613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188229" y="32613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759729" y="32613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1524000" y="180975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1524000" y="219075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54" name="Line 54"/>
            <p:cNvSpPr/>
            <p:nvPr/>
          </p:nvSpPr>
          <p:spPr>
            <a:xfrm>
              <a:off x="1524000" y="260985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55" name="Line 55"/>
            <p:cNvSpPr/>
            <p:nvPr/>
          </p:nvSpPr>
          <p:spPr>
            <a:xfrm>
              <a:off x="1524000" y="272415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56" name="Line 56"/>
            <p:cNvSpPr/>
            <p:nvPr/>
          </p:nvSpPr>
          <p:spPr>
            <a:xfrm>
              <a:off x="1524000" y="310515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57" name="Line 57"/>
            <p:cNvSpPr/>
            <p:nvPr/>
          </p:nvSpPr>
          <p:spPr>
            <a:xfrm>
              <a:off x="1524000" y="314325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58" name="Line 58"/>
            <p:cNvSpPr/>
            <p:nvPr/>
          </p:nvSpPr>
          <p:spPr>
            <a:xfrm>
              <a:off x="1524000" y="3524250"/>
              <a:ext cx="4572000" cy="9525"/>
            </a:xfrm>
            <a:custGeom>
              <a:avLst/>
              <a:gdLst/>
              <a:ahLst/>
              <a:cxnLst/>
              <a:rect l="l" t="t" r="r" b="b"/>
              <a:pathLst>
                <a:path w="4572000" h="9525">
                  <a:moveTo>
                    <a:pt x="0" y="0"/>
                  </a:moveTo>
                  <a:lnTo>
                    <a:pt x="45720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59" name="Line 59"/>
            <p:cNvSpPr/>
            <p:nvPr/>
          </p:nvSpPr>
          <p:spPr>
            <a:xfrm>
              <a:off x="2095500" y="1809750"/>
              <a:ext cx="9525" cy="1714500"/>
            </a:xfrm>
            <a:custGeom>
              <a:avLst/>
              <a:gdLst/>
              <a:ahLst/>
              <a:cxnLst/>
              <a:rect l="l" t="t" r="r" b="b"/>
              <a:pathLst>
                <a:path w="9525" h="1714500">
                  <a:moveTo>
                    <a:pt x="0" y="0"/>
                  </a:moveTo>
                  <a:lnTo>
                    <a:pt x="0" y="171450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60" name="Line 60"/>
            <p:cNvSpPr/>
            <p:nvPr/>
          </p:nvSpPr>
          <p:spPr>
            <a:xfrm>
              <a:off x="2667000" y="1809750"/>
              <a:ext cx="9525" cy="1714500"/>
            </a:xfrm>
            <a:custGeom>
              <a:avLst/>
              <a:gdLst/>
              <a:ahLst/>
              <a:cxnLst/>
              <a:rect l="l" t="t" r="r" b="b"/>
              <a:pathLst>
                <a:path w="9525" h="1714500">
                  <a:moveTo>
                    <a:pt x="0" y="0"/>
                  </a:moveTo>
                  <a:lnTo>
                    <a:pt x="0" y="171450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61" name="Line 61"/>
            <p:cNvSpPr/>
            <p:nvPr/>
          </p:nvSpPr>
          <p:spPr>
            <a:xfrm>
              <a:off x="3238500" y="1809750"/>
              <a:ext cx="9525" cy="1714500"/>
            </a:xfrm>
            <a:custGeom>
              <a:avLst/>
              <a:gdLst/>
              <a:ahLst/>
              <a:cxnLst/>
              <a:rect l="l" t="t" r="r" b="b"/>
              <a:pathLst>
                <a:path w="9525" h="1714500">
                  <a:moveTo>
                    <a:pt x="0" y="0"/>
                  </a:moveTo>
                  <a:lnTo>
                    <a:pt x="0" y="171450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62" name="Line 62"/>
            <p:cNvSpPr/>
            <p:nvPr/>
          </p:nvSpPr>
          <p:spPr>
            <a:xfrm>
              <a:off x="3810000" y="1809750"/>
              <a:ext cx="9525" cy="1714500"/>
            </a:xfrm>
            <a:custGeom>
              <a:avLst/>
              <a:gdLst/>
              <a:ahLst/>
              <a:cxnLst/>
              <a:rect l="l" t="t" r="r" b="b"/>
              <a:pathLst>
                <a:path w="9525" h="1714500">
                  <a:moveTo>
                    <a:pt x="0" y="0"/>
                  </a:moveTo>
                  <a:lnTo>
                    <a:pt x="0" y="171450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63" name="Line 63"/>
            <p:cNvSpPr/>
            <p:nvPr/>
          </p:nvSpPr>
          <p:spPr>
            <a:xfrm>
              <a:off x="4381500" y="1809750"/>
              <a:ext cx="9525" cy="1714500"/>
            </a:xfrm>
            <a:custGeom>
              <a:avLst/>
              <a:gdLst/>
              <a:ahLst/>
              <a:cxnLst/>
              <a:rect l="l" t="t" r="r" b="b"/>
              <a:pathLst>
                <a:path w="9525" h="1714500">
                  <a:moveTo>
                    <a:pt x="0" y="0"/>
                  </a:moveTo>
                  <a:lnTo>
                    <a:pt x="0" y="171450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64" name="Line 64"/>
            <p:cNvSpPr/>
            <p:nvPr/>
          </p:nvSpPr>
          <p:spPr>
            <a:xfrm>
              <a:off x="4953000" y="1809750"/>
              <a:ext cx="9525" cy="1714500"/>
            </a:xfrm>
            <a:custGeom>
              <a:avLst/>
              <a:gdLst/>
              <a:ahLst/>
              <a:cxnLst/>
              <a:rect l="l" t="t" r="r" b="b"/>
              <a:pathLst>
                <a:path w="9525" h="1714500">
                  <a:moveTo>
                    <a:pt x="0" y="0"/>
                  </a:moveTo>
                  <a:lnTo>
                    <a:pt x="0" y="171450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65" name="Line 65"/>
            <p:cNvSpPr/>
            <p:nvPr/>
          </p:nvSpPr>
          <p:spPr>
            <a:xfrm>
              <a:off x="5524500" y="1809750"/>
              <a:ext cx="9525" cy="1714500"/>
            </a:xfrm>
            <a:custGeom>
              <a:avLst/>
              <a:gdLst/>
              <a:ahLst/>
              <a:cxnLst/>
              <a:rect l="l" t="t" r="r" b="b"/>
              <a:pathLst>
                <a:path w="9525" h="1714500">
                  <a:moveTo>
                    <a:pt x="0" y="0"/>
                  </a:moveTo>
                  <a:lnTo>
                    <a:pt x="0" y="171450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66" name="Line 66"/>
            <p:cNvSpPr/>
            <p:nvPr/>
          </p:nvSpPr>
          <p:spPr>
            <a:xfrm>
              <a:off x="6096000" y="1809750"/>
              <a:ext cx="9525" cy="1714500"/>
            </a:xfrm>
            <a:custGeom>
              <a:avLst/>
              <a:gdLst/>
              <a:ahLst/>
              <a:cxnLst/>
              <a:rect l="l" t="t" r="r" b="b"/>
              <a:pathLst>
                <a:path w="9525" h="1714500">
                  <a:moveTo>
                    <a:pt x="0" y="0"/>
                  </a:moveTo>
                  <a:lnTo>
                    <a:pt x="0" y="171450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03504" y="1927860"/>
              <a:ext cx="4876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请求 A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03504" y="2346960"/>
              <a:ext cx="4876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请求 B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603504" y="2842260"/>
              <a:ext cx="7549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A 的 mask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603504" y="3261360"/>
              <a:ext cx="7549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B 的 mask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01980" y="3648075"/>
              <a:ext cx="35288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左 pad 让最后位置永远是真实 token——</a:t>
              </a:r>
            </a:p>
          </p:txBody>
        </p:sp>
      </p:grpSp>
      <p:grpSp>
        <p:nvGrpSpPr>
          <p:cNvPr id="115" name="mask-view"/>
          <p:cNvGrpSpPr/>
          <p:nvPr/>
        </p:nvGrpSpPr>
        <p:grpSpPr>
          <a:xfrm>
            <a:off x="6667500" y="1809750"/>
            <a:ext cx="4122268" cy="2295906"/>
            <a:chOff x="6667500" y="1809750"/>
            <a:chExt cx="4122268" cy="2295906"/>
          </a:xfrm>
        </p:grpSpPr>
        <p:sp>
          <p:nvSpPr>
            <p:cNvPr id="73" name="Rectangle 73"/>
            <p:cNvSpPr/>
            <p:nvPr/>
          </p:nvSpPr>
          <p:spPr>
            <a:xfrm>
              <a:off x="6667500" y="1809750"/>
              <a:ext cx="2286000" cy="22860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DDE4EA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6667500" y="1809750"/>
              <a:ext cx="285750" cy="285750"/>
            </a:xfrm>
            <a:prstGeom prst="rect">
              <a:avLst/>
            </a:prstGeom>
            <a:solidFill>
              <a:schemeClr val="accent2">
                <a:alpha val="12000"/>
              </a:schemeClr>
            </a:solidFill>
            <a:ln>
              <a:noFill/>
            </a:ln>
          </p:spPr>
        </p:sp>
        <p:sp>
          <p:nvSpPr>
            <p:cNvPr id="75" name="Rectangle 75"/>
            <p:cNvSpPr/>
            <p:nvPr/>
          </p:nvSpPr>
          <p:spPr>
            <a:xfrm>
              <a:off x="6953250" y="1809750"/>
              <a:ext cx="2000250" cy="2857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6" name="Rectangle 76"/>
            <p:cNvSpPr/>
            <p:nvPr/>
          </p:nvSpPr>
          <p:spPr>
            <a:xfrm>
              <a:off x="6667500" y="2095500"/>
              <a:ext cx="571500" cy="285750"/>
            </a:xfrm>
            <a:prstGeom prst="rect">
              <a:avLst/>
            </a:prstGeom>
            <a:solidFill>
              <a:schemeClr val="accent2">
                <a:alpha val="12000"/>
              </a:schemeClr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7239000" y="2095500"/>
              <a:ext cx="1714500" cy="2857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78" name="Rectangle 78"/>
            <p:cNvSpPr/>
            <p:nvPr/>
          </p:nvSpPr>
          <p:spPr>
            <a:xfrm>
              <a:off x="6667500" y="2381250"/>
              <a:ext cx="857250" cy="285750"/>
            </a:xfrm>
            <a:prstGeom prst="rect">
              <a:avLst/>
            </a:prstGeom>
            <a:solidFill>
              <a:schemeClr val="accent2">
                <a:alpha val="12000"/>
              </a:schemeClr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7524750" y="2381250"/>
              <a:ext cx="1428750" cy="2857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80" name="Rectangle 80"/>
            <p:cNvSpPr/>
            <p:nvPr/>
          </p:nvSpPr>
          <p:spPr>
            <a:xfrm>
              <a:off x="6667500" y="2667000"/>
              <a:ext cx="1143000" cy="285750"/>
            </a:xfrm>
            <a:prstGeom prst="rect">
              <a:avLst/>
            </a:prstGeom>
            <a:solidFill>
              <a:schemeClr val="accent2">
                <a:alpha val="12000"/>
              </a:schemeClr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7810500" y="2667000"/>
              <a:ext cx="1143000" cy="2857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82" name="Rectangle 82"/>
            <p:cNvSpPr/>
            <p:nvPr/>
          </p:nvSpPr>
          <p:spPr>
            <a:xfrm>
              <a:off x="6667500" y="2952750"/>
              <a:ext cx="1428750" cy="285750"/>
            </a:xfrm>
            <a:prstGeom prst="rect">
              <a:avLst/>
            </a:prstGeom>
            <a:solidFill>
              <a:schemeClr val="accent2">
                <a:alpha val="12000"/>
              </a:schemeClr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8096250" y="2952750"/>
              <a:ext cx="857250" cy="2857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84" name="Rectangle 84"/>
            <p:cNvSpPr/>
            <p:nvPr/>
          </p:nvSpPr>
          <p:spPr>
            <a:xfrm>
              <a:off x="6667500" y="3238500"/>
              <a:ext cx="1428750" cy="285750"/>
            </a:xfrm>
            <a:prstGeom prst="rect">
              <a:avLst/>
            </a:prstGeom>
            <a:solidFill>
              <a:schemeClr val="accent2">
                <a:alpha val="12000"/>
              </a:schemeClr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8096250" y="3238500"/>
              <a:ext cx="285750" cy="285750"/>
            </a:xfrm>
            <a:prstGeom prst="rect">
              <a:avLst/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8382000" y="3238500"/>
              <a:ext cx="571500" cy="2857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6667500" y="3524250"/>
              <a:ext cx="1428750" cy="285750"/>
            </a:xfrm>
            <a:prstGeom prst="rect">
              <a:avLst/>
            </a:prstGeom>
            <a:solidFill>
              <a:schemeClr val="accent2">
                <a:alpha val="12000"/>
              </a:schemeClr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8096250" y="3524250"/>
              <a:ext cx="571500" cy="285750"/>
            </a:xfrm>
            <a:prstGeom prst="rect">
              <a:avLst/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</p:sp>
        <p:sp>
          <p:nvSpPr>
            <p:cNvPr id="89" name="Rectangle 89"/>
            <p:cNvSpPr/>
            <p:nvPr/>
          </p:nvSpPr>
          <p:spPr>
            <a:xfrm>
              <a:off x="8667750" y="3524250"/>
              <a:ext cx="285750" cy="2857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90" name="Rectangle 90"/>
            <p:cNvSpPr/>
            <p:nvPr/>
          </p:nvSpPr>
          <p:spPr>
            <a:xfrm>
              <a:off x="6667500" y="3810000"/>
              <a:ext cx="1428750" cy="285750"/>
            </a:xfrm>
            <a:prstGeom prst="rect">
              <a:avLst/>
            </a:prstGeom>
            <a:solidFill>
              <a:schemeClr val="accent2">
                <a:alpha val="12000"/>
              </a:schemeClr>
            </a:solidFill>
            <a:ln>
              <a:noFill/>
            </a:ln>
          </p:spPr>
        </p:sp>
        <p:sp>
          <p:nvSpPr>
            <p:cNvPr id="91" name="Rectangle 91"/>
            <p:cNvSpPr/>
            <p:nvPr/>
          </p:nvSpPr>
          <p:spPr>
            <a:xfrm>
              <a:off x="8096250" y="3810000"/>
              <a:ext cx="857250" cy="285750"/>
            </a:xfrm>
            <a:prstGeom prst="rect">
              <a:avLst/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</p:sp>
        <p:sp>
          <p:nvSpPr>
            <p:cNvPr id="92" name="Line 92"/>
            <p:cNvSpPr/>
            <p:nvPr/>
          </p:nvSpPr>
          <p:spPr>
            <a:xfrm>
              <a:off x="6667500" y="20955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93" name="Line 93"/>
            <p:cNvSpPr/>
            <p:nvPr/>
          </p:nvSpPr>
          <p:spPr>
            <a:xfrm>
              <a:off x="6667500" y="23812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94" name="Line 94"/>
            <p:cNvSpPr/>
            <p:nvPr/>
          </p:nvSpPr>
          <p:spPr>
            <a:xfrm>
              <a:off x="6667500" y="26670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95" name="Line 95"/>
            <p:cNvSpPr/>
            <p:nvPr/>
          </p:nvSpPr>
          <p:spPr>
            <a:xfrm>
              <a:off x="6667500" y="29527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96" name="Line 96"/>
            <p:cNvSpPr/>
            <p:nvPr/>
          </p:nvSpPr>
          <p:spPr>
            <a:xfrm>
              <a:off x="6667500" y="32385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97" name="Line 97"/>
            <p:cNvSpPr/>
            <p:nvPr/>
          </p:nvSpPr>
          <p:spPr>
            <a:xfrm>
              <a:off x="6667500" y="352425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98" name="Line 98"/>
            <p:cNvSpPr/>
            <p:nvPr/>
          </p:nvSpPr>
          <p:spPr>
            <a:xfrm>
              <a:off x="6667500" y="3810000"/>
              <a:ext cx="2286000" cy="9525"/>
            </a:xfrm>
            <a:custGeom>
              <a:avLst/>
              <a:gdLst/>
              <a:ahLst/>
              <a:cxnLst/>
              <a:rect l="l" t="t" r="r" b="b"/>
              <a:pathLst>
                <a:path w="2286000" h="9525">
                  <a:moveTo>
                    <a:pt x="0" y="0"/>
                  </a:moveTo>
                  <a:lnTo>
                    <a:pt x="22860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99" name="Line 99"/>
            <p:cNvSpPr/>
            <p:nvPr/>
          </p:nvSpPr>
          <p:spPr>
            <a:xfrm>
              <a:off x="6953250" y="180975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00" name="Line 100"/>
            <p:cNvSpPr/>
            <p:nvPr/>
          </p:nvSpPr>
          <p:spPr>
            <a:xfrm>
              <a:off x="7239000" y="180975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01" name="Line 101"/>
            <p:cNvSpPr/>
            <p:nvPr/>
          </p:nvSpPr>
          <p:spPr>
            <a:xfrm>
              <a:off x="7524750" y="180975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02" name="Line 102"/>
            <p:cNvSpPr/>
            <p:nvPr/>
          </p:nvSpPr>
          <p:spPr>
            <a:xfrm>
              <a:off x="7810500" y="180975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03" name="Line 103"/>
            <p:cNvSpPr/>
            <p:nvPr/>
          </p:nvSpPr>
          <p:spPr>
            <a:xfrm>
              <a:off x="8096250" y="180975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04" name="Line 104"/>
            <p:cNvSpPr/>
            <p:nvPr/>
          </p:nvSpPr>
          <p:spPr>
            <a:xfrm>
              <a:off x="8382000" y="180975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05" name="Line 105"/>
            <p:cNvSpPr/>
            <p:nvPr/>
          </p:nvSpPr>
          <p:spPr>
            <a:xfrm>
              <a:off x="8667750" y="1809750"/>
              <a:ext cx="9525" cy="2286000"/>
            </a:xfrm>
            <a:custGeom>
              <a:avLst/>
              <a:gdLst/>
              <a:ahLst/>
              <a:cxnLst/>
              <a:rect l="l" t="t" r="r" b="b"/>
              <a:pathLst>
                <a:path w="9525" h="2286000">
                  <a:moveTo>
                    <a:pt x="0" y="0"/>
                  </a:moveTo>
                  <a:lnTo>
                    <a:pt x="0" y="228600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06" name="Rectangle 106"/>
            <p:cNvSpPr/>
            <p:nvPr/>
          </p:nvSpPr>
          <p:spPr>
            <a:xfrm>
              <a:off x="9144000" y="2019300"/>
              <a:ext cx="133350" cy="133350"/>
            </a:xfrm>
            <a:prstGeom prst="rect">
              <a:avLst/>
            </a:prstGeom>
            <a:solidFill>
              <a:schemeClr val="accent2">
                <a:alpha val="12000"/>
              </a:schemeClr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9366504" y="202311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pad 列 → -1e9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9144000" y="2324100"/>
              <a:ext cx="133350" cy="1333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9366504" y="2327910"/>
              <a:ext cx="8360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未来 → -inf</a:t>
              </a:r>
            </a:p>
          </p:txBody>
        </p:sp>
        <p:sp>
          <p:nvSpPr>
            <p:cNvPr id="110" name="Rectangle 110"/>
            <p:cNvSpPr/>
            <p:nvPr/>
          </p:nvSpPr>
          <p:spPr>
            <a:xfrm>
              <a:off x="9144000" y="2628900"/>
              <a:ext cx="133350" cy="133350"/>
            </a:xfrm>
            <a:prstGeom prst="rect">
              <a:avLst/>
            </a:prstGeom>
            <a:solidFill>
              <a:schemeClr val="accent1">
                <a:alpha val="12000"/>
              </a:schemeClr>
            </a:solidFill>
            <a:ln>
              <a:noFill/>
            </a:ln>
          </p:spPr>
        </p:sp>
        <p:sp>
          <p:nvSpPr>
            <p:cNvPr id="111" name="TextBox 111"/>
            <p:cNvSpPr txBox="1"/>
            <p:nvPr/>
          </p:nvSpPr>
          <p:spPr>
            <a:xfrm>
              <a:off x="9366504" y="2632710"/>
              <a:ext cx="1328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可看见 → 正常打分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9137904" y="30327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重叠处：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9137904" y="3280410"/>
              <a:ext cx="1369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-inf + -1e9 = -inf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9137904" y="3870960"/>
              <a:ext cx="16518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行 = 查询 i，列 = key j</a:t>
              </a:r>
            </a:p>
          </p:txBody>
        </p:sp>
      </p:grpSp>
      <p:grpSp>
        <p:nvGrpSpPr>
          <p:cNvPr id="135" name="pad-mask-compare"/>
          <p:cNvGrpSpPr/>
          <p:nvPr/>
        </p:nvGrpSpPr>
        <p:grpSpPr>
          <a:xfrm>
            <a:off x="609600" y="4438650"/>
            <a:ext cx="6096000" cy="1388745"/>
            <a:chOff x="609600" y="4438650"/>
            <a:chExt cx="6096000" cy="1388745"/>
          </a:xfrm>
        </p:grpSpPr>
        <p:sp>
          <p:nvSpPr>
            <p:cNvPr id="116" name="Rectangle 116"/>
            <p:cNvSpPr/>
            <p:nvPr/>
          </p:nvSpPr>
          <p:spPr>
            <a:xfrm>
              <a:off x="609600" y="4438650"/>
              <a:ext cx="6096000" cy="1371600"/>
            </a:xfrm>
            <a:prstGeom prst="rect">
              <a:avLst/>
            </a:prstGeom>
            <a:noFill/>
            <a:ln w="9525">
              <a:solidFill>
                <a:srgbClr val="DDE4EA"/>
              </a:solidFill>
            </a:ln>
          </p:spPr>
        </p:sp>
        <p:sp>
          <p:nvSpPr>
            <p:cNvPr id="117" name="Rectangle 117"/>
            <p:cNvSpPr/>
            <p:nvPr/>
          </p:nvSpPr>
          <p:spPr>
            <a:xfrm>
              <a:off x="609600" y="4438650"/>
              <a:ext cx="6096000" cy="3429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18" name="Line 118"/>
            <p:cNvSpPr/>
            <p:nvPr/>
          </p:nvSpPr>
          <p:spPr>
            <a:xfrm>
              <a:off x="609600" y="4781550"/>
              <a:ext cx="6096000" cy="9525"/>
            </a:xfrm>
            <a:custGeom>
              <a:avLst/>
              <a:gdLst/>
              <a:ahLst/>
              <a:cxnLst/>
              <a:rect l="l" t="t" r="r" b="b"/>
              <a:pathLst>
                <a:path w="6096000" h="9525">
                  <a:moveTo>
                    <a:pt x="0" y="0"/>
                  </a:moveTo>
                  <a:lnTo>
                    <a:pt x="60960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19" name="Line 119"/>
            <p:cNvSpPr/>
            <p:nvPr/>
          </p:nvSpPr>
          <p:spPr>
            <a:xfrm>
              <a:off x="609600" y="5124450"/>
              <a:ext cx="6096000" cy="9525"/>
            </a:xfrm>
            <a:custGeom>
              <a:avLst/>
              <a:gdLst/>
              <a:ahLst/>
              <a:cxnLst/>
              <a:rect l="l" t="t" r="r" b="b"/>
              <a:pathLst>
                <a:path w="6096000" h="9525">
                  <a:moveTo>
                    <a:pt x="0" y="0"/>
                  </a:moveTo>
                  <a:lnTo>
                    <a:pt x="60960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20" name="Line 120"/>
            <p:cNvSpPr/>
            <p:nvPr/>
          </p:nvSpPr>
          <p:spPr>
            <a:xfrm>
              <a:off x="609600" y="5467350"/>
              <a:ext cx="6096000" cy="9525"/>
            </a:xfrm>
            <a:custGeom>
              <a:avLst/>
              <a:gdLst/>
              <a:ahLst/>
              <a:cxnLst/>
              <a:rect l="l" t="t" r="r" b="b"/>
              <a:pathLst>
                <a:path w="6096000" h="9525">
                  <a:moveTo>
                    <a:pt x="0" y="0"/>
                  </a:moveTo>
                  <a:lnTo>
                    <a:pt x="6096000" y="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21" name="Line 121"/>
            <p:cNvSpPr/>
            <p:nvPr/>
          </p:nvSpPr>
          <p:spPr>
            <a:xfrm>
              <a:off x="2038350" y="4438650"/>
              <a:ext cx="9525" cy="1371600"/>
            </a:xfrm>
            <a:custGeom>
              <a:avLst/>
              <a:gdLst/>
              <a:ahLst/>
              <a:cxnLst/>
              <a:rect l="l" t="t" r="r" b="b"/>
              <a:pathLst>
                <a:path w="9525" h="1371600">
                  <a:moveTo>
                    <a:pt x="0" y="0"/>
                  </a:moveTo>
                  <a:lnTo>
                    <a:pt x="0" y="137160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22" name="Line 122"/>
            <p:cNvSpPr/>
            <p:nvPr/>
          </p:nvSpPr>
          <p:spPr>
            <a:xfrm>
              <a:off x="4276725" y="4438650"/>
              <a:ext cx="9525" cy="1371600"/>
            </a:xfrm>
            <a:custGeom>
              <a:avLst/>
              <a:gdLst/>
              <a:ahLst/>
              <a:cxnLst/>
              <a:rect l="l" t="t" r="r" b="b"/>
              <a:pathLst>
                <a:path w="9525" h="1371600">
                  <a:moveTo>
                    <a:pt x="0" y="0"/>
                  </a:moveTo>
                  <a:lnTo>
                    <a:pt x="0" y="1371600"/>
                  </a:lnTo>
                </a:path>
              </a:pathLst>
            </a:custGeom>
            <a:noFill/>
            <a:ln w="9525">
              <a:solidFill>
                <a:srgbClr val="DDE4EA"/>
              </a:solidFill>
            </a:ln>
          </p:spPr>
        </p:sp>
        <p:sp>
          <p:nvSpPr>
            <p:cNvPr id="123" name="TextBox 123"/>
            <p:cNvSpPr txBox="1"/>
            <p:nvPr/>
          </p:nvSpPr>
          <p:spPr>
            <a:xfrm>
              <a:off x="735330" y="45053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维度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2164080" y="4505325"/>
              <a:ext cx="14383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训练（右 pad）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4402455" y="4505325"/>
              <a:ext cx="143834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推理（左 pad）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735330" y="4848225"/>
              <a:ext cx="812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pad 位置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2164080" y="4848225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真实 token 之后</a:t>
              </a:r>
            </a:p>
          </p:txBody>
        </p:sp>
        <p:sp>
          <p:nvSpPr>
            <p:cNvPr id="128" name="TextBox 128"/>
            <p:cNvSpPr txBox="1"/>
            <p:nvPr/>
          </p:nvSpPr>
          <p:spPr>
            <a:xfrm>
              <a:off x="4402455" y="4848225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真实 token 之前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735330" y="5191125"/>
              <a:ext cx="106527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pad 的 loss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2164080" y="5191125"/>
              <a:ext cx="16003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labels=-100 屏蔽</a:t>
              </a:r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4402455" y="5191125"/>
              <a:ext cx="67151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无 loss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735330" y="55340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会被污染吗</a:t>
              </a:r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2164080" y="5534025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不会（因果性挡住）</a:t>
              </a:r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4402455" y="5534025"/>
              <a:ext cx="163926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会 → 必须配 mask</a:t>
              </a:r>
            </a:p>
          </p:txBody>
        </p:sp>
      </p:grpSp>
      <p:grpSp>
        <p:nvGrpSpPr>
          <p:cNvPr id="141" name="padding-notes"/>
          <p:cNvGrpSpPr/>
          <p:nvPr/>
        </p:nvGrpSpPr>
        <p:grpSpPr>
          <a:xfrm>
            <a:off x="6812280" y="4505325"/>
            <a:ext cx="4346638" cy="1493520"/>
            <a:chOff x="6812280" y="4505325"/>
            <a:chExt cx="4346638" cy="1493520"/>
          </a:xfrm>
        </p:grpSpPr>
        <p:sp>
          <p:nvSpPr>
            <p:cNvPr id="136" name="TextBox 136"/>
            <p:cNvSpPr txBox="1"/>
            <p:nvPr/>
          </p:nvSpPr>
          <p:spPr>
            <a:xfrm>
              <a:off x="6812280" y="4505325"/>
              <a:ext cx="43466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130 行四步：(2,8) → unsqueeze(1) → (2,1,8)</a:t>
              </a:r>
            </a:p>
          </p:txBody>
        </p:sp>
        <p:sp>
          <p:nvSpPr>
            <p:cNvPr id="137" name="TextBox 137"/>
            <p:cNvSpPr txBox="1"/>
            <p:nvPr/>
          </p:nvSpPr>
          <p:spPr>
            <a:xfrm>
              <a:off x="6812280" y="4791075"/>
              <a:ext cx="420528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→ unsqueeze(2) (2,1,1,8) → ×-1e9 → 广播。</a:t>
              </a:r>
            </a:p>
          </p:txBody>
        </p:sp>
        <p:sp>
          <p:nvSpPr>
            <p:cNvPr id="138" name="TextBox 138"/>
            <p:cNvSpPr txBox="1"/>
            <p:nvPr/>
          </p:nvSpPr>
          <p:spPr>
            <a:xfrm>
              <a:off x="6812280" y="507682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-inf 挡未来，-1e9 挡凑数；重叠处仍是 -inf。</a:t>
              </a:r>
            </a:p>
          </p:txBody>
        </p:sp>
        <p:sp>
          <p:nvSpPr>
            <p:cNvPr id="139" name="TextBox 139"/>
            <p:cNvSpPr txBox="1"/>
            <p:nvPr/>
          </p:nvSpPr>
          <p:spPr>
            <a:xfrm>
              <a:off x="6812280" y="5362575"/>
              <a:ext cx="42470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左 pad 忘传 mask → 走 SDPA → 质量悄悄劣化。</a:t>
              </a:r>
            </a:p>
          </p:txBody>
        </p:sp>
        <p:sp>
          <p:nvSpPr>
            <p:cNvPr id="140" name="TextBox 140"/>
            <p:cNvSpPr txBox="1"/>
            <p:nvPr/>
          </p:nvSpPr>
          <p:spPr>
            <a:xfrm>
              <a:off x="6812280" y="5705475"/>
              <a:ext cx="3319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关键机制在这 287 行里一个都不少。</a:t>
              </a:r>
            </a:p>
          </p:txBody>
        </p:sp>
      </p:grpSp>
      <p:grpSp>
        <p:nvGrpSpPr>
          <p:cNvPr id="144" name="footer"/>
          <p:cNvGrpSpPr/>
          <p:nvPr/>
        </p:nvGrpSpPr>
        <p:grpSpPr>
          <a:xfrm>
            <a:off x="603504" y="6309360"/>
            <a:ext cx="10984992" cy="234696"/>
            <a:chOff x="603504" y="6309360"/>
            <a:chExt cx="10984992" cy="234696"/>
          </a:xfrm>
        </p:grpSpPr>
        <p:sp>
          <p:nvSpPr>
            <p:cNvPr id="142" name="TextBox 142"/>
            <p:cNvSpPr txBox="1"/>
            <p:nvPr/>
          </p:nvSpPr>
          <p:spPr>
            <a:xfrm>
              <a:off x="603504" y="6309360"/>
              <a:ext cx="96972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training 用右 pad、推理用左 pad；finished 机制让短请求填 EOS 陪跑（279 行），vLLM 的 continuous batching 正是为解决它而生</a:t>
              </a:r>
            </a:p>
          </p:txBody>
        </p:sp>
        <p:sp>
          <p:nvSpPr>
            <p:cNvPr id="143" name="TextBox 143"/>
            <p:cNvSpPr txBox="1"/>
            <p:nvPr/>
          </p:nvSpPr>
          <p:spPr>
            <a:xfrm>
              <a:off x="11035132" y="630936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13 / 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minimind-structure">
  <a:themeElements>
    <a:clrScheme name="minimind-structure">
      <a:dk1>
        <a:srgbClr val="1F2933"/>
      </a:dk1>
      <a:lt1>
        <a:srgbClr val="FFFFFF"/>
      </a:lt1>
      <a:dk2>
        <a:srgbClr val="1F497D"/>
      </a:dk2>
      <a:lt2>
        <a:srgbClr val="F2F5F7"/>
      </a:lt2>
      <a:accent1>
        <a:srgbClr val="14375E"/>
      </a:accent1>
      <a:accent2>
        <a:srgbClr val="E8590C"/>
      </a:accent2>
      <a:accent3>
        <a:srgbClr val="2F6F9F"/>
      </a:accent3>
      <a:accent4>
        <a:srgbClr val="14375E"/>
      </a:accent4>
      <a:accent5>
        <a:srgbClr val="E9EEF2"/>
      </a:accent5>
      <a:accent6>
        <a:srgbClr val="5B6B7C"/>
      </a:accent6>
      <a:hlink>
        <a:srgbClr val="E8590C"/>
      </a:hlink>
      <a:folHlink>
        <a:srgbClr val="2F6F9F"/>
      </a:folHlink>
    </a:clrScheme>
    <a:fontScheme name="minimind-structure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inimind-structur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inimind-structure">
  <a:themeElements>
    <a:clrScheme name="minimind-structure">
      <a:dk1>
        <a:srgbClr val="1F2933"/>
      </a:dk1>
      <a:lt1>
        <a:srgbClr val="FFFFFF"/>
      </a:lt1>
      <a:dk2>
        <a:srgbClr val="1F497D"/>
      </a:dk2>
      <a:lt2>
        <a:srgbClr val="F2F5F7"/>
      </a:lt2>
      <a:accent1>
        <a:srgbClr val="14375E"/>
      </a:accent1>
      <a:accent2>
        <a:srgbClr val="E8590C"/>
      </a:accent2>
      <a:accent3>
        <a:srgbClr val="2F6F9F"/>
      </a:accent3>
      <a:accent4>
        <a:srgbClr val="14375E"/>
      </a:accent4>
      <a:accent5>
        <a:srgbClr val="E9EEF2"/>
      </a:accent5>
      <a:accent6>
        <a:srgbClr val="5B6B7C"/>
      </a:accent6>
      <a:hlink>
        <a:srgbClr val="E8590C"/>
      </a:hlink>
      <a:folHlink>
        <a:srgbClr val="2F6F9F"/>
      </a:folHlink>
    </a:clrScheme>
    <a:fontScheme name="minimind-structure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inimind-structur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2026-09-16T11:13:33Z</dcterms:created>
  <dcterms:modified xsi:type="dcterms:W3CDTF">2026-09-16T11:13:33Z</dcterms:modified>
  <cp:category/>
  <cp:contentStatus/>
</cp:coreProperties>
</file>