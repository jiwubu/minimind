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47"/>
  </p:normalViewPr>
  <p:slideViewPr>
    <p:cSldViewPr snapToGrid="0" snapToObjects="1">
      <p:cViewPr varScale="1">
        <p:scale>
          <a:sx n="149" d="100"/>
          <a:sy n="149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大家好，今天分享的主题是：怎么把一个 64M 参数的通用小模型，改造成一个数学专用模型。最终成绩是训练范围内百分之九十八点六，而且全程在一张二十四 G 的单卡上完成，所有命令开源。这个数字背后是一套三层配方的组合：表示层补丁、竖式思维链课程，和二十六档评测器。接下来二十分钟，我把这套配方一步一步拆给大家。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先回答一个问题：为什么通用模型做不好算术。答案藏在 tokenizer 里。同一个数字，一百二十三是三个字符一个 token，四百三十一被切成两个 token，一千又被切成一和零零零。也就是说，同样一个百位，在不同的数里落在完全不同的 token 位置上，模型根本无法对齐位值。主流模型要么一位一 token，要么定长分组，而原版 MiniMind 是分组但规则随机——这种状态比不分组还糟。所以配方的第一步，必须是修表示层。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这一页是全场地图。整个配方五步：第一步表示层补丁，改一个 JSON 字段，零训练成本；第二步竖式思维链格式，全部逻辑单点维护在 math_format 这一个文件里；第二步的后半段是课程采样，四十万条数据几分钟就能生成；第三步是二十六档评测器，而且它先于训练存在；第四步是训练本身。整个配方里最贵的不是训练，是把三层设计对齐。下面我们逐步展开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第一步只换切分规则，不动词表。元凶是 GPT-2 的预切分正则，它对数字没有长度上限，BPE 于是可以把数字合并成任意长度的块。修法是把 Digits 前置到 pre_tokenizer，让 BPE 只能在单个字符内合并，原来那些多位数字的合并规则全部退化为死规则。最关键的是，词表和合并表逐字节不变，token id 全部保留，旧权重照常加载——所以这一步是零成本的，但它决定了模型从此"看得见"每一个数位。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步是数据格式，核心思想一句话：格式就是监督信号，轨迹的每一行都在教模型一个可验证的子操作。屏幕上是一条真实的模型输出。注意三个设计：第一，低位优先演算，进位天然向高位传播，不等长的操作数也走同一条代码路径；第二，比较必须显式逐位进行，符号判断不许一次性猜出来；第三，先输出逆序再输出正序答案，一个是纯拼接、一个是纯拷贝，各自都是单调可学的操作。右侧五个标注就是这个格式里最重要的五个监督信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展开讲四个细节设计。第一，交换状态行：小减大时先声明"交换后计算"，让是否已交换成为一个可以被看见的 token，而不是隐式状态。第二，位数锚点：答案行写明一共几位，把反转拷贝的终止条件从猜测变成照抄。第三，倒计时状态锚：长相同链上每行回显还剩几位，防止模型在连续相同位之间走神。第四，独立的负号行：符号判断和数值计算解耦。它们的共同目标只有一个——把模型需要"猜"的量，变成需要"抄"的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数据分布是设计出来的，不是随机采样出来的。全同数字、九串、整十幂、接近负数、前导零、长零串——这些实测的失败形状，随机采样的命中率约等于零，必须显式构造分支。左边是七个分支的实测占比。右边两条原则：难例必须显式构造；设了百分之 X 就必须插桩实测命中百分之 X，因为名义占比会被模板、交换、条件概率一路稀释。好消息是四十万条数据在 CPU 上几分钟就能生成，改分布的成本是零。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步，评测器先于训练设计——它是验收合同，不是事后考卷。三个设计原则：第一，评测形状等于训练形状，二十六档直接复用训练采样器，从根上避免训练评测分布不一致这个最隐蔽的盲区；第二，除法做商和余数的双判分，余数合法性也计入对错；第三，判分口径单点维护，快速版和全量版共享同一个判分函数，金标轨迹测试防止两套标准漂移。全量三千九百七十五题用于验收，快速版四百七十七题十分之一耗时用于日常迭代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第四步训练，配置可以直接照抄。预训练三百四十的序列长度，两轮，通用语料为主。SFT 序列长度一千三百四十四——这个数字由最长轨迹决定，乘法四乘四加余量约一千三，短了会把乘除样本拦腰截断，这是 v1 踩过的最大的坑。batch size 三十二，二十四 G 单卡可跑；学习率两乘十的负五次方，小步微调不破坏语言能力。数据是四十万条数学样本混百分之三十的通用回放，防止灾难性遗忘。多卡用 torchrun 启动，全局 batch 翻倍。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完整训练后的验收结果。看三块颜色：乘法八档全绿，从一位乘数到四乘四全是一百；除法训练范围内八十六到一百，整除九十七、商含零九十八；加减八十八到一百，其中负数九十八点九，超过了上一版专项方案的九十六点六。二十六档总体九十八点六。灰色部分是五到八位乘除，不在训练范围内，属于任务定义而不是缺陷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诚实呈现三条边界。第一，近等值比较判定百分之九十五点四：当两个数非常接近时，模型偶发把比较行断言写反，比如四二三九减四二四六等于负七，它输出九九九三——正好是十的四次方减七，标准的补码错误。第二，带余除法百分之八十九：残留验证断言错误和商拷贝丢字的混合问题，比如余数五十八大于除数十一的非法组合。第三，五到八位乘除没有训练，外推是零到十二个百分点。这三条都已归档，第一条是六十四兆模型加单轮训练的能力边界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配方背后的五条原则留给大家。第一，表示层先行，切分规则决定模型看得见什么，位值对齐是一切算术能力的前提。第二，格式即监督信号，把猜变成抄，每一个需要一次性猜出来的量都是失败点。第三，分布是设计出来的，难例必须显式构造并插桩校准。第四，评测先于训练，验收合同不是事后考卷。第五，单点维护，格式、判分、采样各一个文件，两套标准迟早漂移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最后是复现路径。三条命令：第一条生成四十万条课程数据，CPU 几分钟；第二条预训练加 SFT，二十四 G 单卡或多卡都行；第三条二十六档评测验收。模糊测试五万零八百八十例零失败，三轮迭代全部可复现，已知限制全部归档。命令在仓库的训练命令文档里，工具链在 math 目录下。欢迎大家回去跑一遍，有问题随时交流。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补充一下评测的双工具设计。全量版三千九百七十五题，覆盖二十六档，用于验收、错例归档和逐位数分析。快速版四百七十七题，十分之一耗时，用于训练和调参的日常迭代。两版共享同一个判分函数，还有金标轨迹接线测试防止两套标准漂移——这是快速版的结果敢被相信的前提。一个小教训：快速版的小样本在弱档上读数偏悲观，二十一题测出七十六，全量一百七十五题实测九十三点七，所以方向看快速、验收必须全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回答一个问题：为什么序列长度定在一千三百四十四，训练时间变长值不值。需要长序列的只有一小撮数据——三乘三以上的乘法和两位除数，加起来约一成到一成六。真正的成本来自定长填充：每条样本都被灌到最大长度。定长五百七十六是三亿两千九百万个槽位但乘除被截断；定长一千三百四十四是七亿六千八百万，乘除完整可见。还有第三个选项，按长度分桶的批内填充，约两亿槽位比五百七十六还快，但目前默认关闭。取舍是先用定长保证正确性，分桶留给后续优化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是一条六位数近等值减法的完整真实输出：七十六万三千三百四十五减七十六万三千三百六十二。注意看模型的行为：五行的相同链上每行都带着倒计时状态，到十位分出大小，声明交换，交换后竖式逐位演算，个位借位处理正确，然后去前导零、逆序、带位数锚点的答案行、独立的负号行。整条链每一行都是显式的、可验证的子操作——这就是这套数据格式想达到的效果：模型不是在猜答案，而是在执行一段它完全理解的程序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th_model_shar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9/24/26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h_model_shar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9/24/26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disc"/>
          <p:cNvSpPr/>
          <p:nvPr/>
        </p:nvSpPr>
        <p:spPr>
          <a:xfrm>
            <a:off x="7984086" y="-2175511"/>
            <a:ext cx="5715000" cy="5715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deco-rule"/>
          <p:cNvSpPr/>
          <p:nvPr/>
        </p:nvSpPr>
        <p:spPr>
          <a:xfrm>
            <a:off x="685800" y="1790700"/>
            <a:ext cx="533400" cy="38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" name="title-block"/>
          <p:cNvGrpSpPr/>
          <p:nvPr/>
        </p:nvGrpSpPr>
        <p:grpSpPr>
          <a:xfrm>
            <a:off x="671322" y="2254568"/>
            <a:ext cx="5488591" cy="1504949"/>
            <a:chOff x="671322" y="2254568"/>
            <a:chExt cx="5488591" cy="1504949"/>
          </a:xfrm>
        </p:grpSpPr>
        <p:sp>
          <p:nvSpPr>
            <p:cNvPr id="4" name="TextBox 4"/>
            <p:cNvSpPr txBox="1"/>
            <p:nvPr/>
          </p:nvSpPr>
          <p:spPr>
            <a:xfrm>
              <a:off x="678942" y="2254568"/>
              <a:ext cx="32424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MINIMIND · 64M 数学专用模型技术分享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1322" y="272129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怎么训练一个数学专用模型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4370" y="3319462"/>
              <a:ext cx="548554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表示层补丁 × 竖式 CoT 课程 × 26 档评测</a:t>
              </a:r>
            </a:p>
          </p:txBody>
        </p:sp>
      </p:grpSp>
      <p:grpSp>
        <p:nvGrpSpPr>
          <p:cNvPr id="10" name="hero-number"/>
          <p:cNvGrpSpPr/>
          <p:nvPr/>
        </p:nvGrpSpPr>
        <p:grpSpPr>
          <a:xfrm>
            <a:off x="8570195" y="4530090"/>
            <a:ext cx="2688355" cy="1055561"/>
            <a:chOff x="8570195" y="4530090"/>
            <a:chExt cx="2688355" cy="1055561"/>
          </a:xfrm>
        </p:grpSpPr>
        <p:sp>
          <p:nvSpPr>
            <p:cNvPr id="8" name="TextBox 8"/>
            <p:cNvSpPr txBox="1"/>
            <p:nvPr/>
          </p:nvSpPr>
          <p:spPr>
            <a:xfrm>
              <a:off x="9218920" y="4530090"/>
              <a:ext cx="203963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98.6%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70195" y="5321618"/>
              <a:ext cx="2676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训练范围内总体准确率 · 3975 题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80466" y="6401752"/>
            <a:ext cx="39365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MiniMind 64M · 2026-09 · 24G 单卡可复现 · 全链路命令开源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5122" y="568642"/>
            <a:ext cx="4308761" cy="557403"/>
            <a:chOff x="595122" y="568642"/>
            <a:chExt cx="4308761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68642"/>
              <a:ext cx="43087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通用模型没有"数位"概念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100965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card-123"/>
          <p:cNvGrpSpPr/>
          <p:nvPr/>
        </p:nvGrpSpPr>
        <p:grpSpPr>
          <a:xfrm>
            <a:off x="609600" y="1333500"/>
            <a:ext cx="3505200" cy="2381250"/>
            <a:chOff x="609600" y="1333500"/>
            <a:chExt cx="3505200" cy="2381250"/>
          </a:xfrm>
        </p:grpSpPr>
        <p:sp>
          <p:nvSpPr>
            <p:cNvPr id="5" name="Rectangle 5"/>
            <p:cNvSpPr/>
            <p:nvPr/>
          </p:nvSpPr>
          <p:spPr>
            <a:xfrm>
              <a:off x="609600" y="1333500"/>
              <a:ext cx="3505200" cy="2381250"/>
            </a:xfrm>
            <a:prstGeom prst="roundRect">
              <a:avLst>
                <a:gd name="adj" fmla="val 48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2970" y="16240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7542" y="2216468"/>
              <a:ext cx="1513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["1","2","3"]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5256" y="2739390"/>
              <a:ext cx="12528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个 token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542" y="3168968"/>
              <a:ext cx="259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百位 → 唯一 token，位值可对齐</a:t>
              </a:r>
            </a:p>
          </p:txBody>
        </p:sp>
      </p:grpSp>
      <p:grpSp>
        <p:nvGrpSpPr>
          <p:cNvPr id="16" name="card-431"/>
          <p:cNvGrpSpPr/>
          <p:nvPr/>
        </p:nvGrpSpPr>
        <p:grpSpPr>
          <a:xfrm>
            <a:off x="4343400" y="1333500"/>
            <a:ext cx="3505200" cy="2381250"/>
            <a:chOff x="4343400" y="1333500"/>
            <a:chExt cx="3505200" cy="2381250"/>
          </a:xfrm>
        </p:grpSpPr>
        <p:sp>
          <p:nvSpPr>
            <p:cNvPr id="11" name="Rectangle 11"/>
            <p:cNvSpPr/>
            <p:nvPr/>
          </p:nvSpPr>
          <p:spPr>
            <a:xfrm>
              <a:off x="4343400" y="1333500"/>
              <a:ext cx="3505200" cy="2381250"/>
            </a:xfrm>
            <a:prstGeom prst="roundRect">
              <a:avLst>
                <a:gd name="adj" fmla="val 48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36770" y="16240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431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41342" y="221646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["43","1"]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39056" y="2739390"/>
              <a:ext cx="12528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 个 token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41342" y="3168968"/>
              <a:ext cx="2203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百位与个位挤进同一 token</a:t>
              </a:r>
            </a:p>
          </p:txBody>
        </p:sp>
      </p:grpSp>
      <p:grpSp>
        <p:nvGrpSpPr>
          <p:cNvPr id="22" name="card-1000"/>
          <p:cNvGrpSpPr/>
          <p:nvPr/>
        </p:nvGrpSpPr>
        <p:grpSpPr>
          <a:xfrm>
            <a:off x="8077200" y="1333500"/>
            <a:ext cx="3505200" cy="2381250"/>
            <a:chOff x="8077200" y="1333500"/>
            <a:chExt cx="3505200" cy="2381250"/>
          </a:xfrm>
        </p:grpSpPr>
        <p:sp>
          <p:nvSpPr>
            <p:cNvPr id="17" name="Rectangle 17"/>
            <p:cNvSpPr/>
            <p:nvPr/>
          </p:nvSpPr>
          <p:spPr>
            <a:xfrm>
              <a:off x="8077200" y="1333500"/>
              <a:ext cx="3505200" cy="2381250"/>
            </a:xfrm>
            <a:prstGeom prst="roundRect">
              <a:avLst>
                <a:gd name="adj" fmla="val 48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70570" y="1624012"/>
              <a:ext cx="6892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75142" y="221646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["1","000"]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72856" y="2739390"/>
              <a:ext cx="12528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 个 token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5142" y="3168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千位与后三位彻底分离</a:t>
              </a:r>
            </a:p>
          </p:txBody>
        </p:sp>
      </p:grpSp>
      <p:grpSp>
        <p:nvGrpSpPr>
          <p:cNvPr id="25" name="takeaway"/>
          <p:cNvGrpSpPr/>
          <p:nvPr/>
        </p:nvGrpSpPr>
        <p:grpSpPr>
          <a:xfrm>
            <a:off x="609600" y="3962400"/>
            <a:ext cx="10972800" cy="914400"/>
            <a:chOff x="609600" y="3962400"/>
            <a:chExt cx="10972800" cy="914400"/>
          </a:xfrm>
        </p:grpSpPr>
        <p:sp>
          <p:nvSpPr>
            <p:cNvPr id="23" name="Rectangle 23"/>
            <p:cNvSpPr/>
            <p:nvPr/>
          </p:nvSpPr>
          <p:spPr>
            <a:xfrm>
              <a:off x="609600" y="3962400"/>
              <a:ext cx="10972800" cy="914400"/>
            </a:xfrm>
            <a:prstGeom prst="roundRect">
              <a:avLst>
                <a:gd name="adj" fmla="val 12500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5256" y="4339590"/>
              <a:ext cx="65190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同一个"百位"，落在完全不同的 token 位置——位值无法对齐</a:t>
              </a:r>
            </a:p>
          </p:txBody>
        </p:sp>
      </p:grpSp>
      <p:grpSp>
        <p:nvGrpSpPr>
          <p:cNvPr id="29" name="mainstream"/>
          <p:cNvGrpSpPr/>
          <p:nvPr/>
        </p:nvGrpSpPr>
        <p:grpSpPr>
          <a:xfrm>
            <a:off x="609600" y="5105400"/>
            <a:ext cx="10972800" cy="914400"/>
            <a:chOff x="609600" y="5105400"/>
            <a:chExt cx="10972800" cy="914400"/>
          </a:xfrm>
        </p:grpSpPr>
        <p:sp>
          <p:nvSpPr>
            <p:cNvPr id="26" name="Rectangle 26"/>
            <p:cNvSpPr/>
            <p:nvPr/>
          </p:nvSpPr>
          <p:spPr>
            <a:xfrm>
              <a:off x="609600" y="5105400"/>
              <a:ext cx="10972800" cy="9144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7542" y="5340668"/>
              <a:ext cx="7115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主流方案：LLaMA 一位一 token · GPT-4 定长分组 · MiniMind（原版）分组但规则随机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6780" y="5629275"/>
              <a:ext cx="61044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关键句：分组但规则随机，比不分组更糟——所以第一步必须修表示层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04266" y="64017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68642"/>
            <a:ext cx="10994136" cy="557403"/>
            <a:chOff x="595122" y="568642"/>
            <a:chExt cx="10994136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6864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五步配方总览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100965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49442" y="730568"/>
              <a:ext cx="2639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三层配方 = 表示层 × 数据 × 评测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609600" y="1866900"/>
            <a:ext cx="2133600" cy="990600"/>
          </a:xfrm>
          <a:prstGeom prst="chevron">
            <a:avLst/>
          </a:prstGeom>
          <a:solidFill>
            <a:srgbClr val="1C2F4A"/>
          </a:solidFill>
          <a:ln w="14288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>
          <a:xfrm>
            <a:off x="2857500" y="1866900"/>
            <a:ext cx="2133600" cy="990600"/>
          </a:xfrm>
          <a:prstGeom prst="chevron">
            <a:avLst/>
          </a:prstGeom>
          <a:solidFill>
            <a:srgbClr val="1C2F4A"/>
          </a:solidFill>
          <a:ln w="14288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8"/>
          <p:cNvSpPr/>
          <p:nvPr/>
        </p:nvSpPr>
        <p:spPr>
          <a:xfrm>
            <a:off x="5105400" y="1866900"/>
            <a:ext cx="2133600" cy="990600"/>
          </a:xfrm>
          <a:prstGeom prst="chevron">
            <a:avLst/>
          </a:prstGeom>
          <a:solidFill>
            <a:srgbClr val="1C2F4A"/>
          </a:solidFill>
          <a:ln w="14288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9"/>
          <p:cNvSpPr/>
          <p:nvPr/>
        </p:nvSpPr>
        <p:spPr>
          <a:xfrm>
            <a:off x="7353300" y="1866900"/>
            <a:ext cx="2133600" cy="990600"/>
          </a:xfrm>
          <a:prstGeom prst="chevron">
            <a:avLst/>
          </a:prstGeom>
          <a:solidFill>
            <a:srgbClr val="1C2F4A"/>
          </a:solidFill>
          <a:ln w="14288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"/>
          <p:cNvSpPr/>
          <p:nvPr/>
        </p:nvSpPr>
        <p:spPr>
          <a:xfrm>
            <a:off x="9601200" y="1866900"/>
            <a:ext cx="1981200" cy="990600"/>
          </a:xfrm>
          <a:prstGeom prst="chevron">
            <a:avLst/>
          </a:prstGeom>
          <a:solidFill>
            <a:srgbClr val="14332A"/>
          </a:solidFill>
          <a:ln w="14288">
            <a:solidFill>
              <a:schemeClr val="accent2"/>
            </a:solidFill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1" name="step-labels"/>
          <p:cNvGrpSpPr/>
          <p:nvPr/>
        </p:nvGrpSpPr>
        <p:grpSpPr>
          <a:xfrm>
            <a:off x="736548" y="2255710"/>
            <a:ext cx="10493541" cy="905256"/>
            <a:chOff x="661948" y="3212782"/>
            <a:chExt cx="10493541" cy="905256"/>
          </a:xfrm>
        </p:grpSpPr>
        <p:sp>
          <p:nvSpPr>
            <p:cNvPr id="11" name="TextBox 11"/>
            <p:cNvSpPr txBox="1"/>
            <p:nvPr/>
          </p:nvSpPr>
          <p:spPr>
            <a:xfrm>
              <a:off x="1137932" y="32127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表示层补丁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1948" y="3901630"/>
              <a:ext cx="1876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tokenizer.json · 0 训练成本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74690" y="3212782"/>
              <a:ext cx="14498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竖式 CoT 格式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66912" y="3912679"/>
              <a:ext cx="1763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math_format.py 单点维护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43372" y="3212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课程采样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03297" y="3901629"/>
              <a:ext cx="16362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gen 脚本 · 40 万条几分钟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90282" y="3212782"/>
              <a:ext cx="12317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26 档评测器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77733" y="3912678"/>
              <a:ext cx="154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eval_math.py 先于训练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28110" y="32127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训练与验收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89487" y="3851434"/>
              <a:ext cx="12428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1344 SFT · 98.6%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595122" y="3429000"/>
            <a:ext cx="10972800" cy="914400"/>
            <a:chOff x="609600" y="4305300"/>
            <a:chExt cx="10972800" cy="914400"/>
          </a:xfrm>
        </p:grpSpPr>
        <p:sp>
          <p:nvSpPr>
            <p:cNvPr id="22" name="Rectangle 22"/>
            <p:cNvSpPr/>
            <p:nvPr/>
          </p:nvSpPr>
          <p:spPr>
            <a:xfrm>
              <a:off x="609600" y="4305300"/>
              <a:ext cx="10972800" cy="9144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5256" y="468249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整个配方里最贵的不是训练，是把三层设计对齐</a:t>
              </a:r>
            </a:p>
          </p:txBody>
        </p:sp>
      </p:grpSp>
      <p:grpSp>
        <p:nvGrpSpPr>
          <p:cNvPr id="34" name="mini-stats"/>
          <p:cNvGrpSpPr/>
          <p:nvPr/>
        </p:nvGrpSpPr>
        <p:grpSpPr>
          <a:xfrm>
            <a:off x="595122" y="4533900"/>
            <a:ext cx="10972800" cy="876300"/>
            <a:chOff x="609600" y="5410200"/>
            <a:chExt cx="10972800" cy="876300"/>
          </a:xfrm>
        </p:grpSpPr>
        <p:sp>
          <p:nvSpPr>
            <p:cNvPr id="25" name="Rectangle 25"/>
            <p:cNvSpPr/>
            <p:nvPr/>
          </p:nvSpPr>
          <p:spPr>
            <a:xfrm>
              <a:off x="609600" y="5410200"/>
              <a:ext cx="3505200" cy="876300"/>
            </a:xfrm>
            <a:prstGeom prst="roundRect">
              <a:avLst>
                <a:gd name="adj" fmla="val 1304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32638" y="5615940"/>
              <a:ext cx="8591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 万条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90700" y="5966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程序化课程数据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343400" y="5410200"/>
              <a:ext cx="3505200" cy="876300"/>
            </a:xfrm>
            <a:prstGeom prst="roundRect">
              <a:avLst>
                <a:gd name="adj" fmla="val 1304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87596" y="5615940"/>
              <a:ext cx="6168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26 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05272" y="5966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分档评测覆盖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77200" y="5410200"/>
              <a:ext cx="3505200" cy="876300"/>
            </a:xfrm>
            <a:prstGeom prst="roundRect">
              <a:avLst>
                <a:gd name="adj" fmla="val 1304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41521" y="5615940"/>
              <a:ext cx="11765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50,880 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17914" y="5966460"/>
              <a:ext cx="12237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fuzz 轨迹零失败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04266" y="6516052"/>
            <a:ext cx="10983468" cy="205359"/>
            <a:chOff x="604266" y="6516052"/>
            <a:chExt cx="10983468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604266" y="65160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03540" y="65160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349568"/>
            <a:ext cx="4249293" cy="833627"/>
            <a:chOff x="595122" y="349568"/>
            <a:chExt cx="4249293" cy="83362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49568"/>
              <a:ext cx="1365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STEP 1 · 表示层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2579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词表不动，只换切分规则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card-old"/>
          <p:cNvGrpSpPr/>
          <p:nvPr/>
        </p:nvGrpSpPr>
        <p:grpSpPr>
          <a:xfrm>
            <a:off x="609600" y="1333500"/>
            <a:ext cx="5334000" cy="2095500"/>
            <a:chOff x="609600" y="1333500"/>
            <a:chExt cx="5334000" cy="2095500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7542" y="1644968"/>
              <a:ext cx="34431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旧切分 · GPT-2 正则 \p{N}+ 无长度上限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5256" y="2167890"/>
              <a:ext cx="25504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1234567 → 123|45|67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542" y="2673668"/>
              <a:ext cx="2131124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同一个数位在不同数里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落在完全不同的 token 位置</a:t>
              </a:r>
            </a:p>
          </p:txBody>
        </p:sp>
      </p:grpSp>
      <p:grpSp>
        <p:nvGrpSpPr>
          <p:cNvPr id="15" name="card-new"/>
          <p:cNvGrpSpPr/>
          <p:nvPr/>
        </p:nvGrpSpPr>
        <p:grpSpPr>
          <a:xfrm>
            <a:off x="6248400" y="1333500"/>
            <a:ext cx="5334000" cy="2095500"/>
            <a:chOff x="6248400" y="1333500"/>
            <a:chExt cx="5334000" cy="2095500"/>
          </a:xfrm>
        </p:grpSpPr>
        <p:sp>
          <p:nvSpPr>
            <p:cNvPr id="11" name="Rectangle 11"/>
            <p:cNvSpPr/>
            <p:nvPr/>
          </p:nvSpPr>
          <p:spPr>
            <a:xfrm>
              <a:off x="6248400" y="1333500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46342" y="1644968"/>
              <a:ext cx="34477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新切分 · Digits(individual_digits) 前置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44056" y="2167890"/>
              <a:ext cx="30835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1234567 → 1|2|3|4|5|6|7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6342" y="2673668"/>
              <a:ext cx="2251138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一位一 token，位值完全对齐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BPE 只能在单字符内合并</a:t>
              </a:r>
            </a:p>
          </p:txBody>
        </p:sp>
      </p:grpSp>
      <p:grpSp>
        <p:nvGrpSpPr>
          <p:cNvPr id="43" name="fact-list"/>
          <p:cNvGrpSpPr/>
          <p:nvPr/>
        </p:nvGrpSpPr>
        <p:grpSpPr>
          <a:xfrm>
            <a:off x="609600" y="3762375"/>
            <a:ext cx="7386214" cy="2490026"/>
            <a:chOff x="609600" y="3762375"/>
            <a:chExt cx="7386214" cy="2490026"/>
          </a:xfrm>
        </p:grpSpPr>
        <p:sp>
          <p:nvSpPr>
            <p:cNvPr id="16" name="Rectangle 16"/>
            <p:cNvSpPr/>
            <p:nvPr/>
          </p:nvSpPr>
          <p:spPr>
            <a:xfrm>
              <a:off x="609600" y="377190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10119" y="3881981"/>
              <a:ext cx="256151" cy="220068"/>
              <a:chOff x="710119" y="3881981"/>
              <a:chExt cx="256151" cy="22006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38200" y="39624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710119" y="388198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838200" y="40512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287780" y="37623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88542" y="4045268"/>
              <a:ext cx="5517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GPT-2 预切分正则对数字无长度上限，BPE 可把数字合并成任意长块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41960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718325" y="4528325"/>
              <a:ext cx="239750" cy="239750"/>
              <a:chOff x="718325" y="4528325"/>
              <a:chExt cx="239750" cy="2397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18325" y="4528325"/>
                <a:ext cx="239750" cy="239750"/>
              </a:xfrm>
              <a:custGeom>
                <a:avLst/>
                <a:gdLst/>
                <a:ahLst/>
                <a:cxnLst/>
                <a:rect l="l" t="t" r="r" b="b"/>
                <a:pathLst>
                  <a:path w="239750" h="239750">
                    <a:moveTo>
                      <a:pt x="98603" y="22301"/>
                    </a:moveTo>
                    <a:cubicBezTo>
                      <a:pt x="104013" y="0"/>
                      <a:pt x="135737" y="0"/>
                      <a:pt x="141147" y="22301"/>
                    </a:cubicBezTo>
                    <a:cubicBezTo>
                      <a:pt x="142794" y="29096"/>
                      <a:pt x="147587" y="34697"/>
                      <a:pt x="154046" y="37373"/>
                    </a:cubicBezTo>
                    <a:cubicBezTo>
                      <a:pt x="160506" y="40049"/>
                      <a:pt x="167855" y="39479"/>
                      <a:pt x="173824" y="35839"/>
                    </a:cubicBezTo>
                    <a:cubicBezTo>
                      <a:pt x="193421" y="23901"/>
                      <a:pt x="215861" y="46329"/>
                      <a:pt x="203923" y="65938"/>
                    </a:cubicBezTo>
                    <a:cubicBezTo>
                      <a:pt x="200289" y="71905"/>
                      <a:pt x="199720" y="79249"/>
                      <a:pt x="202393" y="85704"/>
                    </a:cubicBezTo>
                    <a:cubicBezTo>
                      <a:pt x="205066" y="92160"/>
                      <a:pt x="210660" y="96952"/>
                      <a:pt x="217449" y="98603"/>
                    </a:cubicBezTo>
                    <a:cubicBezTo>
                      <a:pt x="239750" y="104013"/>
                      <a:pt x="239750" y="135737"/>
                      <a:pt x="217449" y="141147"/>
                    </a:cubicBezTo>
                    <a:cubicBezTo>
                      <a:pt x="210654" y="142794"/>
                      <a:pt x="205053" y="147587"/>
                      <a:pt x="202377" y="154046"/>
                    </a:cubicBezTo>
                    <a:cubicBezTo>
                      <a:pt x="199701" y="160506"/>
                      <a:pt x="200271" y="167855"/>
                      <a:pt x="203911" y="173824"/>
                    </a:cubicBezTo>
                    <a:cubicBezTo>
                      <a:pt x="215849" y="193421"/>
                      <a:pt x="193421" y="215861"/>
                      <a:pt x="173812" y="203923"/>
                    </a:cubicBezTo>
                    <a:cubicBezTo>
                      <a:pt x="167845" y="200289"/>
                      <a:pt x="160501" y="199720"/>
                      <a:pt x="154046" y="202393"/>
                    </a:cubicBezTo>
                    <a:cubicBezTo>
                      <a:pt x="147590" y="205066"/>
                      <a:pt x="142798" y="210660"/>
                      <a:pt x="141147" y="217449"/>
                    </a:cubicBezTo>
                    <a:cubicBezTo>
                      <a:pt x="135737" y="239750"/>
                      <a:pt x="104013" y="239750"/>
                      <a:pt x="98603" y="217449"/>
                    </a:cubicBezTo>
                    <a:cubicBezTo>
                      <a:pt x="96956" y="210654"/>
                      <a:pt x="92163" y="205053"/>
                      <a:pt x="85704" y="202377"/>
                    </a:cubicBezTo>
                    <a:cubicBezTo>
                      <a:pt x="79244" y="199701"/>
                      <a:pt x="71895" y="200271"/>
                      <a:pt x="65926" y="203911"/>
                    </a:cubicBezTo>
                    <a:cubicBezTo>
                      <a:pt x="46329" y="215849"/>
                      <a:pt x="23889" y="193421"/>
                      <a:pt x="35827" y="173812"/>
                    </a:cubicBezTo>
                    <a:cubicBezTo>
                      <a:pt x="39461" y="167845"/>
                      <a:pt x="40030" y="160501"/>
                      <a:pt x="37357" y="154046"/>
                    </a:cubicBezTo>
                    <a:cubicBezTo>
                      <a:pt x="34684" y="147590"/>
                      <a:pt x="29090" y="142798"/>
                      <a:pt x="22301" y="141147"/>
                    </a:cubicBezTo>
                    <a:cubicBezTo>
                      <a:pt x="0" y="135737"/>
                      <a:pt x="0" y="104013"/>
                      <a:pt x="22301" y="98603"/>
                    </a:cubicBezTo>
                    <a:cubicBezTo>
                      <a:pt x="29096" y="96956"/>
                      <a:pt x="34697" y="92163"/>
                      <a:pt x="37373" y="85704"/>
                    </a:cubicBezTo>
                    <a:cubicBezTo>
                      <a:pt x="40049" y="79244"/>
                      <a:pt x="39479" y="71895"/>
                      <a:pt x="35839" y="65926"/>
                    </a:cubicBezTo>
                    <a:cubicBezTo>
                      <a:pt x="23901" y="46329"/>
                      <a:pt x="46329" y="23889"/>
                      <a:pt x="65938" y="35827"/>
                    </a:cubicBezTo>
                    <a:cubicBezTo>
                      <a:pt x="78638" y="43548"/>
                      <a:pt x="95097" y="36716"/>
                      <a:pt x="98603" y="22301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800100" y="46101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287780" y="44100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88542" y="4692968"/>
              <a:ext cx="6707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Digits(individual_digits) 前置到 pre_tokenizer，多位 merge 规则退化为死规则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" y="506730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736600" y="5181600"/>
              <a:ext cx="203199" cy="228600"/>
              <a:chOff x="736600" y="5181600"/>
              <a:chExt cx="203199" cy="228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6600" y="5181600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736600" y="521970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736600" y="529590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287780" y="50577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兼容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88542" y="5340668"/>
              <a:ext cx="54749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vocab / merges 逐字节不变 → token id 全部保留，旧权重照常加载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9600" y="571500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723900" y="5829300"/>
              <a:ext cx="228599" cy="228599"/>
              <a:chOff x="723900" y="5829300"/>
              <a:chExt cx="228599" cy="228599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25500" y="59309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774700" y="58801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723900" y="58293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287780" y="57054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成本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88542" y="5988368"/>
              <a:ext cx="49696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不重训 tokenizer、不重跑预训练——补丁只改一个 JSON 字段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604266" y="64017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349568"/>
            <a:ext cx="5831829" cy="833627"/>
            <a:chOff x="595122" y="349568"/>
            <a:chExt cx="5831829" cy="83362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49568"/>
              <a:ext cx="2092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STEP 2 · 数据格式（一）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25792"/>
              <a:ext cx="58318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竖式 CoT：把进位链写在草稿纸上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trace-terminal"/>
          <p:cNvGrpSpPr/>
          <p:nvPr/>
        </p:nvGrpSpPr>
        <p:grpSpPr>
          <a:xfrm>
            <a:off x="609600" y="1238250"/>
            <a:ext cx="7962900" cy="5090351"/>
            <a:chOff x="609600" y="1238250"/>
            <a:chExt cx="7962900" cy="5090351"/>
          </a:xfrm>
        </p:grpSpPr>
        <p:sp>
          <p:nvSpPr>
            <p:cNvPr id="6" name="Rectangle 6"/>
            <p:cNvSpPr/>
            <p:nvPr/>
          </p:nvSpPr>
          <p:spPr>
            <a:xfrm>
              <a:off x="609600" y="1238250"/>
              <a:ext cx="7962900" cy="4972050"/>
            </a:xfrm>
            <a:prstGeom prst="roundRect">
              <a:avLst>
                <a:gd name="adj" fmla="val 229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Ellipse 7"/>
            <p:cNvSpPr/>
            <p:nvPr/>
          </p:nvSpPr>
          <p:spPr>
            <a:xfrm>
              <a:off x="819150" y="14097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Ellipse 8"/>
            <p:cNvSpPr/>
            <p:nvPr/>
          </p:nvSpPr>
          <p:spPr>
            <a:xfrm>
              <a:off x="1009650" y="1409700"/>
              <a:ext cx="114300" cy="114300"/>
            </a:xfrm>
            <a:prstGeom prst="ellipse">
              <a:avLst/>
            </a:prstGeom>
            <a:solidFill>
              <a:srgbClr val="D2992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Ellipse 9"/>
            <p:cNvSpPr/>
            <p:nvPr/>
          </p:nvSpPr>
          <p:spPr>
            <a:xfrm>
              <a:off x="1200150" y="14097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442" y="1683068"/>
              <a:ext cx="4720018" cy="46455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先比较 21590375 和 21590687 的大小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位数相同，都是 8 位，从最高位逐位比较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千万位: 2 = 2，相同，还剩 7 位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百万位: 1 = 1，相同，还剩 6 位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十万位: 5 = 5，相同，还剩 5 位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万位: 9 = 9，相同，还剩 4 位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千位: 0 = 0，相同，还剩 3 位</a:t>
              </a:r>
              <a:br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百位: 3 &lt; 6，分出大小，所以 21590687 更大</a:t>
              </a:r>
              <a:br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21590375 &lt; 21590687，交换后计算 21590687 - 21590375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竖式计算 21590687 - 21590375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个位: 7 - 5 - 0 = 2，写 2 借位 0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十位: 8 - 7 - 0 = 1，写 1 借位 0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百位: 6 - 3 - 0 = 3，写 3 借位 0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千位: 0 - 0 - 0 = 0，写 0 借位 0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万位: 9 - 9 - 0 = 0，写 0 借位 0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十万位: 5 - 5 - 0 = 0，写 0 借位 0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百万位: 1 - 1 - 0 = 0，写 0 借位 0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千万位: 2 - 2 - 0 = 0，写 0 借位 0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去掉前导零 · 逆序: 213</a:t>
              </a:r>
              <a:br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答案(3位): 312</a:t>
              </a:r>
              <a:br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结果为负: -312</a:t>
              </a:r>
            </a:p>
          </p:txBody>
        </p:sp>
      </p:grpSp>
      <p:grpSp>
        <p:nvGrpSpPr>
          <p:cNvPr id="27" name="signal-notes"/>
          <p:cNvGrpSpPr/>
          <p:nvPr/>
        </p:nvGrpSpPr>
        <p:grpSpPr>
          <a:xfrm>
            <a:off x="8801100" y="1676400"/>
            <a:ext cx="1850136" cy="3438906"/>
            <a:chOff x="8801100" y="1676400"/>
            <a:chExt cx="1850136" cy="3438906"/>
          </a:xfrm>
        </p:grpSpPr>
        <p:sp>
          <p:nvSpPr>
            <p:cNvPr id="12" name="Rectangle 12"/>
            <p:cNvSpPr/>
            <p:nvPr/>
          </p:nvSpPr>
          <p:spPr>
            <a:xfrm>
              <a:off x="8801100" y="16764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22842" y="17211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显式比较行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23604" y="19850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符号判断不许一次性猜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801100" y="24003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22842" y="24450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交换状态行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23604" y="2708910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"是否已交换"可寻址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801100" y="31242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8B949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22842" y="3168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低位优先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23604" y="34328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进位天然向高位传播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801100" y="38481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8B949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22842" y="3892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先逆序后答案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23604" y="415671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纯拼接 + 纯拷贝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01100" y="45720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22842" y="46167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独立负号行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23604" y="48806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符号与数值解耦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04266" y="64017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95122" y="349568"/>
            <a:ext cx="10996422" cy="833627"/>
            <a:chOff x="595122" y="349568"/>
            <a:chExt cx="10996422" cy="83362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49568"/>
              <a:ext cx="2092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STEP 2 · 数据格式（二）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25792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四个监督信号设计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801926" y="681990"/>
              <a:ext cx="17896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把"猜"变成"抄"</a:t>
              </a:r>
            </a:p>
          </p:txBody>
        </p:sp>
      </p:grpSp>
      <p:grpSp>
        <p:nvGrpSpPr>
          <p:cNvPr id="13" name="signal-swap"/>
          <p:cNvGrpSpPr/>
          <p:nvPr/>
        </p:nvGrpSpPr>
        <p:grpSpPr>
          <a:xfrm>
            <a:off x="609600" y="1333500"/>
            <a:ext cx="10972800" cy="1104900"/>
            <a:chOff x="609600" y="1333500"/>
            <a:chExt cx="10972800" cy="1104900"/>
          </a:xfrm>
        </p:grpSpPr>
        <p:sp>
          <p:nvSpPr>
            <p:cNvPr id="7" name="Rectangle 7"/>
            <p:cNvSpPr/>
            <p:nvPr/>
          </p:nvSpPr>
          <p:spPr>
            <a:xfrm>
              <a:off x="609600" y="1333500"/>
              <a:ext cx="10972800" cy="1104900"/>
            </a:xfrm>
            <a:prstGeom prst="roundRect">
              <a:avLst>
                <a:gd name="adj" fmla="val 1034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Ellipse 8"/>
            <p:cNvSpPr/>
            <p:nvPr/>
          </p:nvSpPr>
          <p:spPr>
            <a:xfrm>
              <a:off x="876300" y="1695450"/>
              <a:ext cx="381000" cy="3810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0873" y="18002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6380" y="1666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交换状态行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7904" y="2004060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"是否已交换"成为可寻址 token，符号决策显式化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31443" y="1816608"/>
              <a:ext cx="2314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22 &lt; 83，交换后计算 83 - 22</a:t>
              </a:r>
            </a:p>
          </p:txBody>
        </p:sp>
      </p:grpSp>
      <p:grpSp>
        <p:nvGrpSpPr>
          <p:cNvPr id="20" name="signal-anchor"/>
          <p:cNvGrpSpPr/>
          <p:nvPr/>
        </p:nvGrpSpPr>
        <p:grpSpPr>
          <a:xfrm>
            <a:off x="609600" y="2552700"/>
            <a:ext cx="10972800" cy="1104900"/>
            <a:chOff x="609600" y="2552700"/>
            <a:chExt cx="10972800" cy="1104900"/>
          </a:xfrm>
        </p:grpSpPr>
        <p:sp>
          <p:nvSpPr>
            <p:cNvPr id="14" name="Rectangle 14"/>
            <p:cNvSpPr/>
            <p:nvPr/>
          </p:nvSpPr>
          <p:spPr>
            <a:xfrm>
              <a:off x="609600" y="2552700"/>
              <a:ext cx="10972800" cy="1104900"/>
            </a:xfrm>
            <a:prstGeom prst="roundRect">
              <a:avLst>
                <a:gd name="adj" fmla="val 1034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Ellipse 15"/>
            <p:cNvSpPr/>
            <p:nvPr/>
          </p:nvSpPr>
          <p:spPr>
            <a:xfrm>
              <a:off x="876300" y="2914650"/>
              <a:ext cx="381000" cy="3810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0873" y="30194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6380" y="2886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位数锚点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17904" y="3223260"/>
              <a:ext cx="328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反转拷贝的终止条件，治"写几个 0 靠掷硬币"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71811" y="2927604"/>
              <a:ext cx="1207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答案(3位): 312</a:t>
              </a:r>
            </a:p>
          </p:txBody>
        </p:sp>
      </p:grpSp>
      <p:grpSp>
        <p:nvGrpSpPr>
          <p:cNvPr id="27" name="signal-countdown"/>
          <p:cNvGrpSpPr/>
          <p:nvPr/>
        </p:nvGrpSpPr>
        <p:grpSpPr>
          <a:xfrm>
            <a:off x="609600" y="3771900"/>
            <a:ext cx="10972800" cy="1104900"/>
            <a:chOff x="609600" y="3771900"/>
            <a:chExt cx="10972800" cy="1104900"/>
          </a:xfrm>
        </p:grpSpPr>
        <p:sp>
          <p:nvSpPr>
            <p:cNvPr id="21" name="Rectangle 21"/>
            <p:cNvSpPr/>
            <p:nvPr/>
          </p:nvSpPr>
          <p:spPr>
            <a:xfrm>
              <a:off x="609600" y="3771900"/>
              <a:ext cx="10972800" cy="1104900"/>
            </a:xfrm>
            <a:prstGeom prst="roundRect">
              <a:avLst>
                <a:gd name="adj" fmla="val 1034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Ellipse 22"/>
            <p:cNvSpPr/>
            <p:nvPr/>
          </p:nvSpPr>
          <p:spPr>
            <a:xfrm>
              <a:off x="876300" y="4133850"/>
              <a:ext cx="381000" cy="3810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0873" y="42386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16380" y="41052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倒计时状态锚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7904" y="4442460"/>
              <a:ext cx="24918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长相同链上给判定 token 位置参照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31425" y="4150614"/>
              <a:ext cx="12480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相同，还剩 2 位</a:t>
              </a:r>
            </a:p>
          </p:txBody>
        </p:sp>
      </p:grpSp>
      <p:grpSp>
        <p:nvGrpSpPr>
          <p:cNvPr id="34" name="signal-negline"/>
          <p:cNvGrpSpPr/>
          <p:nvPr/>
        </p:nvGrpSpPr>
        <p:grpSpPr>
          <a:xfrm>
            <a:off x="609600" y="4991100"/>
            <a:ext cx="10972800" cy="1104900"/>
            <a:chOff x="609600" y="4991100"/>
            <a:chExt cx="10972800" cy="1104900"/>
          </a:xfrm>
        </p:grpSpPr>
        <p:sp>
          <p:nvSpPr>
            <p:cNvPr id="28" name="Rectangle 28"/>
            <p:cNvSpPr/>
            <p:nvPr/>
          </p:nvSpPr>
          <p:spPr>
            <a:xfrm>
              <a:off x="609600" y="4991100"/>
              <a:ext cx="10972800" cy="1104900"/>
            </a:xfrm>
            <a:prstGeom prst="roundRect">
              <a:avLst>
                <a:gd name="adj" fmla="val 1034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Ellipse 29"/>
            <p:cNvSpPr/>
            <p:nvPr/>
          </p:nvSpPr>
          <p:spPr>
            <a:xfrm>
              <a:off x="876300" y="5353050"/>
              <a:ext cx="381000" cy="3810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0873" y="5457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16380" y="5324475"/>
              <a:ext cx="1661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独立"结果为负"行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17904" y="566166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符号决策与数值计算解耦，答案行保持纯拷贝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24237" y="5369814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结果为负: -312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604266" y="64017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349568"/>
            <a:ext cx="5016627" cy="833627"/>
            <a:chOff x="595122" y="349568"/>
            <a:chExt cx="5016627" cy="83362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49568"/>
              <a:ext cx="2092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STEP 2 · 数据格式（三）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2579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课程采样：分布是设计出来的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branch-bars"/>
          <p:cNvGrpSpPr/>
          <p:nvPr/>
        </p:nvGrpSpPr>
        <p:grpSpPr>
          <a:xfrm>
            <a:off x="602742" y="1447800"/>
            <a:ext cx="10631195" cy="2823401"/>
            <a:chOff x="602742" y="1447800"/>
            <a:chExt cx="10631195" cy="2823401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1492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通用难例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476500" y="1447800"/>
              <a:ext cx="5905500" cy="247650"/>
            </a:xfrm>
            <a:prstGeom prst="roundRect">
              <a:avLst>
                <a:gd name="adj" fmla="val 23077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71154" y="15087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62.9%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19116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接近负数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476500" y="1866900"/>
              <a:ext cx="1133475" cy="247650"/>
            </a:xfrm>
            <a:prstGeom prst="roundRect">
              <a:avLst>
                <a:gd name="adj" fmla="val 23077"/>
              </a:avLst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99129" y="19278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12.1%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2742" y="2330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全同数字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476500" y="2286000"/>
              <a:ext cx="752475" cy="247650"/>
            </a:xfrm>
            <a:prstGeom prst="roundRect">
              <a:avLst>
                <a:gd name="adj" fmla="val 23077"/>
              </a:avLst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18129" y="23469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8.0%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27498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长串答案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76500" y="2705100"/>
              <a:ext cx="561975" cy="247650"/>
            </a:xfrm>
            <a:prstGeom prst="roundRect">
              <a:avLst>
                <a:gd name="adj" fmla="val 23077"/>
              </a:avLst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27629" y="27660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6.0%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2742" y="3168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负数结果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476500" y="3124200"/>
              <a:ext cx="476250" cy="247650"/>
            </a:xfrm>
            <a:prstGeom prst="roundRect">
              <a:avLst>
                <a:gd name="adj" fmla="val 23077"/>
              </a:avLst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1904" y="31851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5.0%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2742" y="3588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结果相等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476500" y="3543300"/>
              <a:ext cx="285750" cy="247650"/>
            </a:xfrm>
            <a:prstGeom prst="roundRect">
              <a:avLst>
                <a:gd name="adj" fmla="val 23077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51404" y="36042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3.1%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2742" y="40071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长零串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476500" y="3962400"/>
              <a:ext cx="285750" cy="247650"/>
            </a:xfrm>
            <a:prstGeom prst="roundRect">
              <a:avLst>
                <a:gd name="adj" fmla="val 23077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51404" y="40233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3.0%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29166" y="2706052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占比为插桩实测值（30 万条）</a:t>
              </a:r>
            </a:p>
          </p:txBody>
        </p:sp>
      </p:grpSp>
      <p:grpSp>
        <p:nvGrpSpPr>
          <p:cNvPr id="39" name="principle-cards"/>
          <p:cNvGrpSpPr/>
          <p:nvPr/>
        </p:nvGrpSpPr>
        <p:grpSpPr>
          <a:xfrm>
            <a:off x="609600" y="4305300"/>
            <a:ext cx="10972800" cy="1790700"/>
            <a:chOff x="609600" y="4305300"/>
            <a:chExt cx="10972800" cy="1790700"/>
          </a:xfrm>
        </p:grpSpPr>
        <p:sp>
          <p:nvSpPr>
            <p:cNvPr id="29" name="Rectangle 29"/>
            <p:cNvSpPr/>
            <p:nvPr/>
          </p:nvSpPr>
          <p:spPr>
            <a:xfrm>
              <a:off x="609600" y="4305300"/>
              <a:ext cx="5334000" cy="1790700"/>
            </a:xfrm>
            <a:prstGeom prst="roundRect">
              <a:avLst>
                <a:gd name="adj" fmla="val 638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6780" y="46005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难例必须显式构造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7542" y="4959668"/>
              <a:ext cx="3094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全同数字、9 串、整十幂、接近负数——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7542" y="52263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随机采样命中率 ≈ 0，但实测全是失败模式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7542" y="56454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kk 分布偏置后隔离验证：30.7 / 40.3 / 29.0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4305300"/>
              <a:ext cx="5334000" cy="1790700"/>
            </a:xfrm>
            <a:prstGeom prst="roundRect">
              <a:avLst>
                <a:gd name="adj" fmla="val 638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45580" y="46005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覆盖率插桩校准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6342" y="4959668"/>
              <a:ext cx="255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"设了 X% 必须实测命中 X%"——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46342" y="52263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分支名义占比会被模板、交换、条件概率稀释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46342" y="5645468"/>
              <a:ext cx="2881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40 万条 CPU 几分钟，改分布零成本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604266" y="64017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349568"/>
            <a:ext cx="6731618" cy="833627"/>
            <a:chOff x="595122" y="349568"/>
            <a:chExt cx="6731618" cy="83362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49568"/>
              <a:ext cx="11836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STEP 3 · 评测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25792"/>
              <a:ext cx="673161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26 档评测器：先于训练存在的验收合同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principle-shape"/>
          <p:cNvGrpSpPr/>
          <p:nvPr/>
        </p:nvGrpSpPr>
        <p:grpSpPr>
          <a:xfrm>
            <a:off x="609600" y="1333500"/>
            <a:ext cx="3505200" cy="2857500"/>
            <a:chOff x="609600" y="1333500"/>
            <a:chExt cx="3505200" cy="2857500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3505200" cy="28575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962025" y="1685925"/>
              <a:ext cx="285751" cy="285751"/>
              <a:chOff x="962025" y="1685925"/>
              <a:chExt cx="285751" cy="285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62025" y="19081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84276" y="16859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993775" y="17176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906018" y="2222182"/>
              <a:ext cx="206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评测形状 = 训练形状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616518"/>
              <a:ext cx="2085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26 档直接复用训练采样器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7542" y="288321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避免"训练分布与评测分布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7542" y="314991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不一致"这一最隐蔽的盲区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8304" y="3699510"/>
              <a:ext cx="2427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全同数字档：训练 8% / 评测 8%</a:t>
              </a:r>
            </a:p>
          </p:txBody>
        </p:sp>
      </p:grpSp>
      <p:grpSp>
        <p:nvGrpSpPr>
          <p:cNvPr id="30" name="principle-dual"/>
          <p:cNvGrpSpPr/>
          <p:nvPr/>
        </p:nvGrpSpPr>
        <p:grpSpPr>
          <a:xfrm>
            <a:off x="4343400" y="1333500"/>
            <a:ext cx="3505200" cy="2857500"/>
            <a:chOff x="4343400" y="1333500"/>
            <a:chExt cx="3505200" cy="2857500"/>
          </a:xfrm>
        </p:grpSpPr>
        <p:sp>
          <p:nvSpPr>
            <p:cNvPr id="17" name="Rectangle 17"/>
            <p:cNvSpPr/>
            <p:nvPr/>
          </p:nvSpPr>
          <p:spPr>
            <a:xfrm>
              <a:off x="4343400" y="1333500"/>
              <a:ext cx="3505200" cy="28575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4703763" y="1709738"/>
              <a:ext cx="261937" cy="230188"/>
              <a:chOff x="4703763" y="1709738"/>
              <a:chExt cx="261937" cy="23018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703763" y="170973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4703763" y="180498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4703763" y="190023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4822825" y="17335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4822825" y="18288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4822825" y="1924051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4639818" y="22221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除法商余双判分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1342" y="26165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答案与余数分别验收，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1342" y="28832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余数合法性（余 &lt; 除数）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41342" y="31499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一并计入对错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42104" y="3699510"/>
              <a:ext cx="1740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64/11 → 6 余 58 判错</a:t>
              </a:r>
            </a:p>
          </p:txBody>
        </p:sp>
      </p:grpSp>
      <p:grpSp>
        <p:nvGrpSpPr>
          <p:cNvPr id="41" name="principle-single"/>
          <p:cNvGrpSpPr/>
          <p:nvPr/>
        </p:nvGrpSpPr>
        <p:grpSpPr>
          <a:xfrm>
            <a:off x="8077200" y="1333500"/>
            <a:ext cx="3505200" cy="2857500"/>
            <a:chOff x="8077200" y="1333500"/>
            <a:chExt cx="3505200" cy="2857500"/>
          </a:xfrm>
        </p:grpSpPr>
        <p:sp>
          <p:nvSpPr>
            <p:cNvPr id="31" name="Rectangle 31"/>
            <p:cNvSpPr/>
            <p:nvPr/>
          </p:nvSpPr>
          <p:spPr>
            <a:xfrm>
              <a:off x="8077200" y="1333500"/>
              <a:ext cx="3505200" cy="28575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429625" y="1685925"/>
              <a:ext cx="285751" cy="285751"/>
              <a:chOff x="8429625" y="1685925"/>
              <a:chExt cx="285751" cy="28575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556625" y="18129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8493125" y="1749425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0" y="79375"/>
                    </a:moveTo>
                    <a:cubicBezTo>
                      <a:pt x="0" y="123213"/>
                      <a:pt x="35537" y="158750"/>
                      <a:pt x="79375" y="158750"/>
                    </a:cubicBezTo>
                    <a:cubicBezTo>
                      <a:pt x="123213" y="158750"/>
                      <a:pt x="158750" y="123213"/>
                      <a:pt x="158750" y="79375"/>
                    </a:cubicBezTo>
                    <a:cubicBezTo>
                      <a:pt x="158750" y="35537"/>
                      <a:pt x="123213" y="0"/>
                      <a:pt x="79375" y="0"/>
                    </a:cubicBezTo>
                    <a:cubicBezTo>
                      <a:pt x="35537" y="0"/>
                      <a:pt x="0" y="35537"/>
                      <a:pt x="0" y="793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8429625" y="16859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8373618" y="22221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判分口径单点维护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5142" y="26165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快速版与全量版共享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5142" y="2883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同一判分函数，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5142" y="31499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杜绝两套标准漂移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75904" y="36995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generate_and_score()</a:t>
              </a:r>
            </a:p>
          </p:txBody>
        </p:sp>
      </p:grpSp>
      <p:grpSp>
        <p:nvGrpSpPr>
          <p:cNvPr id="49" name="stats-band"/>
          <p:cNvGrpSpPr/>
          <p:nvPr/>
        </p:nvGrpSpPr>
        <p:grpSpPr>
          <a:xfrm>
            <a:off x="609600" y="4419600"/>
            <a:ext cx="10972800" cy="952500"/>
            <a:chOff x="609600" y="4419600"/>
            <a:chExt cx="10972800" cy="952500"/>
          </a:xfrm>
        </p:grpSpPr>
        <p:sp>
          <p:nvSpPr>
            <p:cNvPr id="42" name="Rectangle 42"/>
            <p:cNvSpPr/>
            <p:nvPr/>
          </p:nvSpPr>
          <p:spPr>
            <a:xfrm>
              <a:off x="609600" y="4419600"/>
              <a:ext cx="10972800" cy="952500"/>
            </a:xfrm>
            <a:prstGeom prst="roundRect">
              <a:avLst>
                <a:gd name="adj" fmla="val 12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76496" y="4609148"/>
              <a:ext cx="9714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3975 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97812" y="501396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全量版 · 验收口径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86096" y="4609148"/>
              <a:ext cx="8198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477 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75250" y="5013960"/>
              <a:ext cx="22414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快速版 · 迭代口径 · 1/10 耗时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46477" y="4609148"/>
              <a:ext cx="15666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个判分函数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84640" y="50139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两版共用 · 单点维护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604266" y="64017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95122" y="349568"/>
            <a:ext cx="10994136" cy="833627"/>
            <a:chOff x="595122" y="349568"/>
            <a:chExt cx="10994136" cy="83362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49568"/>
              <a:ext cx="11836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STEP 4 · 训练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25792"/>
              <a:ext cx="32668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预训练 + SFT 配置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320564" y="730568"/>
              <a:ext cx="3268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24G 单卡可跑 · torchrun 多卡线性扩展</a:t>
              </a:r>
            </a:p>
          </p:txBody>
        </p:sp>
      </p:grpSp>
      <p:grpSp>
        <p:nvGrpSpPr>
          <p:cNvPr id="53" name="config-table"/>
          <p:cNvGrpSpPr/>
          <p:nvPr/>
        </p:nvGrpSpPr>
        <p:grpSpPr>
          <a:xfrm>
            <a:off x="609600" y="1333500"/>
            <a:ext cx="10972800" cy="4457700"/>
            <a:chOff x="609600" y="1333500"/>
            <a:chExt cx="10972800" cy="4457700"/>
          </a:xfrm>
        </p:grpSpPr>
        <p:sp>
          <p:nvSpPr>
            <p:cNvPr id="7" name="Rectangle 7"/>
            <p:cNvSpPr/>
            <p:nvPr/>
          </p:nvSpPr>
          <p:spPr>
            <a:xfrm>
              <a:off x="609600" y="1333500"/>
              <a:ext cx="10972800" cy="49530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4004" y="15278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79904" y="15278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46904" y="15278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取值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32904" y="1527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设计理由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1828800"/>
              <a:ext cx="109728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004" y="20231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预训练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79904" y="202311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max_seq_len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46904" y="202311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340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904" y="20231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通用语料为主，数字密度低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2324100"/>
              <a:ext cx="10972800" cy="49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4004" y="25184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预训练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79904" y="251841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epochs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6904" y="25184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32904" y="25184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从零建立语言与格式基础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9600" y="2819400"/>
              <a:ext cx="109728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4004" y="30137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预训练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79904" y="301371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learning_rate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46904" y="30137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5e-4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32904" y="30137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从零训练的默认量级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9600" y="3314700"/>
              <a:ext cx="10972800" cy="49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4004" y="35090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SFT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79904" y="350901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max_seq_len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46904" y="35090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1344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32904" y="3509010"/>
              <a:ext cx="23065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最长轨迹 ≈1300，短了截断乘除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9600" y="3810000"/>
              <a:ext cx="109728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4004" y="40043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SFT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79904" y="400431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batch_size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46904" y="40043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32904" y="4004310"/>
              <a:ext cx="2122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24G 单卡可跑；多卡全局翻倍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9600" y="4305300"/>
              <a:ext cx="10972800" cy="49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4004" y="44996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SFT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79904" y="449961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learning_rate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6904" y="44996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2e-5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32904" y="44996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小步微调，不破坏语言能力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9600" y="4800600"/>
              <a:ext cx="109728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4004" y="49949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279904" y="4994910"/>
              <a:ext cx="1522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math_all_v2.jsonl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46904" y="4994910"/>
              <a:ext cx="10622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1,142,856 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32904" y="4994910"/>
              <a:ext cx="2386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40 万数学 + 30% 通用回放防遗忘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9600" y="5295900"/>
              <a:ext cx="10972800" cy="49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4004" y="549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279904" y="549021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eval_math.py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946904" y="5490210"/>
              <a:ext cx="440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26 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32904" y="5490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训练范围内验收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609600" y="1828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54" name="TextBox 54"/>
            <p:cNvSpPr txBox="1"/>
            <p:nvPr/>
          </p:nvSpPr>
          <p:spPr>
            <a:xfrm>
              <a:off x="604266" y="64017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95122" y="349568"/>
            <a:ext cx="10994136" cy="833627"/>
            <a:chOff x="595122" y="349568"/>
            <a:chExt cx="10994136" cy="83362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49568"/>
              <a:ext cx="11836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STEP 5 · 验收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25792"/>
              <a:ext cx="325655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训练范围内 98.6%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186147" y="730568"/>
              <a:ext cx="3403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26 档 · 灰色 = 训练范围外（5~8 位乘除）</a:t>
              </a:r>
            </a:p>
          </p:txBody>
        </p:sp>
      </p:grpSp>
      <p:grpSp>
        <p:nvGrpSpPr>
          <p:cNvPr id="88" name="heat-accuracy"/>
          <p:cNvGrpSpPr/>
          <p:nvPr/>
        </p:nvGrpSpPr>
        <p:grpSpPr>
          <a:xfrm>
            <a:off x="660654" y="1604010"/>
            <a:ext cx="10712196" cy="3869627"/>
            <a:chOff x="660654" y="1604010"/>
            <a:chExt cx="10712196" cy="3869627"/>
          </a:xfrm>
        </p:grpSpPr>
        <p:grpSp>
          <p:nvGrpSpPr>
            <p:cNvPr id="44" name="heat-accuracy-chartArea"/>
            <p:cNvGrpSpPr/>
            <p:nvPr/>
          </p:nvGrpSpPr>
          <p:grpSpPr>
            <a:xfrm>
              <a:off x="660654" y="1604010"/>
              <a:ext cx="3244596" cy="3869627"/>
              <a:chOff x="660654" y="1604010"/>
              <a:chExt cx="3244596" cy="3869627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660654" y="1604010"/>
                <a:ext cx="10573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加减（12 档）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666750" y="18288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5716" y="1915478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等长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352801" y="1915478"/>
                <a:ext cx="443484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100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666750" y="21336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75716" y="222027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不等长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423667" y="2220278"/>
                <a:ext cx="372618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100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666750" y="24384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5716" y="252507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短在前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423667" y="2525078"/>
                <a:ext cx="372618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99.3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666750" y="27432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75716" y="28298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紧凑写法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501331" y="2829878"/>
                <a:ext cx="29495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100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666750" y="30480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75716" y="313467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紧凑不等长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427593" y="3134678"/>
                <a:ext cx="368691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99.3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666750" y="33528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75716" y="34394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全同数字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427593" y="3439478"/>
                <a:ext cx="368691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99.7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666750" y="36576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5716" y="374427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长零串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01331" y="3744278"/>
                <a:ext cx="29495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100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666750" y="39624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75716" y="404907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负数共后缀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427593" y="4049078"/>
                <a:ext cx="368691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99.4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666750" y="42672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5716" y="4353878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负数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427593" y="4353878"/>
                <a:ext cx="368691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98.9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66750" y="45720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4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75716" y="4658678"/>
                <a:ext cx="9365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负数·等长接近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427593" y="4658678"/>
                <a:ext cx="368691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95.4</a:t>
                </a:r>
                <a:r>
                  <a:rPr lang="en-US" alt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66750" y="48768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D29922">
                  <a:alpha val="5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75716" y="496347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前导零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427593" y="4963478"/>
                <a:ext cx="368691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88.0</a:t>
                </a:r>
                <a:r>
                  <a:rPr lang="en-US" alt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666750" y="51816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75716" y="5268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长串答案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427593" y="5268278"/>
                <a:ext cx="368691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99.3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heat-mul"/>
            <p:cNvGrpSpPr/>
            <p:nvPr/>
          </p:nvGrpSpPr>
          <p:grpSpPr>
            <a:xfrm>
              <a:off x="4394454" y="1604010"/>
              <a:ext cx="3253142" cy="2650427"/>
              <a:chOff x="4394454" y="1604010"/>
              <a:chExt cx="3253142" cy="2650427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4394454" y="1604010"/>
                <a:ext cx="9640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乘法（8 档）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4400550" y="18288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509516" y="1915478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通用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235131" y="1915478"/>
                <a:ext cx="29495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100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4400550" y="21336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4509516" y="2220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一位乘数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235131" y="2220278"/>
                <a:ext cx="29495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100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4409096" y="24384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509516" y="252507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末尾零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308869" y="2525078"/>
                <a:ext cx="221215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99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4400550" y="27432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509516" y="2829878"/>
                <a:ext cx="41351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内嵌 0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235131" y="2829878"/>
                <a:ext cx="29495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100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4400550" y="30480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509516" y="313467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整十幂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235131" y="3134678"/>
                <a:ext cx="29495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100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4400550" y="33528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4509516" y="34394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全同数字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235131" y="3439478"/>
                <a:ext cx="29495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100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4400550" y="36576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4509516" y="3744278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9 串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235131" y="3744278"/>
                <a:ext cx="29495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100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7" name="Rectangle 67"/>
              <p:cNvSpPr/>
              <p:nvPr/>
            </p:nvSpPr>
            <p:spPr>
              <a:xfrm>
                <a:off x="4400550" y="39624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4509516" y="4049078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相等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235131" y="4049078"/>
                <a:ext cx="29495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100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87" name="heat-div"/>
            <p:cNvGrpSpPr/>
            <p:nvPr/>
          </p:nvGrpSpPr>
          <p:grpSpPr>
            <a:xfrm>
              <a:off x="8128254" y="1604010"/>
              <a:ext cx="3244596" cy="1736027"/>
              <a:chOff x="8128254" y="1604010"/>
              <a:chExt cx="3244596" cy="1736027"/>
            </a:xfrm>
          </p:grpSpPr>
          <p:sp>
            <p:nvSpPr>
              <p:cNvPr id="71" name="TextBox 71"/>
              <p:cNvSpPr txBox="1"/>
              <p:nvPr/>
            </p:nvSpPr>
            <p:spPr>
              <a:xfrm>
                <a:off x="8128254" y="1604010"/>
                <a:ext cx="9640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除法（5 档）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8134350" y="18288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243316" y="1915478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整除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11042669" y="1915478"/>
                <a:ext cx="221215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97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5" name="Rectangle 75"/>
              <p:cNvSpPr/>
              <p:nvPr/>
            </p:nvSpPr>
            <p:spPr>
              <a:xfrm>
                <a:off x="8134350" y="21336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D29922">
                  <a:alpha val="5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8243316" y="2220278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带余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11042669" y="2220278"/>
                <a:ext cx="221215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89</a:t>
                </a:r>
                <a:r>
                  <a:rPr lang="en-US" alt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8134350" y="24384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243316" y="2525078"/>
                <a:ext cx="41351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商含 0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1042669" y="2525078"/>
                <a:ext cx="221215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98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1" name="Rectangle 81"/>
              <p:cNvSpPr/>
              <p:nvPr/>
            </p:nvSpPr>
            <p:spPr>
              <a:xfrm>
                <a:off x="8134350" y="27432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8243316" y="282987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商零串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11042669" y="2829878"/>
                <a:ext cx="221215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98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4" name="Rectangle 84"/>
              <p:cNvSpPr/>
              <p:nvPr/>
            </p:nvSpPr>
            <p:spPr>
              <a:xfrm>
                <a:off x="8134350" y="3048000"/>
                <a:ext cx="3238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>
                  <a:alpha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8243316" y="31346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小除以大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11042669" y="3134678"/>
                <a:ext cx="221215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96</a:t>
                </a:r>
                <a:r>
                  <a:rPr lang="en-US" altLang="zh-CN" sz="1050" b="1" dirty="0">
                    <a:solidFill>
                      <a:srgbClr val="0D1117"/>
                    </a:solidFill>
                    <a:latin typeface="+mn-lt"/>
                    <a:ea typeface="+mn-ea"/>
                    <a:cs typeface="+mn-cs"/>
                  </a:rPr>
                  <a:t>%</a:t>
                </a:r>
                <a:endParaRPr lang="zh-CN" sz="1050" b="1" dirty="0">
                  <a:solidFill>
                    <a:srgbClr val="0D1117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8" name="legend"/>
          <p:cNvGrpSpPr/>
          <p:nvPr/>
        </p:nvGrpSpPr>
        <p:grpSpPr>
          <a:xfrm>
            <a:off x="609600" y="5753100"/>
            <a:ext cx="10978134" cy="215837"/>
            <a:chOff x="609600" y="5753100"/>
            <a:chExt cx="10978134" cy="215837"/>
          </a:xfrm>
        </p:grpSpPr>
        <p:sp>
          <p:nvSpPr>
            <p:cNvPr id="89" name="Rectangle 89"/>
            <p:cNvSpPr/>
            <p:nvPr/>
          </p:nvSpPr>
          <p:spPr>
            <a:xfrm>
              <a:off x="609600" y="5753100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chemeClr val="accent2">
                <a:alpha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32866" y="5763578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 98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333500" y="5753100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chemeClr val="accent2">
                <a:alpha val="4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556766" y="57635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95 ~ 98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2209800" y="5753100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rgbClr val="D29922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2433066" y="57635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88 ~ 95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3200400" y="5753100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chemeClr val="accent3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3423666" y="5763578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&lt; 88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417871" y="5763578"/>
              <a:ext cx="31698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训练范围内 3975 题 · 范围外（≥5 位乘除）未训练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99" name="TextBox 99"/>
            <p:cNvSpPr txBox="1"/>
            <p:nvPr/>
          </p:nvSpPr>
          <p:spPr>
            <a:xfrm>
              <a:off x="604266" y="64017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95122" y="349568"/>
            <a:ext cx="10994136" cy="833627"/>
            <a:chOff x="595122" y="349568"/>
            <a:chExt cx="10994136" cy="83362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49568"/>
              <a:ext cx="11836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STEP 5 · 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2579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已知限制与边界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212961" y="7305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诚实呈现：三条已归档的边界</a:t>
              </a:r>
            </a:p>
          </p:txBody>
        </p:sp>
      </p:grpSp>
      <p:grpSp>
        <p:nvGrpSpPr>
          <p:cNvPr id="16" name="limit-negclose"/>
          <p:cNvGrpSpPr/>
          <p:nvPr/>
        </p:nvGrpSpPr>
        <p:grpSpPr>
          <a:xfrm>
            <a:off x="609600" y="1333500"/>
            <a:ext cx="10972800" cy="1438656"/>
            <a:chOff x="609600" y="1333500"/>
            <a:chExt cx="10972800" cy="1438656"/>
          </a:xfrm>
        </p:grpSpPr>
        <p:sp>
          <p:nvSpPr>
            <p:cNvPr id="7" name="Rectangle 7"/>
            <p:cNvSpPr/>
            <p:nvPr/>
          </p:nvSpPr>
          <p:spPr>
            <a:xfrm>
              <a:off x="609600" y="1333500"/>
              <a:ext cx="10972800" cy="14287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941759" y="1657366"/>
              <a:ext cx="288171" cy="247577"/>
              <a:chOff x="941759" y="1657366"/>
              <a:chExt cx="288171" cy="24757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85850" y="17478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941759" y="165736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085850" y="1847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515618" y="1555432"/>
              <a:ext cx="50824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近等值比较判定 95.4% </a:t>
              </a:r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（neg_close 档 · k=3 时 92%）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7142" y="1930718"/>
              <a:ext cx="4384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机制：比较行符号 token 翻转 → 交换误判 → 10 的补码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7142" y="2254568"/>
              <a:ext cx="3921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4239 - 4246 = -7，预测 9993（= 10⁴ − 7）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7904" y="2537460"/>
              <a:ext cx="5890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倒计时状态锚已回收大部分（91.4 → 95.4）；剩余为 64M / 单 epoch 的能力边界</a:t>
              </a:r>
            </a:p>
          </p:txBody>
        </p:sp>
      </p:grpSp>
      <p:grpSp>
        <p:nvGrpSpPr>
          <p:cNvPr id="26" name="limit-div"/>
          <p:cNvGrpSpPr/>
          <p:nvPr/>
        </p:nvGrpSpPr>
        <p:grpSpPr>
          <a:xfrm>
            <a:off x="609600" y="2914650"/>
            <a:ext cx="10972800" cy="1438656"/>
            <a:chOff x="609600" y="2914650"/>
            <a:chExt cx="10972800" cy="1438656"/>
          </a:xfrm>
        </p:grpSpPr>
        <p:sp>
          <p:nvSpPr>
            <p:cNvPr id="17" name="Rectangle 17"/>
            <p:cNvSpPr/>
            <p:nvPr/>
          </p:nvSpPr>
          <p:spPr>
            <a:xfrm>
              <a:off x="609600" y="2914650"/>
              <a:ext cx="10972800" cy="14287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941759" y="3238516"/>
              <a:ext cx="288171" cy="247577"/>
              <a:chOff x="941759" y="3238516"/>
              <a:chExt cx="288171" cy="24757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85850" y="332898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D2992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941759" y="323851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28575">
                <a:solidFill>
                  <a:srgbClr val="D2992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085850" y="3429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D2992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515618" y="3136582"/>
              <a:ext cx="44969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带余除法 89.0% </a:t>
              </a:r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（验证断言 + 商拷贝的混合残余）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7142" y="3511868"/>
              <a:ext cx="5547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机制：多位比较断言写反 → 拒掉正确候选 / 接受过大候选 → 非法余数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17142" y="3835718"/>
              <a:ext cx="5456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64 / 11 = 5 余 9，预测 6 余 58（余数 58 &gt; 除数 11，非法）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7904" y="4118610"/>
              <a:ext cx="4591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自纠机制触发时成功率 82.6%——问题在断言频率，不在自纠回路</a:t>
              </a:r>
            </a:p>
          </p:txBody>
        </p:sp>
      </p:grpSp>
      <p:grpSp>
        <p:nvGrpSpPr>
          <p:cNvPr id="36" name="limit-ood"/>
          <p:cNvGrpSpPr/>
          <p:nvPr/>
        </p:nvGrpSpPr>
        <p:grpSpPr>
          <a:xfrm>
            <a:off x="609600" y="4495800"/>
            <a:ext cx="10972800" cy="1438656"/>
            <a:chOff x="609600" y="4495800"/>
            <a:chExt cx="10972800" cy="1438656"/>
          </a:xfrm>
        </p:grpSpPr>
        <p:sp>
          <p:nvSpPr>
            <p:cNvPr id="27" name="Rectangle 27"/>
            <p:cNvSpPr/>
            <p:nvPr/>
          </p:nvSpPr>
          <p:spPr>
            <a:xfrm>
              <a:off x="609600" y="4495800"/>
              <a:ext cx="10972800" cy="14287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941759" y="4819666"/>
              <a:ext cx="288171" cy="247577"/>
              <a:chOff x="941759" y="4819666"/>
              <a:chExt cx="288171" cy="24757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85850" y="49101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8B949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941759" y="481966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28575">
                <a:solidFill>
                  <a:srgbClr val="8B949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1085850" y="5010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8B949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515618" y="4717732"/>
              <a:ext cx="36763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训练范围外 0~12% </a:t>
              </a:r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（≥5 位乘除未训练）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17142" y="5093018"/>
              <a:ext cx="5484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评测口径：范围外单独灰化，不计入验收——这不是缺陷，是任务定义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17142" y="5416868"/>
              <a:ext cx="47207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需要更大位数时：课程采样 --max_digits 提升后重训即可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17904" y="5699760"/>
              <a:ext cx="5310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整十幂档 5~6 位已出现 2~12% 的零星正确，说明位值表征有部分外推能力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37" name="TextBox 37"/>
            <p:cNvSpPr txBox="1"/>
            <p:nvPr/>
          </p:nvSpPr>
          <p:spPr>
            <a:xfrm>
              <a:off x="604266" y="64017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349568"/>
            <a:ext cx="2330958" cy="833627"/>
            <a:chOff x="595122" y="349568"/>
            <a:chExt cx="2330958" cy="83362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495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收尾 · 可带走的资产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2579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五条设计原则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principle-1"/>
          <p:cNvGrpSpPr/>
          <p:nvPr/>
        </p:nvGrpSpPr>
        <p:grpSpPr>
          <a:xfrm>
            <a:off x="598932" y="1640205"/>
            <a:ext cx="6143396" cy="649796"/>
            <a:chOff x="598932" y="1640205"/>
            <a:chExt cx="6143396" cy="649796"/>
          </a:xfrm>
        </p:grpSpPr>
        <p:sp>
          <p:nvSpPr>
            <p:cNvPr id="6" name="TextBox 6"/>
            <p:cNvSpPr txBox="1"/>
            <p:nvPr/>
          </p:nvSpPr>
          <p:spPr>
            <a:xfrm>
              <a:off x="598932" y="1640205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18844" y="165639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表示层先行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21892" y="2025968"/>
              <a:ext cx="5320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切分规则决定模型"看得见"什么——位值对齐是一切算术能力的前提</a:t>
              </a:r>
            </a:p>
          </p:txBody>
        </p:sp>
      </p:grpSp>
      <p:grpSp>
        <p:nvGrpSpPr>
          <p:cNvPr id="13" name="principle-2"/>
          <p:cNvGrpSpPr/>
          <p:nvPr/>
        </p:nvGrpSpPr>
        <p:grpSpPr>
          <a:xfrm>
            <a:off x="598932" y="2535555"/>
            <a:ext cx="5798096" cy="649796"/>
            <a:chOff x="598932" y="2535555"/>
            <a:chExt cx="5798096" cy="649796"/>
          </a:xfrm>
        </p:grpSpPr>
        <p:sp>
          <p:nvSpPr>
            <p:cNvPr id="10" name="TextBox 10"/>
            <p:cNvSpPr txBox="1"/>
            <p:nvPr/>
          </p:nvSpPr>
          <p:spPr>
            <a:xfrm>
              <a:off x="598932" y="2535555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18844" y="255174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格式即监督信号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21892" y="2921318"/>
              <a:ext cx="4975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把"猜"变成"抄"——每一个必须一次性猜出来的量，都是失败点</a:t>
              </a:r>
            </a:p>
          </p:txBody>
        </p:sp>
      </p:grpSp>
      <p:grpSp>
        <p:nvGrpSpPr>
          <p:cNvPr id="17" name="principle-3"/>
          <p:cNvGrpSpPr/>
          <p:nvPr/>
        </p:nvGrpSpPr>
        <p:grpSpPr>
          <a:xfrm>
            <a:off x="598932" y="3430905"/>
            <a:ext cx="5696941" cy="649796"/>
            <a:chOff x="598932" y="3430905"/>
            <a:chExt cx="5696941" cy="649796"/>
          </a:xfrm>
        </p:grpSpPr>
        <p:sp>
          <p:nvSpPr>
            <p:cNvPr id="14" name="TextBox 14"/>
            <p:cNvSpPr txBox="1"/>
            <p:nvPr/>
          </p:nvSpPr>
          <p:spPr>
            <a:xfrm>
              <a:off x="598932" y="3430905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8844" y="344709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分布是设计出来的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1892" y="3816668"/>
              <a:ext cx="4873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难例必须显式构造并插桩校准——"设了 X%"不等于"命中 X%"</a:t>
              </a:r>
            </a:p>
          </p:txBody>
        </p:sp>
      </p:grpSp>
      <p:grpSp>
        <p:nvGrpSpPr>
          <p:cNvPr id="21" name="principle-4"/>
          <p:cNvGrpSpPr/>
          <p:nvPr/>
        </p:nvGrpSpPr>
        <p:grpSpPr>
          <a:xfrm>
            <a:off x="598932" y="4326255"/>
            <a:ext cx="5216538" cy="649796"/>
            <a:chOff x="598932" y="4326255"/>
            <a:chExt cx="5216538" cy="649796"/>
          </a:xfrm>
        </p:grpSpPr>
        <p:sp>
          <p:nvSpPr>
            <p:cNvPr id="18" name="TextBox 18"/>
            <p:cNvSpPr txBox="1"/>
            <p:nvPr/>
          </p:nvSpPr>
          <p:spPr>
            <a:xfrm>
              <a:off x="598932" y="4326255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18844" y="434244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评测先于训练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21892" y="4712018"/>
              <a:ext cx="4393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验收合同不是事后考卷——评测形状与训练形状一一对应</a:t>
              </a:r>
            </a:p>
          </p:txBody>
        </p:sp>
      </p:grpSp>
      <p:grpSp>
        <p:nvGrpSpPr>
          <p:cNvPr id="25" name="principle-5"/>
          <p:cNvGrpSpPr/>
          <p:nvPr/>
        </p:nvGrpSpPr>
        <p:grpSpPr>
          <a:xfrm>
            <a:off x="598932" y="5221605"/>
            <a:ext cx="4907585" cy="649796"/>
            <a:chOff x="598932" y="5221605"/>
            <a:chExt cx="4907585" cy="649796"/>
          </a:xfrm>
        </p:grpSpPr>
        <p:sp>
          <p:nvSpPr>
            <p:cNvPr id="22" name="TextBox 22"/>
            <p:cNvSpPr txBox="1"/>
            <p:nvPr/>
          </p:nvSpPr>
          <p:spPr>
            <a:xfrm>
              <a:off x="598932" y="5221605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18844" y="52377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单点维护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21892" y="5607368"/>
              <a:ext cx="40846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格式 / 判分 / 采样各一个文件——两套标准迟早漂移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604266" y="64017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disc"/>
          <p:cNvSpPr/>
          <p:nvPr/>
        </p:nvSpPr>
        <p:spPr>
          <a:xfrm>
            <a:off x="-1524000" y="4572000"/>
            <a:ext cx="4191000" cy="4191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header"/>
          <p:cNvGrpSpPr/>
          <p:nvPr/>
        </p:nvGrpSpPr>
        <p:grpSpPr>
          <a:xfrm>
            <a:off x="595122" y="349568"/>
            <a:ext cx="5400294" cy="833627"/>
            <a:chOff x="595122" y="349568"/>
            <a:chExt cx="5400294" cy="83362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49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复现路径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122" y="62579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今天回去就可以跑通第一条命令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06680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command-block"/>
          <p:cNvGrpSpPr/>
          <p:nvPr/>
        </p:nvGrpSpPr>
        <p:grpSpPr>
          <a:xfrm>
            <a:off x="609600" y="1333500"/>
            <a:ext cx="10972800" cy="2857500"/>
            <a:chOff x="609600" y="1333500"/>
            <a:chExt cx="10972800" cy="2857500"/>
          </a:xfrm>
        </p:grpSpPr>
        <p:sp>
          <p:nvSpPr>
            <p:cNvPr id="7" name="Rectangle 7"/>
            <p:cNvSpPr/>
            <p:nvPr/>
          </p:nvSpPr>
          <p:spPr>
            <a:xfrm>
              <a:off x="609600" y="1333500"/>
              <a:ext cx="10972800" cy="28575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Ellipse 8"/>
            <p:cNvSpPr/>
            <p:nvPr/>
          </p:nvSpPr>
          <p:spPr>
            <a:xfrm>
              <a:off x="819150" y="15049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Ellipse 9"/>
            <p:cNvSpPr/>
            <p:nvPr/>
          </p:nvSpPr>
          <p:spPr>
            <a:xfrm>
              <a:off x="1009650" y="1504950"/>
              <a:ext cx="114300" cy="114300"/>
            </a:xfrm>
            <a:prstGeom prst="ellipse">
              <a:avLst/>
            </a:prstGeom>
            <a:solidFill>
              <a:srgbClr val="D2992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Ellipse 10"/>
            <p:cNvSpPr/>
            <p:nvPr/>
          </p:nvSpPr>
          <p:spPr>
            <a:xfrm>
              <a:off x="1200150" y="15049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442" y="1759268"/>
              <a:ext cx="35166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# 1 · 数据生成（40 万条，CPU 几分钟）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442" y="2025968"/>
              <a:ext cx="8110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math/gen_math_data_addsub.py --out dataset/math_addsub_v1.jsonl --n 200000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9442" y="2292668"/>
              <a:ext cx="8110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math/gen_math_data_muldiv.py --out dataset/math_muldiv_v1.jsonl --n 200000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9442" y="2635568"/>
              <a:ext cx="4486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# 2 · 预训练 + SFT（24G 单卡或 torchrun 多卡）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9442" y="2902268"/>
              <a:ext cx="71105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train_pretrain.py --from_weight none --save_weight pretrain_math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9442" y="3168968"/>
              <a:ext cx="8409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train_full_sft.py --data_path ../dataset/math_all_v1.jsonl --max_seq_len 1344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9442" y="3511868"/>
              <a:ext cx="1821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# 3 · 验收（26 档）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9442" y="3778568"/>
              <a:ext cx="7610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math/eval_math.py --weight full_sft_math_all_v1 --max_digits 8 --n 25</a:t>
              </a:r>
            </a:p>
          </p:txBody>
        </p:sp>
      </p:grpSp>
      <p:grpSp>
        <p:nvGrpSpPr>
          <p:cNvPr id="22" name="closing-takeaway"/>
          <p:cNvGrpSpPr/>
          <p:nvPr/>
        </p:nvGrpSpPr>
        <p:grpSpPr>
          <a:xfrm>
            <a:off x="609600" y="4419600"/>
            <a:ext cx="10972800" cy="914400"/>
            <a:chOff x="609600" y="4419600"/>
            <a:chExt cx="10972800" cy="914400"/>
          </a:xfrm>
        </p:grpSpPr>
        <p:sp>
          <p:nvSpPr>
            <p:cNvPr id="20" name="Rectangle 20"/>
            <p:cNvSpPr/>
            <p:nvPr/>
          </p:nvSpPr>
          <p:spPr>
            <a:xfrm>
              <a:off x="609600" y="4419600"/>
              <a:ext cx="10972800" cy="914400"/>
            </a:xfrm>
            <a:prstGeom prst="roundRect">
              <a:avLst>
                <a:gd name="adj" fmla="val 12500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5256" y="4796790"/>
              <a:ext cx="72441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fuzz 50,880 例零失败 · 三轮迭代全部可复现 · 已知限制全部归档</a:t>
              </a:r>
            </a:p>
          </p:txBody>
        </p:sp>
      </p:grpSp>
      <p:grpSp>
        <p:nvGrpSpPr>
          <p:cNvPr id="25" name="repo-line"/>
          <p:cNvGrpSpPr/>
          <p:nvPr/>
        </p:nvGrpSpPr>
        <p:grpSpPr>
          <a:xfrm>
            <a:off x="602742" y="5702618"/>
            <a:ext cx="8255489" cy="530733"/>
            <a:chOff x="602742" y="5702618"/>
            <a:chExt cx="8255489" cy="530733"/>
          </a:xfrm>
        </p:grpSpPr>
        <p:sp>
          <p:nvSpPr>
            <p:cNvPr id="23" name="TextBox 23"/>
            <p:cNvSpPr txBox="1"/>
            <p:nvPr/>
          </p:nvSpPr>
          <p:spPr>
            <a:xfrm>
              <a:off x="602742" y="5702618"/>
              <a:ext cx="8255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仓库：docs/数学专用模型训练命令.md（全链路命令）· math/（格式 / 采样 / 评测 / fuzz 工具链）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2742" y="5969318"/>
              <a:ext cx="51205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v3 结果与错例档案：docs/数学专用模型v3结果与错例档案.md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604266" y="64017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349568"/>
            <a:ext cx="5016627" cy="833627"/>
            <a:chOff x="595122" y="349568"/>
            <a:chExt cx="5016627" cy="83362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49568"/>
              <a:ext cx="16699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A · 评测双工具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2579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快速版管方向，全量版管验收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tool-full"/>
          <p:cNvGrpSpPr/>
          <p:nvPr/>
        </p:nvGrpSpPr>
        <p:grpSpPr>
          <a:xfrm>
            <a:off x="609600" y="1333500"/>
            <a:ext cx="5334000" cy="3238500"/>
            <a:chOff x="609600" y="1333500"/>
            <a:chExt cx="5334000" cy="3238500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334000" cy="3238500"/>
            </a:xfrm>
            <a:prstGeom prst="roundRect">
              <a:avLst>
                <a:gd name="adj" fmla="val 3529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6018" y="1650682"/>
              <a:ext cx="22807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全量版 eval_math.py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6780" y="21050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3975 题 · 26 档全覆盖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542" y="25403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用途：验收、错例归档、逐位数分析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542" y="29213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乘除位数可显式外推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3207068"/>
              <a:ext cx="2903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（--mul_digits 6 --div_digits 8）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3683318"/>
              <a:ext cx="2339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--dump 留存逐题原始轨迹，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7542" y="3950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供错例机制分类</a:t>
              </a:r>
            </a:p>
          </p:txBody>
        </p:sp>
      </p:grpSp>
      <p:grpSp>
        <p:nvGrpSpPr>
          <p:cNvPr id="23" name="tool-fast"/>
          <p:cNvGrpSpPr/>
          <p:nvPr/>
        </p:nvGrpSpPr>
        <p:grpSpPr>
          <a:xfrm>
            <a:off x="6248400" y="1333500"/>
            <a:ext cx="5334000" cy="3238500"/>
            <a:chOff x="6248400" y="1333500"/>
            <a:chExt cx="5334000" cy="3238500"/>
          </a:xfrm>
        </p:grpSpPr>
        <p:sp>
          <p:nvSpPr>
            <p:cNvPr id="15" name="Rectangle 15"/>
            <p:cNvSpPr/>
            <p:nvPr/>
          </p:nvSpPr>
          <p:spPr>
            <a:xfrm>
              <a:off x="6248400" y="1333500"/>
              <a:ext cx="5334000" cy="3238500"/>
            </a:xfrm>
            <a:prstGeom prst="roundRect">
              <a:avLst>
                <a:gd name="adj" fmla="val 3529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4818" y="1650682"/>
              <a:ext cx="2922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快速版 eval_math_fast.py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5580" y="2105025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477 题 · 约 1/10 耗时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6342" y="2540318"/>
              <a:ext cx="28397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用途：训练/调参迭代中的方向检查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342" y="29213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乘除默认只测训练范围 4 位，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6342" y="3207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跳过范围外的最长生成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46342" y="36833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小样本弱档读数偏悲观：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46342" y="3950018"/>
              <a:ext cx="34576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76.2%（21 题）vs 全量 93.7%（175 题）</a:t>
              </a:r>
            </a:p>
          </p:txBody>
        </p:sp>
      </p:grpSp>
      <p:grpSp>
        <p:nvGrpSpPr>
          <p:cNvPr id="27" name="shared-band"/>
          <p:cNvGrpSpPr/>
          <p:nvPr/>
        </p:nvGrpSpPr>
        <p:grpSpPr>
          <a:xfrm>
            <a:off x="609600" y="4800600"/>
            <a:ext cx="10972800" cy="952500"/>
            <a:chOff x="609600" y="4800600"/>
            <a:chExt cx="10972800" cy="952500"/>
          </a:xfrm>
        </p:grpSpPr>
        <p:sp>
          <p:nvSpPr>
            <p:cNvPr id="24" name="Rectangle 24"/>
            <p:cNvSpPr/>
            <p:nvPr/>
          </p:nvSpPr>
          <p:spPr>
            <a:xfrm>
              <a:off x="609600" y="4800600"/>
              <a:ext cx="10972800" cy="952500"/>
            </a:xfrm>
            <a:prstGeom prst="roundRect">
              <a:avLst>
                <a:gd name="adj" fmla="val 12000"/>
              </a:avLst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6780" y="5038725"/>
              <a:ext cx="5036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判分口径单点维护：generate_and_score() 两版共用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7542" y="5378768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金标轨迹接线测试防止两套标准漂移——这是"快速版敢信"的前提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04266" y="64017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349568"/>
            <a:ext cx="6989635" cy="833627"/>
            <a:chOff x="595122" y="349568"/>
            <a:chExt cx="6989635" cy="83362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49568"/>
              <a:ext cx="2433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B · 定长 padding 经济学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25792"/>
              <a:ext cx="698963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1344 的 2.33× 成本，换来乘除完整可见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cost-bars"/>
          <p:cNvGrpSpPr/>
          <p:nvPr/>
        </p:nvGrpSpPr>
        <p:grpSpPr>
          <a:xfrm>
            <a:off x="602742" y="1606868"/>
            <a:ext cx="10980268" cy="2394013"/>
            <a:chOff x="602742" y="1606868"/>
            <a:chExt cx="10980268" cy="2394013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1606868"/>
              <a:ext cx="22309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定长 576（v1 · 截断乘除）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885950"/>
              <a:ext cx="4495800" cy="323850"/>
            </a:xfrm>
            <a:prstGeom prst="roundRect">
              <a:avLst>
                <a:gd name="adj" fmla="val 23529"/>
              </a:avLst>
            </a:prstGeom>
            <a:solidFill>
              <a:schemeClr val="accent3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13604" y="1975485"/>
              <a:ext cx="14410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329M token-slots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2502218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定长 1344（v2/v3 · 完整）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2781300"/>
              <a:ext cx="10477500" cy="323850"/>
            </a:xfrm>
            <a:prstGeom prst="roundRect">
              <a:avLst>
                <a:gd name="adj" fmla="val 23529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95304" y="2870835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768M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2742" y="3397568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长度分桶（批内 max，未启用）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3676650"/>
              <a:ext cx="2686050" cy="323850"/>
            </a:xfrm>
            <a:prstGeom prst="roundRect">
              <a:avLst>
                <a:gd name="adj" fmla="val 23529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03854" y="3766185"/>
              <a:ext cx="11600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≈197M（-74%）</a:t>
              </a:r>
            </a:p>
          </p:txBody>
        </p:sp>
      </p:grpSp>
      <p:grpSp>
        <p:nvGrpSpPr>
          <p:cNvPr id="20" name="notes-band"/>
          <p:cNvGrpSpPr/>
          <p:nvPr/>
        </p:nvGrpSpPr>
        <p:grpSpPr>
          <a:xfrm>
            <a:off x="609600" y="4667250"/>
            <a:ext cx="10972800" cy="1428750"/>
            <a:chOff x="609600" y="4667250"/>
            <a:chExt cx="10972800" cy="1428750"/>
          </a:xfrm>
        </p:grpSpPr>
        <p:sp>
          <p:nvSpPr>
            <p:cNvPr id="16" name="Rectangle 16"/>
            <p:cNvSpPr/>
            <p:nvPr/>
          </p:nvSpPr>
          <p:spPr>
            <a:xfrm>
              <a:off x="609600" y="4667250"/>
              <a:ext cx="10972800" cy="14287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7542" y="4902518"/>
              <a:ext cx="8173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需要 1344 的只有一小撮：乘 3×3 以上（max ≈1263）与 2 位除数（max ≈1232）——约占数据 10~16%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7542" y="5207318"/>
              <a:ext cx="6474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加减数学行全部 ≤ ~560；时间变长不是数据需要，是定长 padding 把每行都灌满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7542" y="5645468"/>
              <a:ext cx="60746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取舍：先用定长 1344 保证正确性；长度分桶作为 trainer 侧的后续优化项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604266" y="64017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349568"/>
            <a:ext cx="5783961" cy="833627"/>
            <a:chOff x="595122" y="349568"/>
            <a:chExt cx="5783961" cy="83362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49568"/>
              <a:ext cx="18516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C · 模型真实输出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2579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近等值减法完整轨迹（贪心解码）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trace-block"/>
          <p:cNvGrpSpPr/>
          <p:nvPr/>
        </p:nvGrpSpPr>
        <p:grpSpPr>
          <a:xfrm>
            <a:off x="609600" y="1238250"/>
            <a:ext cx="10972800" cy="4953000"/>
            <a:chOff x="609600" y="1238250"/>
            <a:chExt cx="10972800" cy="4953000"/>
          </a:xfrm>
        </p:grpSpPr>
        <p:sp>
          <p:nvSpPr>
            <p:cNvPr id="6" name="Rectangle 6"/>
            <p:cNvSpPr/>
            <p:nvPr/>
          </p:nvSpPr>
          <p:spPr>
            <a:xfrm>
              <a:off x="609600" y="1238250"/>
              <a:ext cx="10972800" cy="4953000"/>
            </a:xfrm>
            <a:prstGeom prst="roundRect">
              <a:avLst>
                <a:gd name="adj" fmla="val 230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Ellipse 7"/>
            <p:cNvSpPr/>
            <p:nvPr/>
          </p:nvSpPr>
          <p:spPr>
            <a:xfrm>
              <a:off x="819150" y="14097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Ellipse 8"/>
            <p:cNvSpPr/>
            <p:nvPr/>
          </p:nvSpPr>
          <p:spPr>
            <a:xfrm>
              <a:off x="1009650" y="1409700"/>
              <a:ext cx="114300" cy="114300"/>
            </a:xfrm>
            <a:prstGeom prst="ellipse">
              <a:avLst/>
            </a:prstGeom>
            <a:solidFill>
              <a:srgbClr val="D2992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Ellipse 9"/>
            <p:cNvSpPr/>
            <p:nvPr/>
          </p:nvSpPr>
          <p:spPr>
            <a:xfrm>
              <a:off x="1200150" y="14097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442" y="1683068"/>
              <a:ext cx="5200079" cy="4207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先比较 763345 和 763362 的大小</a:t>
              </a:r>
              <a:br>
                <a:rPr dirty="0"/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位数相同，都是 6 位，从最高位逐位比较</a:t>
              </a:r>
              <a:br>
                <a:rPr dirty="0"/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十万位: 7 = 7，相同，还剩 5 位</a:t>
              </a:r>
              <a:br>
                <a:rPr dirty="0"/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万位: 6 = 6，相同，还剩 4 位</a:t>
              </a:r>
              <a:br>
                <a:rPr dirty="0"/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千位: 3 = 3，相同，还剩 3 位</a:t>
              </a:r>
              <a:br>
                <a:rPr dirty="0"/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百位: 3 = 3，相同，还剩 2 位</a:t>
              </a:r>
              <a:br>
                <a:rPr dirty="0"/>
              </a:b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十位: 4 &lt; 6，分出大小，所以 763362 更大</a:t>
              </a:r>
              <a:br>
                <a:rPr dirty="0"/>
              </a:br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763345 &lt; 763362，交换后计算 763362 - 763345</a:t>
              </a:r>
              <a:br>
                <a:rPr dirty="0"/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竖式计算 763362 - 763345</a:t>
              </a:r>
              <a:br>
                <a:rPr dirty="0"/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个位: 2 - 5 - 0 不够减，借1 → 12 - 5 - 0 = 7，写 7 借位 1</a:t>
              </a:r>
              <a:br>
                <a:rPr dirty="0"/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十位: 6 - 4 - 1 = 1，写 1 借位 0</a:t>
              </a:r>
              <a:br>
                <a:rPr dirty="0"/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百位: 3 - 3 - 0 = 0，写 0 借位 0</a:t>
              </a:r>
              <a:br>
                <a:rPr dirty="0"/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千位: 3 - 3 - 0 = 0，写 0 借位 0</a:t>
              </a:r>
              <a:br>
                <a:rPr dirty="0"/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万位: 6 - 6 - 0 = 0，写 0 借位 0</a:t>
              </a:r>
              <a:br>
                <a:rPr dirty="0"/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十万位: 7 - 7 - 0 = 0，写 0 借位 0</a:t>
              </a:r>
              <a:br>
                <a:rPr dirty="0"/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去掉前导零</a:t>
              </a:r>
              <a:br>
                <a:rPr dirty="0"/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逆序: 71</a:t>
              </a:r>
              <a:br>
                <a:rPr dirty="0"/>
              </a:br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答案(2位): 17</a:t>
              </a:r>
              <a:br>
                <a:rPr dirty="0"/>
              </a:br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结果为负: -17</a:t>
              </a:r>
            </a:p>
          </p:txBody>
        </p:sp>
      </p:grpSp>
      <p:grpSp>
        <p:nvGrpSpPr>
          <p:cNvPr id="14" name="footer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604266" y="640175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数学专用模型 · 64M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math_model_share">
  <a:themeElements>
    <a:clrScheme name="math_model_share">
      <a:dk1>
        <a:srgbClr val="E6EDF3"/>
      </a:dk1>
      <a:lt1>
        <a:srgbClr val="0D1117"/>
      </a:lt1>
      <a:dk2>
        <a:srgbClr val="1F497D"/>
      </a:dk2>
      <a:lt2>
        <a:srgbClr val="161B22"/>
      </a:lt2>
      <a:accent1>
        <a:srgbClr val="58A6FF"/>
      </a:accent1>
      <a:accent2>
        <a:srgbClr val="3FB950"/>
      </a:accent2>
      <a:accent3>
        <a:srgbClr val="F78166"/>
      </a:accent3>
      <a:accent4>
        <a:srgbClr val="58A6FF"/>
      </a:accent4>
      <a:accent5>
        <a:srgbClr val="8B949E"/>
      </a:accent5>
      <a:accent6>
        <a:srgbClr val="30363D"/>
      </a:accent6>
      <a:hlink>
        <a:srgbClr val="3FB950"/>
      </a:hlink>
      <a:folHlink>
        <a:srgbClr val="F78166"/>
      </a:folHlink>
    </a:clrScheme>
    <a:fontScheme name="math_model_share">
      <a:maj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h_model_sha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ath_model_share">
  <a:themeElements>
    <a:clrScheme name="math_model_share">
      <a:dk1>
        <a:srgbClr val="E6EDF3"/>
      </a:dk1>
      <a:lt1>
        <a:srgbClr val="0D1117"/>
      </a:lt1>
      <a:dk2>
        <a:srgbClr val="1F497D"/>
      </a:dk2>
      <a:lt2>
        <a:srgbClr val="161B22"/>
      </a:lt2>
      <a:accent1>
        <a:srgbClr val="58A6FF"/>
      </a:accent1>
      <a:accent2>
        <a:srgbClr val="3FB950"/>
      </a:accent2>
      <a:accent3>
        <a:srgbClr val="F78166"/>
      </a:accent3>
      <a:accent4>
        <a:srgbClr val="58A6FF"/>
      </a:accent4>
      <a:accent5>
        <a:srgbClr val="8B949E"/>
      </a:accent5>
      <a:accent6>
        <a:srgbClr val="30363D"/>
      </a:accent6>
      <a:hlink>
        <a:srgbClr val="3FB950"/>
      </a:hlink>
      <a:folHlink>
        <a:srgbClr val="F78166"/>
      </a:folHlink>
    </a:clrScheme>
    <a:fontScheme name="math_model_share">
      <a:maj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h_model_sha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4883</Words>
  <Application>Microsoft Macintosh PowerPoint</Application>
  <PresentationFormat>宽屏</PresentationFormat>
  <Paragraphs>360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Consolas</vt:lpstr>
      <vt:lpstr>math_model_share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T179597</cp:lastModifiedBy>
  <cp:revision>5</cp:revision>
  <dcterms:created xsi:type="dcterms:W3CDTF">2026-09-24T12:58:20Z</dcterms:created>
  <dcterms:modified xsi:type="dcterms:W3CDTF">2026-09-24T14:19:38Z</dcterms:modified>
  <cp:category/>
  <cp:contentStatus/>
  <dc:language>zh-CN</dc:language>
</cp:coreProperties>
</file>