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这一页先给三个数字。三块钱、两小时，就能从零训练出一个六千四百万参数的语言模型，这就是 MiniMind。它把一个大模型从结构到训练链路完整地摊开，所有核心算法都用 PyTorch 原生实现，全部开源。接下来的讲解分两段：先认识这个项目，再钻进它内部，把 Transformer 那一层到底怎么算，一行一行看清楚。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为什么要有这样一个项目？因为今天的大模型动辄数百亿参数，对个人设备来说连部署都遥不可及。而 transformers、trl、peft 这些框架，用十几行代码就能跑完加载模型、加载数据、推理和强化学习的全流程，方便，却也在开发者和底层实现之间竖起一道墙。再加上网上大量一知半解的付费教程，想真正弄懂内部机制反而更难。作者在这里说了一句很实在的话：用乐高自己拼出一架飞机，远比坐在头等舱里飞行更让人兴奋。所以这个项目的起点，是从每一行代码开始，亲手从零训练一个极小的语言模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MiniMind 摊开来看是四件事。第一件是结构代码，Dense 和 MoE 两个版本，主线对齐 Qwen3 生态。第二件是训练链路，从预训练、监督微调、LoRA，一路到人类反馈、AI 反馈和智能体强化学习。第三件是数据，覆盖收集、蒸馏、清洗、去重的全阶段开源数据集。第四件是推理与部署，兼容 transformers、llama.cpp、vllm、ollama，还自带一个 OpenAI 协议的服务端。下面这张表是模型家族的配置：主线 minimind-3 是六千四百万参数、八层、宽度七百六十八；MoE 版本总参数一亿九千八百万，但每个 token 只激活六千四百万。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训练一个模型要走几步？深色的前三段是必做的：预训练让它先学会语言，监督微调让它学会对话格式，LoRA 做低成本微调。浅色的后三段是可选支线：用人类偏好对齐，用 AI 反馈和可验证奖励对齐，最后是智能体强化学习，把模型放进多轮工具调用的环境里。还有一条知识蒸馏支线，用大模型的输出去教小模型。成本上有个很有说服力的对照：只跑 mini 组合的预训练和监督微调，单张三零九零大约两小时、约三块钱，就能得到一个能对话的 Zero 模型；完整组合大约二十二小时。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项目部分到这里。接下来换个视角，从外面走进内核。整段讲解你只需要记住一句话：八层 Transformer，进出的形状完全一样，变的只是内容。后面每一处机制，我们都用「我爱」到「我爱天空」这一条具体例子来验算一次，全篇的代码锚点都指向 model_minimind.py 这个文件。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先看全局。一句话变成下一个词，要经过六步。第一步，分词器把「我爱」变成 id 序列。第二步，Embedding 查表，把每个 id 换成一个七百六十八维的向量。第三步最关键：八层 Transformer，每层做两件事，注意力让 token 之间交换信息，前馈网络对每个 token 独立加工知识，再加上残差和归一化，走完八层，形状一点没变。第四步，最后一次归一化。第五步，输出头把七百六十八维投影到六千四百维，也就是对词表里的每个词打一个分。最后一步，SoftMax 采样出下一个词，再解码回文字。左边这张就是官方结构图，中间那个紫色面板就是其中一层。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看两个入口概念。Embedding 就是一张可学习的表格，六千四百行、七百六十八列，输入一个 id，就抄出对应的一行。它跟输出头共享同一份权重，省下大约四百九十万参数。不过这时候的向量还很笨，位置五的「好」和位置三百的「好」查出来一模一样，位置感和关系都还没进来。注意力就是来补这个的。你可以想成读「小明养了一只猫，它很可爱」：读到「它」的时候你会回看上文，发现指的是「猫」，于是把猫的信息合并进对「它」的理解。注意力把这个过程拆成四步：生成 Q 是我想找什么，生成 K 是每个词能提供什么，打分看两者对不对得上，最后按相关度把内容加权抄过来。Q、K、V 其实是同一个向量经过三个线性层变换出的三重身份。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注意力内部有三处设计值得单独讲。第一处是 GQA，八个 Q 头只配四组 K 和 V，每组被两个 Q 头共享，打分前再复制成八份，KV 的参数和推理缓存都省了一半。第二处是 QK-Norm，对切完头的 Q 和 K 各做一次归一化，V 不做，目的是防止打分数值过大、把 SoftMax 推到饱和区。第三处是 RoPE，把 Q 和 K 在平面上旋转一个与位置成正比的角度，旋转之后的点积天然反映相对距离，V 不旋转，余弦和正弦表在初始化时预计算好，不占参数。这里有个容易踩的坑：结构图上 V 头上那个旋转符号，其实是复制，不是 RoPE。左下角这个公式就是 QK-Norm 用到的均方根归一化。右边是官方用 YaRN 做长文本外推的评测曲线。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这四步是注意力的核心计算。先打分，用 Q 乘 K 的转置再除以根号九十六，得到一个三百四十乘三百四十的矩阵，第 i 行第 j 列就是第 i 个 token 对第 j 个 token 的关注原始分。然后是因果掩码，把上三角全部加上负无穷，SoftMax 之后这些位置的权重就精确变成零，第 i 个 token 只能看它前面的 token，不能偷看答案。左边这个三乘三的小矩阵就是「我爱」这个例子的权重，米色格子上写着负无穷，就是被挡住的位置。为什么用负无穷而不是零？因为零权重不够彻底，负无穷经过 SoftMax 会变成精确的零，信息泄露被完全断绝，这也正是训练时能并行算所有位置损失的前提。最后一步是加权求和，用权重去混合所有人的 V 信息。八个头各看各的角度，拼起来再用输出投影融回七百六十八维主干。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注意力负责谁跟谁有关，前馈网络负责这个内容该怎么理解。SwiGLU 这一行代码就是整张图：一条支路是内容，另一条经过 SiLU 做门控，两者逐元素相乘，等于给每个特征维度装了一个可学习的开关。形状从七百六十八升到两千四百三十二，再降回七百六十八。这里有个反直觉的事实：前馈网络占了单层参数的四分之三还多，左边这个环图里是百分之七十六，比注意力还多，它才是模型的参数大头。再看两个胶水。残差连接先抄一份原始输入，子层加工完再加回去，梯度就能顺着加号原样流回底层，子层也只需要学修正量。RMSNorm 只除以均方根，不减均值也不带偏置，比 LayerNorm 更快更省，全模型出现三处。一层说到底只做两件事：加注意力和加前馈，各自外面套一个归一化。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这一层完整走一遍。输入进来先抄一份残差，接着过第一个归一化，进注意力，然后加回残差，这是第一个加号。关键点在这儿：第二条残差的捷径不是从最初的输入引出，而是从第一个加号之后引出的，两条残差是接力关系，不是并列。接着过第二个归一化，进前馈网络，再加回去，这是第二个加号。八层之后最后一次归一化，输出头把七百六十八维投影到六千四百维，和标签错位对齐，第 i 个位置预测第 i 加一个 token，标签里等于负一百的位置不计损失。八层各自在学什么也有规律：浅层学局部语法，中层学语义，深层学任务级的模式，比如风格和推理链。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最后一个问题：训练和推理到底差在哪？训练时一次喂进三百四十个 token 的整句，并行算所有位置的损失，用因果掩码挡住未来，不需要缓存。推理时先用预填充一次吃进整个提示，「我爱」三个 token 并行，缓存就在这里诞生，三格；之后每步只喂一个新 token，生成「天」缓存变四格，生成「空」变五格，历史部分不再重算。缓存的正本始终是四头版本，GQA 的收益就在这里兑现，生成一千零二十四个 token 大约十二点六兆，换成八头的标准多头注意力就要翻倍。还有一个容易踩的坑：批量推理必须用左填充加注意力掩码，只传 input_ids 不会报错，但回答质量会悄悄变差。说到底，MiniMind 用六千四百万参数和大约三块钱，把这条从文字到下一个词的链路彻底摊开，读懂它的每一行代码，你就读懂了现代大模型的核心机制。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imind-transform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imind-transform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68882e94fd7c9f7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99df65d8a2084dc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8fd7204c5e2a78.jp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6d0da114f25ef78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over-field"/>
          <p:cNvGrpSpPr/>
          <p:nvPr/>
        </p:nvGrpSpPr>
        <p:grpSpPr>
          <a:xfrm>
            <a:off x="6743700" y="-1809750"/>
            <a:ext cx="7620000" cy="9867900"/>
            <a:chOff x="6743700" y="-1809750"/>
            <a:chExt cx="7620000" cy="9867900"/>
          </a:xfrm>
        </p:grpSpPr>
        <p:sp>
          <p:nvSpPr>
            <p:cNvPr id="2" name="Ellipse 2"/>
            <p:cNvSpPr/>
            <p:nvPr/>
          </p:nvSpPr>
          <p:spPr>
            <a:xfrm>
              <a:off x="8362950" y="-1809750"/>
              <a:ext cx="5867400" cy="5867400"/>
            </a:xfrm>
            <a:prstGeom prst="ellipse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601200" y="3009900"/>
              <a:ext cx="4762500" cy="47625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6743700" y="4667250"/>
              <a:ext cx="3390900" cy="33909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</p:grpSp>
      <p:grpSp>
        <p:nvGrpSpPr>
          <p:cNvPr id="9" name="cover-title"/>
          <p:cNvGrpSpPr/>
          <p:nvPr/>
        </p:nvGrpSpPr>
        <p:grpSpPr>
          <a:xfrm>
            <a:off x="590550" y="1683068"/>
            <a:ext cx="7139178" cy="2775394"/>
            <a:chOff x="590550" y="1683068"/>
            <a:chExt cx="7139178" cy="2775394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683068"/>
              <a:ext cx="3535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MINIMIND · 从 0 开始训练的大模型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2204085"/>
              <a:ext cx="6393942" cy="1962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750"/>
                </a:lnSpc>
              </a:pPr>
              <a:r>
                <a:rPr lang="zh-CN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块钱、2 小时，</a:t>
              </a:r>
              <a:br/>
              <a:r>
                <a:rPr lang="zh-CN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 0 训出 64M 模型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3989070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读懂每一行代码，就读懂了现代大模型的核心机制</a:t>
              </a:r>
            </a:p>
          </p:txBody>
        </p:sp>
      </p:grpSp>
      <p:grpSp>
        <p:nvGrpSpPr>
          <p:cNvPr id="18" name="cover-meta"/>
          <p:cNvGrpSpPr/>
          <p:nvPr/>
        </p:nvGrpSpPr>
        <p:grpSpPr>
          <a:xfrm>
            <a:off x="609600" y="4762500"/>
            <a:ext cx="10979658" cy="1070801"/>
            <a:chOff x="609600" y="4762500"/>
            <a:chExt cx="10979658" cy="1070801"/>
          </a:xfrm>
        </p:grpSpPr>
        <p:sp>
          <p:nvSpPr>
            <p:cNvPr id="10" name="Line 10"/>
            <p:cNvSpPr/>
            <p:nvPr/>
          </p:nvSpPr>
          <p:spPr>
            <a:xfrm>
              <a:off x="609600" y="4762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991100"/>
              <a:ext cx="533400" cy="5334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285494" y="5028248"/>
              <a:ext cx="11519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MiniMind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8542" y="5359718"/>
              <a:ext cx="4425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Apache 2.0 开源 · 全部核心算法由 PyTorch 原生实现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0248900" y="5090593"/>
              <a:ext cx="342900" cy="335728"/>
            </a:xfrm>
            <a:custGeom>
              <a:avLst/>
              <a:gdLst/>
              <a:ahLst/>
              <a:cxnLst/>
              <a:rect l="l" t="t" r="r" b="b"/>
              <a:pathLst>
                <a:path w="342900" h="335728">
                  <a:moveTo>
                    <a:pt x="171450" y="0"/>
                  </a:moveTo>
                  <a:cubicBezTo>
                    <a:pt x="76724" y="0"/>
                    <a:pt x="0" y="76767"/>
                    <a:pt x="0" y="171450"/>
                  </a:cubicBezTo>
                  <a:cubicBezTo>
                    <a:pt x="0" y="247217"/>
                    <a:pt x="49120" y="311467"/>
                    <a:pt x="117229" y="334113"/>
                  </a:cubicBezTo>
                  <a:cubicBezTo>
                    <a:pt x="125801" y="335728"/>
                    <a:pt x="128945" y="330427"/>
                    <a:pt x="128945" y="325869"/>
                  </a:cubicBezTo>
                  <a:cubicBezTo>
                    <a:pt x="128945" y="321797"/>
                    <a:pt x="128802" y="311010"/>
                    <a:pt x="128730" y="296723"/>
                  </a:cubicBezTo>
                  <a:cubicBezTo>
                    <a:pt x="81039" y="307067"/>
                    <a:pt x="70980" y="273720"/>
                    <a:pt x="70980" y="273720"/>
                  </a:cubicBezTo>
                  <a:cubicBezTo>
                    <a:pt x="63179" y="253932"/>
                    <a:pt x="51906" y="248645"/>
                    <a:pt x="51906" y="248645"/>
                  </a:cubicBezTo>
                  <a:cubicBezTo>
                    <a:pt x="36376" y="238015"/>
                    <a:pt x="53107" y="238230"/>
                    <a:pt x="53107" y="238230"/>
                  </a:cubicBezTo>
                  <a:cubicBezTo>
                    <a:pt x="70323" y="239430"/>
                    <a:pt x="79367" y="255889"/>
                    <a:pt x="79367" y="255889"/>
                  </a:cubicBezTo>
                  <a:cubicBezTo>
                    <a:pt x="94655" y="282107"/>
                    <a:pt x="119501" y="274534"/>
                    <a:pt x="129302" y="270148"/>
                  </a:cubicBezTo>
                  <a:cubicBezTo>
                    <a:pt x="130845" y="259061"/>
                    <a:pt x="135260" y="251503"/>
                    <a:pt x="140160" y="247217"/>
                  </a:cubicBezTo>
                  <a:cubicBezTo>
                    <a:pt x="102084" y="242930"/>
                    <a:pt x="62065" y="228186"/>
                    <a:pt x="62065" y="162492"/>
                  </a:cubicBezTo>
                  <a:cubicBezTo>
                    <a:pt x="62065" y="143775"/>
                    <a:pt x="68709" y="128487"/>
                    <a:pt x="79710" y="116486"/>
                  </a:cubicBezTo>
                  <a:cubicBezTo>
                    <a:pt x="77781" y="112157"/>
                    <a:pt x="71995" y="94726"/>
                    <a:pt x="81210" y="71109"/>
                  </a:cubicBezTo>
                  <a:cubicBezTo>
                    <a:pt x="81210" y="71109"/>
                    <a:pt x="95569" y="66508"/>
                    <a:pt x="128359" y="88683"/>
                  </a:cubicBezTo>
                  <a:cubicBezTo>
                    <a:pt x="142075" y="84868"/>
                    <a:pt x="156648" y="82982"/>
                    <a:pt x="171221" y="82896"/>
                  </a:cubicBezTo>
                  <a:cubicBezTo>
                    <a:pt x="185795" y="82982"/>
                    <a:pt x="200368" y="84868"/>
                    <a:pt x="214084" y="88683"/>
                  </a:cubicBezTo>
                  <a:cubicBezTo>
                    <a:pt x="246659" y="66508"/>
                    <a:pt x="261018" y="71109"/>
                    <a:pt x="261018" y="71109"/>
                  </a:cubicBezTo>
                  <a:cubicBezTo>
                    <a:pt x="270234" y="94726"/>
                    <a:pt x="264447" y="112157"/>
                    <a:pt x="262733" y="116486"/>
                  </a:cubicBezTo>
                  <a:cubicBezTo>
                    <a:pt x="273663" y="128487"/>
                    <a:pt x="280306" y="143775"/>
                    <a:pt x="280306" y="162492"/>
                  </a:cubicBezTo>
                  <a:cubicBezTo>
                    <a:pt x="280306" y="228357"/>
                    <a:pt x="240230" y="242859"/>
                    <a:pt x="202082" y="247074"/>
                  </a:cubicBezTo>
                  <a:cubicBezTo>
                    <a:pt x="208083" y="252217"/>
                    <a:pt x="213655" y="262733"/>
                    <a:pt x="213655" y="278792"/>
                  </a:cubicBezTo>
                  <a:cubicBezTo>
                    <a:pt x="213655" y="301738"/>
                    <a:pt x="213441" y="320169"/>
                    <a:pt x="213441" y="325741"/>
                  </a:cubicBezTo>
                  <a:cubicBezTo>
                    <a:pt x="213441" y="330241"/>
                    <a:pt x="216441" y="335599"/>
                    <a:pt x="225228" y="333885"/>
                  </a:cubicBezTo>
                  <a:cubicBezTo>
                    <a:pt x="293822" y="311396"/>
                    <a:pt x="342900" y="247102"/>
                    <a:pt x="342900" y="171450"/>
                  </a:cubicBezTo>
                  <a:cubicBezTo>
                    <a:pt x="342900" y="76767"/>
                    <a:pt x="266133" y="0"/>
                    <a:pt x="171450" y="0"/>
                  </a:cubicBezTo>
                </a:path>
              </a:pathLst>
            </a:custGeom>
            <a:solidFill>
              <a:srgbClr val="5C6672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0738256" y="5102495"/>
              <a:ext cx="354773" cy="319097"/>
            </a:xfrm>
            <a:custGeom>
              <a:avLst/>
              <a:gdLst/>
              <a:ahLst/>
              <a:cxnLst/>
              <a:rect l="l" t="t" r="r" b="b"/>
              <a:pathLst>
                <a:path w="354773" h="319097">
                  <a:moveTo>
                    <a:pt x="177751" y="0"/>
                  </a:moveTo>
                  <a:cubicBezTo>
                    <a:pt x="95312" y="0"/>
                    <a:pt x="28461" y="66394"/>
                    <a:pt x="28461" y="148276"/>
                  </a:cubicBezTo>
                  <a:cubicBezTo>
                    <a:pt x="28461" y="164163"/>
                    <a:pt x="31004" y="179437"/>
                    <a:pt x="35647" y="193781"/>
                  </a:cubicBezTo>
                  <a:cubicBezTo>
                    <a:pt x="36562" y="190610"/>
                    <a:pt x="38548" y="187438"/>
                    <a:pt x="41591" y="185537"/>
                  </a:cubicBezTo>
                  <a:cubicBezTo>
                    <a:pt x="43827" y="184115"/>
                    <a:pt x="46427" y="183370"/>
                    <a:pt x="49078" y="183394"/>
                  </a:cubicBezTo>
                  <a:cubicBezTo>
                    <a:pt x="53264" y="183394"/>
                    <a:pt x="57421" y="185166"/>
                    <a:pt x="61079" y="187452"/>
                  </a:cubicBezTo>
                  <a:cubicBezTo>
                    <a:pt x="65051" y="189924"/>
                    <a:pt x="67937" y="193281"/>
                    <a:pt x="71223" y="197368"/>
                  </a:cubicBezTo>
                  <a:cubicBezTo>
                    <a:pt x="74452" y="201397"/>
                    <a:pt x="77767" y="206097"/>
                    <a:pt x="80996" y="210955"/>
                  </a:cubicBezTo>
                  <a:lnTo>
                    <a:pt x="80996" y="210755"/>
                  </a:lnTo>
                  <a:cubicBezTo>
                    <a:pt x="81239" y="206126"/>
                    <a:pt x="82510" y="201868"/>
                    <a:pt x="84768" y="198268"/>
                  </a:cubicBezTo>
                  <a:cubicBezTo>
                    <a:pt x="87025" y="194667"/>
                    <a:pt x="90526" y="191310"/>
                    <a:pt x="95655" y="190510"/>
                  </a:cubicBezTo>
                  <a:cubicBezTo>
                    <a:pt x="99941" y="189838"/>
                    <a:pt x="104170" y="191367"/>
                    <a:pt x="106899" y="193410"/>
                  </a:cubicBezTo>
                  <a:cubicBezTo>
                    <a:pt x="109628" y="195453"/>
                    <a:pt x="111328" y="197882"/>
                    <a:pt x="112614" y="200082"/>
                  </a:cubicBezTo>
                  <a:cubicBezTo>
                    <a:pt x="114757" y="203754"/>
                    <a:pt x="115643" y="206769"/>
                    <a:pt x="115943" y="207826"/>
                  </a:cubicBezTo>
                  <a:cubicBezTo>
                    <a:pt x="116086" y="208197"/>
                    <a:pt x="125273" y="230000"/>
                    <a:pt x="139617" y="244116"/>
                  </a:cubicBezTo>
                  <a:cubicBezTo>
                    <a:pt x="148419" y="252760"/>
                    <a:pt x="154048" y="261590"/>
                    <a:pt x="155077" y="271434"/>
                  </a:cubicBezTo>
                  <a:cubicBezTo>
                    <a:pt x="155862" y="279106"/>
                    <a:pt x="153705" y="286564"/>
                    <a:pt x="149647" y="293894"/>
                  </a:cubicBezTo>
                  <a:cubicBezTo>
                    <a:pt x="158748" y="295623"/>
                    <a:pt x="168135" y="296566"/>
                    <a:pt x="177751" y="296566"/>
                  </a:cubicBezTo>
                  <a:cubicBezTo>
                    <a:pt x="187138" y="296566"/>
                    <a:pt x="196296" y="295666"/>
                    <a:pt x="205197" y="294022"/>
                  </a:cubicBezTo>
                  <a:cubicBezTo>
                    <a:pt x="201097" y="286636"/>
                    <a:pt x="198911" y="279149"/>
                    <a:pt x="199711" y="271434"/>
                  </a:cubicBezTo>
                  <a:cubicBezTo>
                    <a:pt x="200711" y="261576"/>
                    <a:pt x="206354" y="252760"/>
                    <a:pt x="215155" y="244102"/>
                  </a:cubicBezTo>
                  <a:cubicBezTo>
                    <a:pt x="229500" y="230000"/>
                    <a:pt x="238687" y="208197"/>
                    <a:pt x="238830" y="207826"/>
                  </a:cubicBezTo>
                  <a:cubicBezTo>
                    <a:pt x="239130" y="206769"/>
                    <a:pt x="240016" y="203754"/>
                    <a:pt x="242159" y="200082"/>
                  </a:cubicBezTo>
                  <a:cubicBezTo>
                    <a:pt x="243445" y="197882"/>
                    <a:pt x="245131" y="195467"/>
                    <a:pt x="247874" y="193410"/>
                  </a:cubicBezTo>
                  <a:cubicBezTo>
                    <a:pt x="251101" y="191016"/>
                    <a:pt x="255135" y="189975"/>
                    <a:pt x="259118" y="190510"/>
                  </a:cubicBezTo>
                  <a:cubicBezTo>
                    <a:pt x="264247" y="191310"/>
                    <a:pt x="267748" y="194653"/>
                    <a:pt x="270005" y="198268"/>
                  </a:cubicBezTo>
                  <a:cubicBezTo>
                    <a:pt x="272263" y="201882"/>
                    <a:pt x="273534" y="206126"/>
                    <a:pt x="273791" y="210755"/>
                  </a:cubicBezTo>
                  <a:lnTo>
                    <a:pt x="273791" y="210969"/>
                  </a:lnTo>
                  <a:cubicBezTo>
                    <a:pt x="277006" y="206111"/>
                    <a:pt x="280321" y="201397"/>
                    <a:pt x="283550" y="197368"/>
                  </a:cubicBezTo>
                  <a:cubicBezTo>
                    <a:pt x="286836" y="193281"/>
                    <a:pt x="289722" y="189938"/>
                    <a:pt x="293694" y="187452"/>
                  </a:cubicBezTo>
                  <a:cubicBezTo>
                    <a:pt x="297366" y="185166"/>
                    <a:pt x="301509" y="183394"/>
                    <a:pt x="305695" y="183380"/>
                  </a:cubicBezTo>
                  <a:cubicBezTo>
                    <a:pt x="308346" y="183368"/>
                    <a:pt x="310944" y="184117"/>
                    <a:pt x="313182" y="185537"/>
                  </a:cubicBezTo>
                  <a:cubicBezTo>
                    <a:pt x="316440" y="187581"/>
                    <a:pt x="318511" y="191081"/>
                    <a:pt x="319326" y="194467"/>
                  </a:cubicBezTo>
                  <a:lnTo>
                    <a:pt x="319411" y="195039"/>
                  </a:lnTo>
                  <a:cubicBezTo>
                    <a:pt x="324464" y="179965"/>
                    <a:pt x="327040" y="164173"/>
                    <a:pt x="327041" y="148276"/>
                  </a:cubicBezTo>
                  <a:cubicBezTo>
                    <a:pt x="327041" y="66394"/>
                    <a:pt x="260204" y="0"/>
                    <a:pt x="177751" y="0"/>
                  </a:cubicBezTo>
                  <a:moveTo>
                    <a:pt x="124916" y="77910"/>
                  </a:moveTo>
                  <a:cubicBezTo>
                    <a:pt x="128465" y="77882"/>
                    <a:pt x="131965" y="78736"/>
                    <a:pt x="135103" y="80396"/>
                  </a:cubicBezTo>
                  <a:cubicBezTo>
                    <a:pt x="140090" y="83036"/>
                    <a:pt x="143823" y="87552"/>
                    <a:pt x="145477" y="92947"/>
                  </a:cubicBezTo>
                  <a:cubicBezTo>
                    <a:pt x="147131" y="98343"/>
                    <a:pt x="146570" y="104175"/>
                    <a:pt x="143918" y="109156"/>
                  </a:cubicBezTo>
                  <a:cubicBezTo>
                    <a:pt x="141303" y="114057"/>
                    <a:pt x="133031" y="106099"/>
                    <a:pt x="128173" y="107813"/>
                  </a:cubicBezTo>
                  <a:cubicBezTo>
                    <a:pt x="122744" y="109728"/>
                    <a:pt x="120572" y="120872"/>
                    <a:pt x="115072" y="117958"/>
                  </a:cubicBezTo>
                  <a:cubicBezTo>
                    <a:pt x="106429" y="113411"/>
                    <a:pt x="101999" y="103559"/>
                    <a:pt x="104333" y="94077"/>
                  </a:cubicBezTo>
                  <a:cubicBezTo>
                    <a:pt x="106668" y="84595"/>
                    <a:pt x="115165" y="77925"/>
                    <a:pt x="124930" y="77910"/>
                  </a:cubicBezTo>
                  <a:moveTo>
                    <a:pt x="231886" y="77910"/>
                  </a:moveTo>
                  <a:cubicBezTo>
                    <a:pt x="241649" y="77932"/>
                    <a:pt x="250140" y="84604"/>
                    <a:pt x="252470" y="94084"/>
                  </a:cubicBezTo>
                  <a:cubicBezTo>
                    <a:pt x="254800" y="103564"/>
                    <a:pt x="250370" y="113412"/>
                    <a:pt x="241730" y="117958"/>
                  </a:cubicBezTo>
                  <a:cubicBezTo>
                    <a:pt x="236230" y="120872"/>
                    <a:pt x="234072" y="109728"/>
                    <a:pt x="228643" y="107813"/>
                  </a:cubicBezTo>
                  <a:cubicBezTo>
                    <a:pt x="223785" y="106099"/>
                    <a:pt x="215498" y="114057"/>
                    <a:pt x="212884" y="109156"/>
                  </a:cubicBezTo>
                  <a:cubicBezTo>
                    <a:pt x="210232" y="104175"/>
                    <a:pt x="209671" y="98343"/>
                    <a:pt x="211325" y="92947"/>
                  </a:cubicBezTo>
                  <a:cubicBezTo>
                    <a:pt x="212979" y="87552"/>
                    <a:pt x="216711" y="83036"/>
                    <a:pt x="221699" y="80396"/>
                  </a:cubicBezTo>
                  <a:cubicBezTo>
                    <a:pt x="224837" y="78736"/>
                    <a:pt x="228337" y="77882"/>
                    <a:pt x="231886" y="77910"/>
                  </a:cubicBezTo>
                  <a:moveTo>
                    <a:pt x="79296" y="100055"/>
                  </a:moveTo>
                  <a:cubicBezTo>
                    <a:pt x="86875" y="100055"/>
                    <a:pt x="93019" y="106199"/>
                    <a:pt x="93019" y="113779"/>
                  </a:cubicBezTo>
                  <a:cubicBezTo>
                    <a:pt x="93019" y="121358"/>
                    <a:pt x="86875" y="127502"/>
                    <a:pt x="79296" y="127502"/>
                  </a:cubicBezTo>
                  <a:cubicBezTo>
                    <a:pt x="71720" y="127502"/>
                    <a:pt x="65580" y="121361"/>
                    <a:pt x="65580" y="113786"/>
                  </a:cubicBezTo>
                  <a:cubicBezTo>
                    <a:pt x="65580" y="106211"/>
                    <a:pt x="71720" y="100070"/>
                    <a:pt x="79296" y="100070"/>
                  </a:cubicBezTo>
                  <a:moveTo>
                    <a:pt x="277006" y="100070"/>
                  </a:moveTo>
                  <a:cubicBezTo>
                    <a:pt x="284581" y="100070"/>
                    <a:pt x="290722" y="106211"/>
                    <a:pt x="290722" y="113786"/>
                  </a:cubicBezTo>
                  <a:cubicBezTo>
                    <a:pt x="290722" y="121361"/>
                    <a:pt x="284581" y="127502"/>
                    <a:pt x="277006" y="127502"/>
                  </a:cubicBezTo>
                  <a:cubicBezTo>
                    <a:pt x="269431" y="127502"/>
                    <a:pt x="263290" y="121361"/>
                    <a:pt x="263290" y="113786"/>
                  </a:cubicBezTo>
                  <a:cubicBezTo>
                    <a:pt x="263290" y="106211"/>
                    <a:pt x="269431" y="100070"/>
                    <a:pt x="277006" y="100070"/>
                  </a:cubicBezTo>
                  <a:moveTo>
                    <a:pt x="127230" y="147561"/>
                  </a:moveTo>
                  <a:cubicBezTo>
                    <a:pt x="135631" y="147704"/>
                    <a:pt x="155305" y="164092"/>
                    <a:pt x="178265" y="164192"/>
                  </a:cubicBezTo>
                  <a:cubicBezTo>
                    <a:pt x="201225" y="164092"/>
                    <a:pt x="220899" y="147690"/>
                    <a:pt x="229300" y="147561"/>
                  </a:cubicBezTo>
                  <a:cubicBezTo>
                    <a:pt x="232100" y="147518"/>
                    <a:pt x="233658" y="149276"/>
                    <a:pt x="233658" y="154048"/>
                  </a:cubicBezTo>
                  <a:cubicBezTo>
                    <a:pt x="233658" y="166707"/>
                    <a:pt x="227600" y="187309"/>
                    <a:pt x="211326" y="199796"/>
                  </a:cubicBezTo>
                  <a:cubicBezTo>
                    <a:pt x="208183" y="188995"/>
                    <a:pt x="191381" y="180280"/>
                    <a:pt x="188038" y="180937"/>
                  </a:cubicBezTo>
                  <a:cubicBezTo>
                    <a:pt x="187933" y="180946"/>
                    <a:pt x="187838" y="180975"/>
                    <a:pt x="187752" y="181023"/>
                  </a:cubicBezTo>
                  <a:lnTo>
                    <a:pt x="187123" y="181394"/>
                  </a:lnTo>
                  <a:lnTo>
                    <a:pt x="186981" y="181508"/>
                  </a:lnTo>
                  <a:lnTo>
                    <a:pt x="186552" y="181851"/>
                  </a:lnTo>
                  <a:cubicBezTo>
                    <a:pt x="186380" y="182013"/>
                    <a:pt x="186214" y="182185"/>
                    <a:pt x="186052" y="182366"/>
                  </a:cubicBezTo>
                  <a:lnTo>
                    <a:pt x="185595" y="182937"/>
                  </a:lnTo>
                  <a:cubicBezTo>
                    <a:pt x="185296" y="183351"/>
                    <a:pt x="185019" y="183780"/>
                    <a:pt x="184766" y="184223"/>
                  </a:cubicBezTo>
                  <a:lnTo>
                    <a:pt x="184566" y="184580"/>
                  </a:lnTo>
                  <a:cubicBezTo>
                    <a:pt x="184099" y="185418"/>
                    <a:pt x="183575" y="186323"/>
                    <a:pt x="182994" y="187295"/>
                  </a:cubicBezTo>
                  <a:cubicBezTo>
                    <a:pt x="182639" y="187875"/>
                    <a:pt x="182243" y="188429"/>
                    <a:pt x="181808" y="188952"/>
                  </a:cubicBezTo>
                  <a:cubicBezTo>
                    <a:pt x="181076" y="189893"/>
                    <a:pt x="180248" y="190755"/>
                    <a:pt x="179337" y="191524"/>
                  </a:cubicBezTo>
                  <a:cubicBezTo>
                    <a:pt x="179003" y="191800"/>
                    <a:pt x="178646" y="192076"/>
                    <a:pt x="178265" y="192353"/>
                  </a:cubicBezTo>
                  <a:cubicBezTo>
                    <a:pt x="176919" y="191362"/>
                    <a:pt x="175713" y="190194"/>
                    <a:pt x="174679" y="188881"/>
                  </a:cubicBezTo>
                  <a:cubicBezTo>
                    <a:pt x="174284" y="188395"/>
                    <a:pt x="173921" y="187885"/>
                    <a:pt x="173593" y="187352"/>
                  </a:cubicBezTo>
                  <a:cubicBezTo>
                    <a:pt x="171821" y="184594"/>
                    <a:pt x="171064" y="182166"/>
                    <a:pt x="168778" y="181008"/>
                  </a:cubicBezTo>
                  <a:cubicBezTo>
                    <a:pt x="168292" y="180780"/>
                    <a:pt x="167292" y="180894"/>
                    <a:pt x="165921" y="181323"/>
                  </a:cubicBezTo>
                  <a:cubicBezTo>
                    <a:pt x="165025" y="181608"/>
                    <a:pt x="163997" y="182023"/>
                    <a:pt x="162835" y="182566"/>
                  </a:cubicBezTo>
                  <a:cubicBezTo>
                    <a:pt x="162263" y="182832"/>
                    <a:pt x="161668" y="183132"/>
                    <a:pt x="161049" y="183466"/>
                  </a:cubicBezTo>
                  <a:lnTo>
                    <a:pt x="159191" y="184523"/>
                  </a:lnTo>
                  <a:cubicBezTo>
                    <a:pt x="158553" y="184904"/>
                    <a:pt x="157905" y="185314"/>
                    <a:pt x="157248" y="185752"/>
                  </a:cubicBezTo>
                  <a:cubicBezTo>
                    <a:pt x="156593" y="186191"/>
                    <a:pt x="155950" y="186649"/>
                    <a:pt x="155319" y="187123"/>
                  </a:cubicBezTo>
                  <a:cubicBezTo>
                    <a:pt x="154023" y="188095"/>
                    <a:pt x="152783" y="189140"/>
                    <a:pt x="151605" y="190252"/>
                  </a:cubicBezTo>
                  <a:cubicBezTo>
                    <a:pt x="151009" y="190804"/>
                    <a:pt x="150437" y="191381"/>
                    <a:pt x="149890" y="191981"/>
                  </a:cubicBezTo>
                  <a:cubicBezTo>
                    <a:pt x="149360" y="192569"/>
                    <a:pt x="148855" y="193180"/>
                    <a:pt x="148376" y="193810"/>
                  </a:cubicBezTo>
                  <a:lnTo>
                    <a:pt x="148347" y="193839"/>
                  </a:lnTo>
                  <a:cubicBezTo>
                    <a:pt x="147894" y="194450"/>
                    <a:pt x="147465" y="195079"/>
                    <a:pt x="147061" y="195724"/>
                  </a:cubicBezTo>
                  <a:lnTo>
                    <a:pt x="147047" y="195739"/>
                  </a:lnTo>
                  <a:cubicBezTo>
                    <a:pt x="146448" y="196697"/>
                    <a:pt x="145946" y="197711"/>
                    <a:pt x="145547" y="198768"/>
                  </a:cubicBezTo>
                  <a:cubicBezTo>
                    <a:pt x="145423" y="199111"/>
                    <a:pt x="145309" y="199458"/>
                    <a:pt x="145204" y="199811"/>
                  </a:cubicBezTo>
                  <a:cubicBezTo>
                    <a:pt x="128930" y="187309"/>
                    <a:pt x="122873" y="166707"/>
                    <a:pt x="122873" y="154048"/>
                  </a:cubicBezTo>
                  <a:cubicBezTo>
                    <a:pt x="122873" y="149276"/>
                    <a:pt x="124430" y="147518"/>
                    <a:pt x="127230" y="147561"/>
                  </a:cubicBezTo>
                  <a:moveTo>
                    <a:pt x="139175" y="295494"/>
                  </a:moveTo>
                  <a:cubicBezTo>
                    <a:pt x="150947" y="278492"/>
                    <a:pt x="150119" y="265747"/>
                    <a:pt x="133960" y="249860"/>
                  </a:cubicBezTo>
                  <a:cubicBezTo>
                    <a:pt x="117815" y="233972"/>
                    <a:pt x="108399" y="210741"/>
                    <a:pt x="108399" y="210741"/>
                  </a:cubicBezTo>
                  <a:cubicBezTo>
                    <a:pt x="108399" y="210741"/>
                    <a:pt x="104885" y="197239"/>
                    <a:pt x="96884" y="198482"/>
                  </a:cubicBezTo>
                  <a:cubicBezTo>
                    <a:pt x="88883" y="199725"/>
                    <a:pt x="83025" y="219899"/>
                    <a:pt x="99770" y="232229"/>
                  </a:cubicBezTo>
                  <a:cubicBezTo>
                    <a:pt x="116529" y="244573"/>
                    <a:pt x="96441" y="252946"/>
                    <a:pt x="89983" y="241373"/>
                  </a:cubicBezTo>
                  <a:cubicBezTo>
                    <a:pt x="83553" y="229772"/>
                    <a:pt x="65937" y="199996"/>
                    <a:pt x="56807" y="194296"/>
                  </a:cubicBezTo>
                  <a:cubicBezTo>
                    <a:pt x="47677" y="188595"/>
                    <a:pt x="41248" y="191795"/>
                    <a:pt x="43405" y="203540"/>
                  </a:cubicBezTo>
                  <a:cubicBezTo>
                    <a:pt x="45563" y="215284"/>
                    <a:pt x="83725" y="243730"/>
                    <a:pt x="80010" y="249888"/>
                  </a:cubicBezTo>
                  <a:cubicBezTo>
                    <a:pt x="76295" y="256046"/>
                    <a:pt x="63208" y="242659"/>
                    <a:pt x="63208" y="242659"/>
                  </a:cubicBezTo>
                  <a:cubicBezTo>
                    <a:pt x="63208" y="242659"/>
                    <a:pt x="22260" y="205983"/>
                    <a:pt x="13345" y="215541"/>
                  </a:cubicBezTo>
                  <a:cubicBezTo>
                    <a:pt x="4429" y="225100"/>
                    <a:pt x="20103" y="233115"/>
                    <a:pt x="42448" y="246402"/>
                  </a:cubicBezTo>
                  <a:cubicBezTo>
                    <a:pt x="64794" y="259718"/>
                    <a:pt x="66537" y="263233"/>
                    <a:pt x="63365" y="268262"/>
                  </a:cubicBezTo>
                  <a:cubicBezTo>
                    <a:pt x="60193" y="273291"/>
                    <a:pt x="10859" y="232386"/>
                    <a:pt x="6215" y="249731"/>
                  </a:cubicBezTo>
                  <a:cubicBezTo>
                    <a:pt x="1600" y="267076"/>
                    <a:pt x="56564" y="272120"/>
                    <a:pt x="53178" y="284093"/>
                  </a:cubicBezTo>
                  <a:cubicBezTo>
                    <a:pt x="49778" y="296080"/>
                    <a:pt x="14459" y="261418"/>
                    <a:pt x="7229" y="274920"/>
                  </a:cubicBezTo>
                  <a:cubicBezTo>
                    <a:pt x="0" y="288436"/>
                    <a:pt x="57093" y="304295"/>
                    <a:pt x="57550" y="304409"/>
                  </a:cubicBezTo>
                  <a:cubicBezTo>
                    <a:pt x="75981" y="309124"/>
                    <a:pt x="122815" y="319097"/>
                    <a:pt x="139175" y="295494"/>
                  </a:cubicBezTo>
                  <a:moveTo>
                    <a:pt x="215598" y="295494"/>
                  </a:moveTo>
                  <a:cubicBezTo>
                    <a:pt x="203825" y="278492"/>
                    <a:pt x="204654" y="265747"/>
                    <a:pt x="220813" y="249860"/>
                  </a:cubicBezTo>
                  <a:cubicBezTo>
                    <a:pt x="236958" y="233972"/>
                    <a:pt x="246374" y="210741"/>
                    <a:pt x="246374" y="210741"/>
                  </a:cubicBezTo>
                  <a:cubicBezTo>
                    <a:pt x="246374" y="210741"/>
                    <a:pt x="249888" y="197239"/>
                    <a:pt x="257889" y="198482"/>
                  </a:cubicBezTo>
                  <a:cubicBezTo>
                    <a:pt x="265890" y="199725"/>
                    <a:pt x="271748" y="219899"/>
                    <a:pt x="255003" y="232229"/>
                  </a:cubicBezTo>
                  <a:cubicBezTo>
                    <a:pt x="238244" y="244573"/>
                    <a:pt x="258332" y="252946"/>
                    <a:pt x="264790" y="241373"/>
                  </a:cubicBezTo>
                  <a:cubicBezTo>
                    <a:pt x="271234" y="229772"/>
                    <a:pt x="288836" y="199996"/>
                    <a:pt x="297966" y="194296"/>
                  </a:cubicBezTo>
                  <a:cubicBezTo>
                    <a:pt x="307096" y="188595"/>
                    <a:pt x="313525" y="191795"/>
                    <a:pt x="311367" y="203540"/>
                  </a:cubicBezTo>
                  <a:cubicBezTo>
                    <a:pt x="309210" y="215284"/>
                    <a:pt x="271048" y="243730"/>
                    <a:pt x="274763" y="249888"/>
                  </a:cubicBezTo>
                  <a:cubicBezTo>
                    <a:pt x="278478" y="256046"/>
                    <a:pt x="291565" y="242659"/>
                    <a:pt x="291565" y="242659"/>
                  </a:cubicBezTo>
                  <a:cubicBezTo>
                    <a:pt x="291565" y="242659"/>
                    <a:pt x="332513" y="205983"/>
                    <a:pt x="341428" y="215541"/>
                  </a:cubicBezTo>
                  <a:cubicBezTo>
                    <a:pt x="350344" y="225100"/>
                    <a:pt x="334670" y="233115"/>
                    <a:pt x="312325" y="246402"/>
                  </a:cubicBezTo>
                  <a:cubicBezTo>
                    <a:pt x="289979" y="259718"/>
                    <a:pt x="288236" y="263233"/>
                    <a:pt x="291408" y="268262"/>
                  </a:cubicBezTo>
                  <a:cubicBezTo>
                    <a:pt x="294580" y="273291"/>
                    <a:pt x="343914" y="232386"/>
                    <a:pt x="348558" y="249731"/>
                  </a:cubicBezTo>
                  <a:cubicBezTo>
                    <a:pt x="353173" y="267076"/>
                    <a:pt x="298209" y="272120"/>
                    <a:pt x="301595" y="284093"/>
                  </a:cubicBezTo>
                  <a:cubicBezTo>
                    <a:pt x="304995" y="296080"/>
                    <a:pt x="340314" y="261418"/>
                    <a:pt x="347543" y="274920"/>
                  </a:cubicBezTo>
                  <a:cubicBezTo>
                    <a:pt x="354773" y="288436"/>
                    <a:pt x="297680" y="304295"/>
                    <a:pt x="297223" y="304409"/>
                  </a:cubicBezTo>
                  <a:cubicBezTo>
                    <a:pt x="278792" y="309124"/>
                    <a:pt x="231958" y="319097"/>
                    <a:pt x="215598" y="295494"/>
                  </a:cubicBezTo>
                </a:path>
              </a:pathLst>
            </a:custGeom>
            <a:solidFill>
              <a:srgbClr val="5C6672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239500" y="5162545"/>
              <a:ext cx="342900" cy="190510"/>
            </a:xfrm>
            <a:custGeom>
              <a:avLst/>
              <a:gdLst/>
              <a:ahLst/>
              <a:cxnLst/>
              <a:rect l="l" t="t" r="r" b="b"/>
              <a:pathLst>
                <a:path w="342900" h="190510">
                  <a:moveTo>
                    <a:pt x="38105" y="0"/>
                  </a:moveTo>
                  <a:lnTo>
                    <a:pt x="38105" y="38105"/>
                  </a:lnTo>
                  <a:lnTo>
                    <a:pt x="0" y="38105"/>
                  </a:lnTo>
                  <a:lnTo>
                    <a:pt x="0" y="114300"/>
                  </a:lnTo>
                  <a:lnTo>
                    <a:pt x="38105" y="114300"/>
                  </a:lnTo>
                  <a:lnTo>
                    <a:pt x="38105" y="76210"/>
                  </a:lnTo>
                  <a:lnTo>
                    <a:pt x="7144" y="76210"/>
                  </a:lnTo>
                  <a:lnTo>
                    <a:pt x="7144" y="45249"/>
                  </a:lnTo>
                  <a:lnTo>
                    <a:pt x="38090" y="45249"/>
                  </a:lnTo>
                  <a:lnTo>
                    <a:pt x="38090" y="76195"/>
                  </a:lnTo>
                  <a:lnTo>
                    <a:pt x="76181" y="76195"/>
                  </a:lnTo>
                  <a:lnTo>
                    <a:pt x="76181" y="38105"/>
                  </a:lnTo>
                  <a:lnTo>
                    <a:pt x="114300" y="38105"/>
                  </a:lnTo>
                  <a:lnTo>
                    <a:pt x="114300" y="0"/>
                  </a:lnTo>
                  <a:close/>
                  <a:moveTo>
                    <a:pt x="38105" y="114300"/>
                  </a:moveTo>
                  <a:lnTo>
                    <a:pt x="38105" y="190510"/>
                  </a:lnTo>
                  <a:lnTo>
                    <a:pt x="114300" y="190510"/>
                  </a:lnTo>
                  <a:lnTo>
                    <a:pt x="114300" y="152405"/>
                  </a:lnTo>
                  <a:lnTo>
                    <a:pt x="76195" y="152405"/>
                  </a:lnTo>
                  <a:lnTo>
                    <a:pt x="76195" y="114300"/>
                  </a:lnTo>
                  <a:close/>
                  <a:moveTo>
                    <a:pt x="228600" y="0"/>
                  </a:moveTo>
                  <a:lnTo>
                    <a:pt x="228600" y="38105"/>
                  </a:lnTo>
                  <a:lnTo>
                    <a:pt x="266705" y="38105"/>
                  </a:lnTo>
                  <a:lnTo>
                    <a:pt x="266705" y="76210"/>
                  </a:lnTo>
                  <a:lnTo>
                    <a:pt x="304795" y="76210"/>
                  </a:lnTo>
                  <a:lnTo>
                    <a:pt x="304795" y="45249"/>
                  </a:lnTo>
                  <a:lnTo>
                    <a:pt x="335756" y="45249"/>
                  </a:lnTo>
                  <a:lnTo>
                    <a:pt x="335756" y="76195"/>
                  </a:lnTo>
                  <a:lnTo>
                    <a:pt x="304810" y="76195"/>
                  </a:lnTo>
                  <a:lnTo>
                    <a:pt x="304810" y="114286"/>
                  </a:lnTo>
                  <a:lnTo>
                    <a:pt x="342900" y="114286"/>
                  </a:lnTo>
                  <a:lnTo>
                    <a:pt x="342900" y="38105"/>
                  </a:lnTo>
                  <a:lnTo>
                    <a:pt x="304795" y="38105"/>
                  </a:lnTo>
                  <a:lnTo>
                    <a:pt x="304795" y="0"/>
                  </a:lnTo>
                  <a:close/>
                  <a:moveTo>
                    <a:pt x="304795" y="114300"/>
                  </a:moveTo>
                  <a:lnTo>
                    <a:pt x="266705" y="114300"/>
                  </a:lnTo>
                  <a:lnTo>
                    <a:pt x="266705" y="152405"/>
                  </a:lnTo>
                  <a:lnTo>
                    <a:pt x="228600" y="152405"/>
                  </a:lnTo>
                  <a:lnTo>
                    <a:pt x="228600" y="190510"/>
                  </a:lnTo>
                  <a:lnTo>
                    <a:pt x="304795" y="190510"/>
                  </a:lnTo>
                  <a:close/>
                  <a:moveTo>
                    <a:pt x="114300" y="76210"/>
                  </a:moveTo>
                  <a:lnTo>
                    <a:pt x="114300" y="114300"/>
                  </a:lnTo>
                  <a:lnTo>
                    <a:pt x="152405" y="114300"/>
                  </a:lnTo>
                  <a:lnTo>
                    <a:pt x="152405" y="76210"/>
                  </a:lnTo>
                  <a:close/>
                  <a:moveTo>
                    <a:pt x="152405" y="114300"/>
                  </a:moveTo>
                  <a:lnTo>
                    <a:pt x="152405" y="152405"/>
                  </a:lnTo>
                  <a:lnTo>
                    <a:pt x="190495" y="152405"/>
                  </a:lnTo>
                  <a:lnTo>
                    <a:pt x="190495" y="114300"/>
                  </a:lnTo>
                  <a:close/>
                  <a:moveTo>
                    <a:pt x="190495" y="114300"/>
                  </a:moveTo>
                  <a:lnTo>
                    <a:pt x="228600" y="114300"/>
                  </a:lnTo>
                  <a:lnTo>
                    <a:pt x="228600" y="76210"/>
                  </a:lnTo>
                  <a:lnTo>
                    <a:pt x="190495" y="76210"/>
                  </a:lnTo>
                  <a:close/>
                </a:path>
              </a:pathLst>
            </a:custGeom>
            <a:solidFill>
              <a:srgbClr val="5C667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20760" y="5569268"/>
              <a:ext cx="3068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GitHub · HuggingFace · ModelScope</a:t>
              </a:r>
            </a:p>
          </p:txBody>
        </p:sp>
      </p:grpSp>
      <p:grpSp>
        <p:nvGrpSpPr>
          <p:cNvPr id="20" name="page-foot"/>
          <p:cNvGrpSpPr/>
          <p:nvPr/>
        </p:nvGrpSpPr>
        <p:grpSpPr>
          <a:xfrm>
            <a:off x="602742" y="6426518"/>
            <a:ext cx="3359777" cy="264033"/>
            <a:chOff x="602742" y="6426518"/>
            <a:chExt cx="3359777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6426518"/>
              <a:ext cx="335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本页数字与素材来源：MiniMind 官方仓库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4760195" cy="616077"/>
            <a:chOff x="593598" y="688658"/>
            <a:chExt cx="476019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47601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为什么要自己从 0 训一个</a:t>
              </a:r>
            </a:p>
          </p:txBody>
        </p:sp>
      </p:grpSp>
      <p:grpSp>
        <p:nvGrpSpPr>
          <p:cNvPr id="13" name="status-quo"/>
          <p:cNvGrpSpPr/>
          <p:nvPr/>
        </p:nvGrpSpPr>
        <p:grpSpPr>
          <a:xfrm>
            <a:off x="609600" y="1695450"/>
            <a:ext cx="6281928" cy="1281684"/>
            <a:chOff x="609600" y="1695450"/>
            <a:chExt cx="6281928" cy="1281684"/>
          </a:xfrm>
        </p:grpSpPr>
        <p:sp>
          <p:nvSpPr>
            <p:cNvPr id="4" name="Ellipse 4"/>
            <p:cNvSpPr/>
            <p:nvPr/>
          </p:nvSpPr>
          <p:spPr>
            <a:xfrm>
              <a:off x="609600" y="169545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90208" y="1756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17106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百亿参数的大模型，连部署都遥不可及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609600" y="215265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0208" y="2213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7656" y="216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封装接口用十几行就完成全流程，也把底层实现隔开了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09600" y="260985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0208" y="26708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7656" y="2625090"/>
              <a:ext cx="47512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大量付费课程用一知半解的讲解包装 AI 教程</a:t>
              </a:r>
            </a:p>
          </p:txBody>
        </p:sp>
      </p:grpSp>
      <p:grpSp>
        <p:nvGrpSpPr>
          <p:cNvPr id="16" name="pull-quote"/>
          <p:cNvGrpSpPr/>
          <p:nvPr/>
        </p:nvGrpSpPr>
        <p:grpSpPr>
          <a:xfrm>
            <a:off x="609600" y="3771900"/>
            <a:ext cx="9040368" cy="723900"/>
            <a:chOff x="609600" y="3771900"/>
            <a:chExt cx="9040368" cy="723900"/>
          </a:xfrm>
        </p:grpSpPr>
        <p:sp>
          <p:nvSpPr>
            <p:cNvPr id="14" name="Rectangle 14"/>
            <p:cNvSpPr/>
            <p:nvPr/>
          </p:nvSpPr>
          <p:spPr>
            <a:xfrm>
              <a:off x="609600" y="3771900"/>
              <a:ext cx="38100" cy="723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2208" y="397002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用乐高自己拼出一架飞机，远比坐在头等舱里飞行更让人兴奋</a:t>
              </a:r>
            </a:p>
          </p:txBody>
        </p:sp>
      </p:grpSp>
      <p:grpSp>
        <p:nvGrpSpPr>
          <p:cNvPr id="19" name="takeaway"/>
          <p:cNvGrpSpPr/>
          <p:nvPr/>
        </p:nvGrpSpPr>
        <p:grpSpPr>
          <a:xfrm>
            <a:off x="609600" y="4914900"/>
            <a:ext cx="10972800" cy="876300"/>
            <a:chOff x="609600" y="4914900"/>
            <a:chExt cx="10972800" cy="876300"/>
          </a:xfrm>
        </p:grpSpPr>
        <p:sp>
          <p:nvSpPr>
            <p:cNvPr id="17" name="Rectangle 17"/>
            <p:cNvSpPr/>
            <p:nvPr/>
          </p:nvSpPr>
          <p:spPr>
            <a:xfrm>
              <a:off x="609600" y="4914900"/>
              <a:ext cx="10972800" cy="876300"/>
            </a:xfrm>
            <a:prstGeom prst="roundRect">
              <a:avLst>
                <a:gd name="adj" fmla="val 17391"/>
              </a:avLst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5256" y="5253990"/>
              <a:ext cx="6379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理解从每一行代码开始——亲手从 0 训练一个极小的语言模型</a:t>
              </a:r>
            </a:p>
          </p:txBody>
        </p:sp>
      </p:grpSp>
      <p:grpSp>
        <p:nvGrpSpPr>
          <p:cNvPr id="21" name="page-foot"/>
          <p:cNvGrpSpPr/>
          <p:nvPr/>
        </p:nvGrpSpPr>
        <p:grpSpPr>
          <a:xfrm>
            <a:off x="602742" y="6426518"/>
            <a:ext cx="5111053" cy="264033"/>
            <a:chOff x="602742" y="6426518"/>
            <a:chExt cx="5111053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602742" y="6426518"/>
              <a:ext cx="5111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引文与三条现状均出自 MiniMind 项目 README 的「项目介绍」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7415427" cy="616077"/>
            <a:chOff x="593598" y="688658"/>
            <a:chExt cx="741542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7415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MiniMind 全景：一个项目摊开的四件事</a:t>
              </a:r>
            </a:p>
          </p:txBody>
        </p:sp>
      </p:grpSp>
      <p:grpSp>
        <p:nvGrpSpPr>
          <p:cNvPr id="29" name="capability-band"/>
          <p:cNvGrpSpPr/>
          <p:nvPr/>
        </p:nvGrpSpPr>
        <p:grpSpPr>
          <a:xfrm>
            <a:off x="609600" y="1600200"/>
            <a:ext cx="10972800" cy="1337501"/>
            <a:chOff x="609600" y="1600200"/>
            <a:chExt cx="10972800" cy="1337501"/>
          </a:xfrm>
        </p:grpSpPr>
        <p:sp>
          <p:nvSpPr>
            <p:cNvPr id="4" name="Rectangle 4"/>
            <p:cNvSpPr/>
            <p:nvPr/>
          </p:nvSpPr>
          <p:spPr>
            <a:xfrm>
              <a:off x="609600" y="1600200"/>
              <a:ext cx="10972800" cy="12954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352800" y="1828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828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839200" y="1828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67918" y="1780334"/>
              <a:ext cx="9779318" cy="1157367"/>
              <a:chOff x="867918" y="1780334"/>
              <a:chExt cx="9779318" cy="1157367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885825" y="1809750"/>
                <a:ext cx="257175" cy="228600"/>
                <a:chOff x="885825" y="1809750"/>
                <a:chExt cx="257175" cy="228600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895350" y="1819275"/>
                  <a:ext cx="2381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09550">
                      <a:moveTo>
                        <a:pt x="57150" y="85725"/>
                      </a:moveTo>
                      <a:lnTo>
                        <a:pt x="57150" y="123825"/>
                      </a:lnTo>
                      <a:cubicBezTo>
                        <a:pt x="57150" y="129086"/>
                        <a:pt x="52886" y="133350"/>
                        <a:pt x="47625" y="133350"/>
                      </a:cubicBezTo>
                      <a:lnTo>
                        <a:pt x="9525" y="133350"/>
                      </a:lnTo>
                      <a:cubicBezTo>
                        <a:pt x="4264" y="133350"/>
                        <a:pt x="0" y="129086"/>
                        <a:pt x="0" y="123825"/>
                      </a:cubicBezTo>
                      <a:lnTo>
                        <a:pt x="0" y="85725"/>
                      </a:lnTo>
                      <a:cubicBezTo>
                        <a:pt x="0" y="80464"/>
                        <a:pt x="4264" y="76200"/>
                        <a:pt x="9525" y="76200"/>
                      </a:cubicBezTo>
                      <a:lnTo>
                        <a:pt x="47625" y="76200"/>
                      </a:lnTo>
                      <a:cubicBezTo>
                        <a:pt x="52886" y="76200"/>
                        <a:pt x="57150" y="80464"/>
                        <a:pt x="57150" y="85725"/>
                      </a:cubicBezTo>
                      <a:close/>
                      <a:moveTo>
                        <a:pt x="228600" y="0"/>
                      </a:moveTo>
                      <a:lnTo>
                        <a:pt x="171450" y="0"/>
                      </a:lnTo>
                      <a:cubicBezTo>
                        <a:pt x="166189" y="0"/>
                        <a:pt x="161925" y="4264"/>
                        <a:pt x="161925" y="9525"/>
                      </a:cubicBezTo>
                      <a:lnTo>
                        <a:pt x="161925" y="66675"/>
                      </a:lnTo>
                      <a:cubicBezTo>
                        <a:pt x="161925" y="71936"/>
                        <a:pt x="166189" y="76200"/>
                        <a:pt x="171450" y="76200"/>
                      </a:cubicBezTo>
                      <a:lnTo>
                        <a:pt x="228600" y="76200"/>
                      </a:lnTo>
                      <a:cubicBezTo>
                        <a:pt x="233861" y="76200"/>
                        <a:pt x="238125" y="71936"/>
                        <a:pt x="238125" y="66675"/>
                      </a:cubicBezTo>
                      <a:lnTo>
                        <a:pt x="238125" y="9525"/>
                      </a:lnTo>
                      <a:cubicBezTo>
                        <a:pt x="238125" y="4264"/>
                        <a:pt x="233861" y="0"/>
                        <a:pt x="228600" y="0"/>
                      </a:cubicBezTo>
                      <a:close/>
                      <a:moveTo>
                        <a:pt x="228600" y="133350"/>
                      </a:moveTo>
                      <a:lnTo>
                        <a:pt x="171450" y="133350"/>
                      </a:lnTo>
                      <a:cubicBezTo>
                        <a:pt x="166189" y="133350"/>
                        <a:pt x="161925" y="137614"/>
                        <a:pt x="161925" y="142875"/>
                      </a:cubicBezTo>
                      <a:lnTo>
                        <a:pt x="161925" y="200025"/>
                      </a:lnTo>
                      <a:cubicBezTo>
                        <a:pt x="161925" y="205286"/>
                        <a:pt x="166189" y="209550"/>
                        <a:pt x="171450" y="209550"/>
                      </a:cubicBezTo>
                      <a:lnTo>
                        <a:pt x="228600" y="209550"/>
                      </a:lnTo>
                      <a:cubicBezTo>
                        <a:pt x="233861" y="209550"/>
                        <a:pt x="238125" y="205286"/>
                        <a:pt x="238125" y="200025"/>
                      </a:cubicBezTo>
                      <a:lnTo>
                        <a:pt x="238125" y="142875"/>
                      </a:lnTo>
                      <a:cubicBezTo>
                        <a:pt x="238125" y="137614"/>
                        <a:pt x="233861" y="133350"/>
                        <a:pt x="228600" y="133350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885825" y="1809750"/>
                  <a:ext cx="257175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28600">
                      <a:moveTo>
                        <a:pt x="180975" y="95250"/>
                      </a:moveTo>
                      <a:lnTo>
                        <a:pt x="238125" y="95250"/>
                      </a:lnTo>
                      <a:cubicBezTo>
                        <a:pt x="248646" y="95250"/>
                        <a:pt x="257175" y="86721"/>
                        <a:pt x="257175" y="76200"/>
                      </a:cubicBezTo>
                      <a:lnTo>
                        <a:pt x="257175" y="19050"/>
                      </a:lnTo>
                      <a:cubicBezTo>
                        <a:pt x="257175" y="8529"/>
                        <a:pt x="248646" y="0"/>
                        <a:pt x="238125" y="0"/>
                      </a:cubicBezTo>
                      <a:lnTo>
                        <a:pt x="180975" y="0"/>
                      </a:lnTo>
                      <a:cubicBezTo>
                        <a:pt x="170454" y="0"/>
                        <a:pt x="161925" y="8529"/>
                        <a:pt x="161925" y="19050"/>
                      </a:cubicBezTo>
                      <a:lnTo>
                        <a:pt x="161925" y="38100"/>
                      </a:lnTo>
                      <a:lnTo>
                        <a:pt x="142875" y="38100"/>
                      </a:lnTo>
                      <a:cubicBezTo>
                        <a:pt x="127093" y="38100"/>
                        <a:pt x="114300" y="50893"/>
                        <a:pt x="114300" y="66675"/>
                      </a:cubicBezTo>
                      <a:lnTo>
                        <a:pt x="114300" y="104775"/>
                      </a:lnTo>
                      <a:lnTo>
                        <a:pt x="76200" y="104775"/>
                      </a:lnTo>
                      <a:lnTo>
                        <a:pt x="76200" y="95250"/>
                      </a:lnTo>
                      <a:cubicBezTo>
                        <a:pt x="76200" y="84729"/>
                        <a:pt x="67671" y="76200"/>
                        <a:pt x="571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84729"/>
                        <a:pt x="0" y="95250"/>
                      </a:cubicBezTo>
                      <a:lnTo>
                        <a:pt x="0" y="133350"/>
                      </a:lnTo>
                      <a:cubicBezTo>
                        <a:pt x="0" y="143871"/>
                        <a:pt x="8529" y="152400"/>
                        <a:pt x="19050" y="152400"/>
                      </a:cubicBezTo>
                      <a:lnTo>
                        <a:pt x="57150" y="152400"/>
                      </a:lnTo>
                      <a:cubicBezTo>
                        <a:pt x="67671" y="152400"/>
                        <a:pt x="76200" y="143871"/>
                        <a:pt x="76200" y="133350"/>
                      </a:cubicBezTo>
                      <a:lnTo>
                        <a:pt x="76200" y="123825"/>
                      </a:lnTo>
                      <a:lnTo>
                        <a:pt x="114300" y="123825"/>
                      </a:lnTo>
                      <a:lnTo>
                        <a:pt x="114300" y="161925"/>
                      </a:lnTo>
                      <a:cubicBezTo>
                        <a:pt x="114300" y="177707"/>
                        <a:pt x="127093" y="190500"/>
                        <a:pt x="142875" y="190500"/>
                      </a:cubicBezTo>
                      <a:lnTo>
                        <a:pt x="161925" y="190500"/>
                      </a:lnTo>
                      <a:lnTo>
                        <a:pt x="161925" y="209550"/>
                      </a:lnTo>
                      <a:cubicBezTo>
                        <a:pt x="161925" y="220071"/>
                        <a:pt x="170454" y="228600"/>
                        <a:pt x="180975" y="228600"/>
                      </a:cubicBezTo>
                      <a:lnTo>
                        <a:pt x="238125" y="228600"/>
                      </a:lnTo>
                      <a:cubicBezTo>
                        <a:pt x="248646" y="228600"/>
                        <a:pt x="257175" y="220071"/>
                        <a:pt x="257175" y="209550"/>
                      </a:cubicBezTo>
                      <a:lnTo>
                        <a:pt x="257175" y="152400"/>
                      </a:lnTo>
                      <a:cubicBezTo>
                        <a:pt x="257175" y="141879"/>
                        <a:pt x="248646" y="133350"/>
                        <a:pt x="238125" y="133350"/>
                      </a:cubicBezTo>
                      <a:lnTo>
                        <a:pt x="180975" y="133350"/>
                      </a:lnTo>
                      <a:cubicBezTo>
                        <a:pt x="170454" y="133350"/>
                        <a:pt x="161925" y="141879"/>
                        <a:pt x="161925" y="152400"/>
                      </a:cubicBezTo>
                      <a:lnTo>
                        <a:pt x="161925" y="171450"/>
                      </a:lnTo>
                      <a:lnTo>
                        <a:pt x="142875" y="171450"/>
                      </a:lnTo>
                      <a:cubicBezTo>
                        <a:pt x="137614" y="171450"/>
                        <a:pt x="133350" y="167186"/>
                        <a:pt x="133350" y="161925"/>
                      </a:cubicBezTo>
                      <a:lnTo>
                        <a:pt x="133350" y="66675"/>
                      </a:lnTo>
                      <a:cubicBezTo>
                        <a:pt x="133350" y="61414"/>
                        <a:pt x="137614" y="57150"/>
                        <a:pt x="142875" y="57150"/>
                      </a:cubicBezTo>
                      <a:lnTo>
                        <a:pt x="161925" y="57150"/>
                      </a:lnTo>
                      <a:lnTo>
                        <a:pt x="161925" y="76200"/>
                      </a:lnTo>
                      <a:cubicBezTo>
                        <a:pt x="161925" y="86721"/>
                        <a:pt x="170454" y="95250"/>
                        <a:pt x="180975" y="95250"/>
                      </a:cubicBezTo>
                      <a:close/>
                      <a:moveTo>
                        <a:pt x="57150" y="133350"/>
                      </a:moveTo>
                      <a:lnTo>
                        <a:pt x="19050" y="133350"/>
                      </a:lnTo>
                      <a:lnTo>
                        <a:pt x="19050" y="95250"/>
                      </a:lnTo>
                      <a:lnTo>
                        <a:pt x="57150" y="95250"/>
                      </a:lnTo>
                      <a:lnTo>
                        <a:pt x="57150" y="133350"/>
                      </a:lnTo>
                      <a:close/>
                      <a:moveTo>
                        <a:pt x="180975" y="152400"/>
                      </a:moveTo>
                      <a:lnTo>
                        <a:pt x="238125" y="152400"/>
                      </a:lnTo>
                      <a:lnTo>
                        <a:pt x="238125" y="209550"/>
                      </a:lnTo>
                      <a:lnTo>
                        <a:pt x="180975" y="209550"/>
                      </a:lnTo>
                      <a:close/>
                      <a:moveTo>
                        <a:pt x="180975" y="19050"/>
                      </a:moveTo>
                      <a:lnTo>
                        <a:pt x="238125" y="19050"/>
                      </a:lnTo>
                      <a:lnTo>
                        <a:pt x="238125" y="76200"/>
                      </a:lnTo>
                      <a:lnTo>
                        <a:pt x="180975" y="762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867918" y="21650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结构代码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69442" y="2445068"/>
                <a:ext cx="1633918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Dense 与 MoE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双版本，对齐 Qwen3</a:t>
                </a: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3646854" y="1799004"/>
                <a:ext cx="250129" cy="250129"/>
                <a:chOff x="3646854" y="1799004"/>
                <a:chExt cx="250129" cy="250129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3656862" y="1808988"/>
                  <a:ext cx="230184" cy="23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84" h="230195">
                      <a:moveTo>
                        <a:pt x="210122" y="109323"/>
                      </a:moveTo>
                      <a:lnTo>
                        <a:pt x="230100" y="84320"/>
                      </a:lnTo>
                      <a:cubicBezTo>
                        <a:pt x="227405" y="74190"/>
                        <a:pt x="223373" y="64465"/>
                        <a:pt x="218111" y="55400"/>
                      </a:cubicBezTo>
                      <a:lnTo>
                        <a:pt x="186321" y="51828"/>
                      </a:lnTo>
                      <a:cubicBezTo>
                        <a:pt x="183781" y="48967"/>
                        <a:pt x="181074" y="46259"/>
                        <a:pt x="178213" y="43720"/>
                      </a:cubicBezTo>
                      <a:lnTo>
                        <a:pt x="174641" y="11918"/>
                      </a:lnTo>
                      <a:cubicBezTo>
                        <a:pt x="165566" y="6687"/>
                        <a:pt x="155837" y="2683"/>
                        <a:pt x="145709" y="12"/>
                      </a:cubicBezTo>
                      <a:lnTo>
                        <a:pt x="120706" y="19979"/>
                      </a:lnTo>
                      <a:cubicBezTo>
                        <a:pt x="116883" y="19752"/>
                        <a:pt x="113050" y="19752"/>
                        <a:pt x="109228" y="19979"/>
                      </a:cubicBezTo>
                      <a:lnTo>
                        <a:pt x="84225" y="0"/>
                      </a:lnTo>
                      <a:cubicBezTo>
                        <a:pt x="74128" y="2703"/>
                        <a:pt x="64435" y="6734"/>
                        <a:pt x="55400" y="11990"/>
                      </a:cubicBezTo>
                      <a:lnTo>
                        <a:pt x="51828" y="43779"/>
                      </a:lnTo>
                      <a:cubicBezTo>
                        <a:pt x="48967" y="46319"/>
                        <a:pt x="46259" y="49026"/>
                        <a:pt x="43720" y="51887"/>
                      </a:cubicBezTo>
                      <a:lnTo>
                        <a:pt x="11918" y="55459"/>
                      </a:lnTo>
                      <a:cubicBezTo>
                        <a:pt x="6687" y="64534"/>
                        <a:pt x="2683" y="74263"/>
                        <a:pt x="12" y="84391"/>
                      </a:cubicBezTo>
                      <a:lnTo>
                        <a:pt x="19979" y="109395"/>
                      </a:lnTo>
                      <a:cubicBezTo>
                        <a:pt x="19752" y="113217"/>
                        <a:pt x="19752" y="117050"/>
                        <a:pt x="19979" y="120872"/>
                      </a:cubicBezTo>
                      <a:lnTo>
                        <a:pt x="0" y="145875"/>
                      </a:lnTo>
                      <a:cubicBezTo>
                        <a:pt x="2695" y="156005"/>
                        <a:pt x="6727" y="165731"/>
                        <a:pt x="11990" y="174796"/>
                      </a:cubicBezTo>
                      <a:lnTo>
                        <a:pt x="43779" y="178368"/>
                      </a:lnTo>
                      <a:cubicBezTo>
                        <a:pt x="46319" y="181229"/>
                        <a:pt x="49026" y="183936"/>
                        <a:pt x="51887" y="186476"/>
                      </a:cubicBezTo>
                      <a:lnTo>
                        <a:pt x="55459" y="218277"/>
                      </a:lnTo>
                      <a:cubicBezTo>
                        <a:pt x="64534" y="223509"/>
                        <a:pt x="74263" y="227512"/>
                        <a:pt x="84391" y="230184"/>
                      </a:cubicBezTo>
                      <a:lnTo>
                        <a:pt x="109395" y="210217"/>
                      </a:lnTo>
                      <a:cubicBezTo>
                        <a:pt x="113217" y="210443"/>
                        <a:pt x="117050" y="210443"/>
                        <a:pt x="120872" y="210217"/>
                      </a:cubicBezTo>
                      <a:lnTo>
                        <a:pt x="145875" y="230195"/>
                      </a:lnTo>
                      <a:cubicBezTo>
                        <a:pt x="156005" y="227501"/>
                        <a:pt x="165731" y="223469"/>
                        <a:pt x="174796" y="218206"/>
                      </a:cubicBezTo>
                      <a:lnTo>
                        <a:pt x="178368" y="186416"/>
                      </a:lnTo>
                      <a:cubicBezTo>
                        <a:pt x="181229" y="183877"/>
                        <a:pt x="183936" y="181169"/>
                        <a:pt x="186476" y="178308"/>
                      </a:cubicBezTo>
                      <a:lnTo>
                        <a:pt x="218277" y="174736"/>
                      </a:lnTo>
                      <a:cubicBezTo>
                        <a:pt x="223509" y="165661"/>
                        <a:pt x="227512" y="155932"/>
                        <a:pt x="230184" y="145804"/>
                      </a:cubicBezTo>
                      <a:lnTo>
                        <a:pt x="210217" y="120801"/>
                      </a:lnTo>
                      <a:cubicBezTo>
                        <a:pt x="210411" y="116976"/>
                        <a:pt x="210379" y="113144"/>
                        <a:pt x="210122" y="109323"/>
                      </a:cubicBezTo>
                      <a:close/>
                      <a:moveTo>
                        <a:pt x="115038" y="162687"/>
                      </a:moveTo>
                      <a:cubicBezTo>
                        <a:pt x="88736" y="162687"/>
                        <a:pt x="67413" y="141365"/>
                        <a:pt x="67413" y="115062"/>
                      </a:cubicBezTo>
                      <a:cubicBezTo>
                        <a:pt x="67413" y="88759"/>
                        <a:pt x="88736" y="67437"/>
                        <a:pt x="115038" y="67437"/>
                      </a:cubicBezTo>
                      <a:cubicBezTo>
                        <a:pt x="141341" y="67437"/>
                        <a:pt x="162663" y="88759"/>
                        <a:pt x="162663" y="115062"/>
                      </a:cubicBezTo>
                      <a:cubicBezTo>
                        <a:pt x="162663" y="141365"/>
                        <a:pt x="141341" y="162687"/>
                        <a:pt x="115038" y="162687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3646854" y="1799004"/>
                  <a:ext cx="250129" cy="250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29" h="250129">
                      <a:moveTo>
                        <a:pt x="125046" y="67896"/>
                      </a:moveTo>
                      <a:cubicBezTo>
                        <a:pt x="93483" y="67896"/>
                        <a:pt x="67896" y="93483"/>
                        <a:pt x="67896" y="125046"/>
                      </a:cubicBezTo>
                      <a:cubicBezTo>
                        <a:pt x="67896" y="156609"/>
                        <a:pt x="93483" y="182196"/>
                        <a:pt x="125046" y="182196"/>
                      </a:cubicBezTo>
                      <a:cubicBezTo>
                        <a:pt x="156609" y="182196"/>
                        <a:pt x="182196" y="156609"/>
                        <a:pt x="182196" y="125046"/>
                      </a:cubicBezTo>
                      <a:cubicBezTo>
                        <a:pt x="182164" y="93497"/>
                        <a:pt x="156596" y="67929"/>
                        <a:pt x="125046" y="67896"/>
                      </a:cubicBezTo>
                      <a:close/>
                      <a:moveTo>
                        <a:pt x="125046" y="163146"/>
                      </a:moveTo>
                      <a:cubicBezTo>
                        <a:pt x="104004" y="163146"/>
                        <a:pt x="86946" y="146088"/>
                        <a:pt x="86946" y="125046"/>
                      </a:cubicBezTo>
                      <a:cubicBezTo>
                        <a:pt x="86946" y="104004"/>
                        <a:pt x="104004" y="86946"/>
                        <a:pt x="125046" y="86946"/>
                      </a:cubicBezTo>
                      <a:cubicBezTo>
                        <a:pt x="146088" y="86946"/>
                        <a:pt x="163146" y="104004"/>
                        <a:pt x="163146" y="125046"/>
                      </a:cubicBezTo>
                      <a:cubicBezTo>
                        <a:pt x="163146" y="146088"/>
                        <a:pt x="146088" y="163146"/>
                        <a:pt x="125046" y="163146"/>
                      </a:cubicBezTo>
                      <a:close/>
                      <a:moveTo>
                        <a:pt x="229821" y="127618"/>
                      </a:moveTo>
                      <a:cubicBezTo>
                        <a:pt x="229869" y="125904"/>
                        <a:pt x="229869" y="124189"/>
                        <a:pt x="229821" y="122475"/>
                      </a:cubicBezTo>
                      <a:lnTo>
                        <a:pt x="247586" y="100281"/>
                      </a:lnTo>
                      <a:cubicBezTo>
                        <a:pt x="249474" y="97918"/>
                        <a:pt x="250129" y="94798"/>
                        <a:pt x="249348" y="91876"/>
                      </a:cubicBezTo>
                      <a:cubicBezTo>
                        <a:pt x="246430" y="80931"/>
                        <a:pt x="242074" y="70421"/>
                        <a:pt x="236394" y="60622"/>
                      </a:cubicBezTo>
                      <a:cubicBezTo>
                        <a:pt x="234884" y="58022"/>
                        <a:pt x="232236" y="56288"/>
                        <a:pt x="229250" y="55943"/>
                      </a:cubicBezTo>
                      <a:lnTo>
                        <a:pt x="201008" y="52799"/>
                      </a:lnTo>
                      <a:cubicBezTo>
                        <a:pt x="199834" y="51561"/>
                        <a:pt x="198643" y="50370"/>
                        <a:pt x="197436" y="49227"/>
                      </a:cubicBezTo>
                      <a:lnTo>
                        <a:pt x="194103" y="20914"/>
                      </a:lnTo>
                      <a:cubicBezTo>
                        <a:pt x="193755" y="17926"/>
                        <a:pt x="192016" y="15277"/>
                        <a:pt x="189412" y="13771"/>
                      </a:cubicBezTo>
                      <a:cubicBezTo>
                        <a:pt x="179613" y="8094"/>
                        <a:pt x="169103" y="3746"/>
                        <a:pt x="158158" y="840"/>
                      </a:cubicBezTo>
                      <a:cubicBezTo>
                        <a:pt x="155235" y="60"/>
                        <a:pt x="152115" y="714"/>
                        <a:pt x="149752" y="2603"/>
                      </a:cubicBezTo>
                      <a:lnTo>
                        <a:pt x="127618" y="20271"/>
                      </a:lnTo>
                      <a:cubicBezTo>
                        <a:pt x="125904" y="20271"/>
                        <a:pt x="124189" y="20271"/>
                        <a:pt x="122475" y="20271"/>
                      </a:cubicBezTo>
                      <a:lnTo>
                        <a:pt x="100281" y="2543"/>
                      </a:lnTo>
                      <a:cubicBezTo>
                        <a:pt x="97918" y="654"/>
                        <a:pt x="94798" y="0"/>
                        <a:pt x="91876" y="781"/>
                      </a:cubicBezTo>
                      <a:cubicBezTo>
                        <a:pt x="80931" y="3698"/>
                        <a:pt x="70421" y="8054"/>
                        <a:pt x="60622" y="13735"/>
                      </a:cubicBezTo>
                      <a:cubicBezTo>
                        <a:pt x="58022" y="15244"/>
                        <a:pt x="56288" y="17892"/>
                        <a:pt x="55943" y="20879"/>
                      </a:cubicBezTo>
                      <a:lnTo>
                        <a:pt x="52799" y="49168"/>
                      </a:lnTo>
                      <a:cubicBezTo>
                        <a:pt x="51561" y="50351"/>
                        <a:pt x="50370" y="51541"/>
                        <a:pt x="49227" y="52740"/>
                      </a:cubicBezTo>
                      <a:lnTo>
                        <a:pt x="20914" y="55990"/>
                      </a:lnTo>
                      <a:cubicBezTo>
                        <a:pt x="17926" y="56338"/>
                        <a:pt x="15277" y="58077"/>
                        <a:pt x="13771" y="60681"/>
                      </a:cubicBezTo>
                      <a:cubicBezTo>
                        <a:pt x="8095" y="70482"/>
                        <a:pt x="3744" y="80991"/>
                        <a:pt x="828" y="91935"/>
                      </a:cubicBezTo>
                      <a:cubicBezTo>
                        <a:pt x="51" y="94860"/>
                        <a:pt x="709" y="97980"/>
                        <a:pt x="2603" y="100341"/>
                      </a:cubicBezTo>
                      <a:lnTo>
                        <a:pt x="20271" y="122475"/>
                      </a:lnTo>
                      <a:cubicBezTo>
                        <a:pt x="20271" y="124189"/>
                        <a:pt x="20271" y="125904"/>
                        <a:pt x="20271" y="127618"/>
                      </a:cubicBezTo>
                      <a:lnTo>
                        <a:pt x="2543" y="149811"/>
                      </a:lnTo>
                      <a:cubicBezTo>
                        <a:pt x="654" y="152174"/>
                        <a:pt x="0" y="155294"/>
                        <a:pt x="781" y="158217"/>
                      </a:cubicBezTo>
                      <a:cubicBezTo>
                        <a:pt x="3698" y="169162"/>
                        <a:pt x="8054" y="179672"/>
                        <a:pt x="13735" y="189471"/>
                      </a:cubicBezTo>
                      <a:cubicBezTo>
                        <a:pt x="15244" y="192071"/>
                        <a:pt x="17892" y="193805"/>
                        <a:pt x="20879" y="194150"/>
                      </a:cubicBezTo>
                      <a:lnTo>
                        <a:pt x="49120" y="197294"/>
                      </a:lnTo>
                      <a:cubicBezTo>
                        <a:pt x="50303" y="198532"/>
                        <a:pt x="51494" y="199722"/>
                        <a:pt x="52692" y="200865"/>
                      </a:cubicBezTo>
                      <a:lnTo>
                        <a:pt x="55990" y="229178"/>
                      </a:lnTo>
                      <a:cubicBezTo>
                        <a:pt x="56338" y="232167"/>
                        <a:pt x="58077" y="234815"/>
                        <a:pt x="60681" y="236322"/>
                      </a:cubicBezTo>
                      <a:cubicBezTo>
                        <a:pt x="70482" y="241997"/>
                        <a:pt x="80991" y="246349"/>
                        <a:pt x="91935" y="249264"/>
                      </a:cubicBezTo>
                      <a:cubicBezTo>
                        <a:pt x="94860" y="250042"/>
                        <a:pt x="97980" y="249383"/>
                        <a:pt x="100341" y="247490"/>
                      </a:cubicBezTo>
                      <a:lnTo>
                        <a:pt x="122475" y="229821"/>
                      </a:lnTo>
                      <a:cubicBezTo>
                        <a:pt x="124189" y="229869"/>
                        <a:pt x="125904" y="229869"/>
                        <a:pt x="127618" y="229821"/>
                      </a:cubicBezTo>
                      <a:lnTo>
                        <a:pt x="149811" y="247586"/>
                      </a:lnTo>
                      <a:cubicBezTo>
                        <a:pt x="152174" y="249474"/>
                        <a:pt x="155294" y="250129"/>
                        <a:pt x="158217" y="249348"/>
                      </a:cubicBezTo>
                      <a:cubicBezTo>
                        <a:pt x="169164" y="246436"/>
                        <a:pt x="179674" y="242079"/>
                        <a:pt x="189471" y="236394"/>
                      </a:cubicBezTo>
                      <a:cubicBezTo>
                        <a:pt x="192071" y="234884"/>
                        <a:pt x="193805" y="232236"/>
                        <a:pt x="194150" y="229250"/>
                      </a:cubicBezTo>
                      <a:lnTo>
                        <a:pt x="197294" y="201008"/>
                      </a:lnTo>
                      <a:cubicBezTo>
                        <a:pt x="198532" y="199834"/>
                        <a:pt x="199722" y="198643"/>
                        <a:pt x="200865" y="197436"/>
                      </a:cubicBezTo>
                      <a:lnTo>
                        <a:pt x="229178" y="194103"/>
                      </a:lnTo>
                      <a:cubicBezTo>
                        <a:pt x="232167" y="193755"/>
                        <a:pt x="234815" y="192016"/>
                        <a:pt x="236322" y="189412"/>
                      </a:cubicBezTo>
                      <a:cubicBezTo>
                        <a:pt x="241997" y="179611"/>
                        <a:pt x="246349" y="169101"/>
                        <a:pt x="249264" y="158158"/>
                      </a:cubicBezTo>
                      <a:cubicBezTo>
                        <a:pt x="250042" y="155233"/>
                        <a:pt x="249383" y="152113"/>
                        <a:pt x="247490" y="149752"/>
                      </a:cubicBezTo>
                      <a:close/>
                      <a:moveTo>
                        <a:pt x="210652" y="119879"/>
                      </a:moveTo>
                      <a:cubicBezTo>
                        <a:pt x="210855" y="123321"/>
                        <a:pt x="210855" y="126772"/>
                        <a:pt x="210652" y="130214"/>
                      </a:cubicBezTo>
                      <a:cubicBezTo>
                        <a:pt x="210510" y="132570"/>
                        <a:pt x="211249" y="134895"/>
                        <a:pt x="212724" y="136738"/>
                      </a:cubicBezTo>
                      <a:lnTo>
                        <a:pt x="229619" y="157848"/>
                      </a:lnTo>
                      <a:cubicBezTo>
                        <a:pt x="227680" y="164009"/>
                        <a:pt x="225198" y="169986"/>
                        <a:pt x="222201" y="175707"/>
                      </a:cubicBezTo>
                      <a:lnTo>
                        <a:pt x="195293" y="178755"/>
                      </a:lnTo>
                      <a:cubicBezTo>
                        <a:pt x="192950" y="179016"/>
                        <a:pt x="190786" y="180136"/>
                        <a:pt x="189221" y="181899"/>
                      </a:cubicBezTo>
                      <a:cubicBezTo>
                        <a:pt x="186929" y="184476"/>
                        <a:pt x="184488" y="186917"/>
                        <a:pt x="181911" y="189209"/>
                      </a:cubicBezTo>
                      <a:cubicBezTo>
                        <a:pt x="180147" y="190774"/>
                        <a:pt x="179028" y="192938"/>
                        <a:pt x="178767" y="195281"/>
                      </a:cubicBezTo>
                      <a:lnTo>
                        <a:pt x="175779" y="222166"/>
                      </a:lnTo>
                      <a:cubicBezTo>
                        <a:pt x="170058" y="225164"/>
                        <a:pt x="164081" y="227646"/>
                        <a:pt x="157920" y="229583"/>
                      </a:cubicBezTo>
                      <a:lnTo>
                        <a:pt x="136798" y="212688"/>
                      </a:lnTo>
                      <a:cubicBezTo>
                        <a:pt x="135108" y="211338"/>
                        <a:pt x="133008" y="210603"/>
                        <a:pt x="130845" y="210605"/>
                      </a:cubicBezTo>
                      <a:lnTo>
                        <a:pt x="130273" y="210605"/>
                      </a:lnTo>
                      <a:cubicBezTo>
                        <a:pt x="126831" y="210807"/>
                        <a:pt x="123381" y="210807"/>
                        <a:pt x="119939" y="210605"/>
                      </a:cubicBezTo>
                      <a:cubicBezTo>
                        <a:pt x="117583" y="210470"/>
                        <a:pt x="115260" y="211207"/>
                        <a:pt x="113414" y="212676"/>
                      </a:cubicBezTo>
                      <a:lnTo>
                        <a:pt x="92245" y="229583"/>
                      </a:lnTo>
                      <a:cubicBezTo>
                        <a:pt x="86084" y="227645"/>
                        <a:pt x="80107" y="225162"/>
                        <a:pt x="74385" y="222166"/>
                      </a:cubicBezTo>
                      <a:lnTo>
                        <a:pt x="71337" y="195293"/>
                      </a:lnTo>
                      <a:cubicBezTo>
                        <a:pt x="71077" y="192950"/>
                        <a:pt x="69957" y="190786"/>
                        <a:pt x="68194" y="189221"/>
                      </a:cubicBezTo>
                      <a:cubicBezTo>
                        <a:pt x="65616" y="186929"/>
                        <a:pt x="63175" y="184488"/>
                        <a:pt x="60884" y="181911"/>
                      </a:cubicBezTo>
                      <a:cubicBezTo>
                        <a:pt x="59318" y="180147"/>
                        <a:pt x="57155" y="179028"/>
                        <a:pt x="54811" y="178767"/>
                      </a:cubicBezTo>
                      <a:lnTo>
                        <a:pt x="27927" y="175767"/>
                      </a:lnTo>
                      <a:cubicBezTo>
                        <a:pt x="24929" y="170046"/>
                        <a:pt x="22447" y="164069"/>
                        <a:pt x="20510" y="157908"/>
                      </a:cubicBezTo>
                      <a:lnTo>
                        <a:pt x="37404" y="136786"/>
                      </a:lnTo>
                      <a:cubicBezTo>
                        <a:pt x="38880" y="134943"/>
                        <a:pt x="39618" y="132618"/>
                        <a:pt x="39476" y="130261"/>
                      </a:cubicBezTo>
                      <a:cubicBezTo>
                        <a:pt x="39274" y="126819"/>
                        <a:pt x="39274" y="123369"/>
                        <a:pt x="39476" y="119927"/>
                      </a:cubicBezTo>
                      <a:cubicBezTo>
                        <a:pt x="39618" y="117570"/>
                        <a:pt x="38880" y="115245"/>
                        <a:pt x="37404" y="113402"/>
                      </a:cubicBezTo>
                      <a:lnTo>
                        <a:pt x="20510" y="92245"/>
                      </a:lnTo>
                      <a:cubicBezTo>
                        <a:pt x="22448" y="86084"/>
                        <a:pt x="24930" y="80107"/>
                        <a:pt x="27927" y="74385"/>
                      </a:cubicBezTo>
                      <a:lnTo>
                        <a:pt x="54800" y="71337"/>
                      </a:lnTo>
                      <a:cubicBezTo>
                        <a:pt x="57143" y="71077"/>
                        <a:pt x="59306" y="69957"/>
                        <a:pt x="60872" y="68194"/>
                      </a:cubicBezTo>
                      <a:cubicBezTo>
                        <a:pt x="63164" y="65616"/>
                        <a:pt x="65605" y="63175"/>
                        <a:pt x="68182" y="60884"/>
                      </a:cubicBezTo>
                      <a:cubicBezTo>
                        <a:pt x="69952" y="59317"/>
                        <a:pt x="71077" y="57149"/>
                        <a:pt x="71337" y="54800"/>
                      </a:cubicBezTo>
                      <a:lnTo>
                        <a:pt x="74326" y="27927"/>
                      </a:lnTo>
                      <a:cubicBezTo>
                        <a:pt x="80047" y="24929"/>
                        <a:pt x="86024" y="22447"/>
                        <a:pt x="92185" y="20510"/>
                      </a:cubicBezTo>
                      <a:lnTo>
                        <a:pt x="113307" y="37404"/>
                      </a:lnTo>
                      <a:cubicBezTo>
                        <a:pt x="115150" y="38880"/>
                        <a:pt x="117475" y="39618"/>
                        <a:pt x="119831" y="39476"/>
                      </a:cubicBezTo>
                      <a:cubicBezTo>
                        <a:pt x="123273" y="39274"/>
                        <a:pt x="126724" y="39274"/>
                        <a:pt x="130166" y="39476"/>
                      </a:cubicBezTo>
                      <a:cubicBezTo>
                        <a:pt x="132522" y="39611"/>
                        <a:pt x="134844" y="38874"/>
                        <a:pt x="136691" y="37404"/>
                      </a:cubicBezTo>
                      <a:lnTo>
                        <a:pt x="157848" y="20510"/>
                      </a:lnTo>
                      <a:cubicBezTo>
                        <a:pt x="164009" y="22448"/>
                        <a:pt x="169986" y="24930"/>
                        <a:pt x="175707" y="27927"/>
                      </a:cubicBezTo>
                      <a:lnTo>
                        <a:pt x="178755" y="54800"/>
                      </a:lnTo>
                      <a:cubicBezTo>
                        <a:pt x="179016" y="57143"/>
                        <a:pt x="180136" y="59306"/>
                        <a:pt x="181899" y="60872"/>
                      </a:cubicBezTo>
                      <a:cubicBezTo>
                        <a:pt x="184476" y="63164"/>
                        <a:pt x="186917" y="65605"/>
                        <a:pt x="189209" y="68182"/>
                      </a:cubicBezTo>
                      <a:cubicBezTo>
                        <a:pt x="190774" y="69945"/>
                        <a:pt x="192938" y="71065"/>
                        <a:pt x="195281" y="71325"/>
                      </a:cubicBezTo>
                      <a:lnTo>
                        <a:pt x="222166" y="74314"/>
                      </a:lnTo>
                      <a:cubicBezTo>
                        <a:pt x="225164" y="80035"/>
                        <a:pt x="227646" y="86012"/>
                        <a:pt x="229583" y="92173"/>
                      </a:cubicBezTo>
                      <a:lnTo>
                        <a:pt x="212688" y="113295"/>
                      </a:lnTo>
                      <a:cubicBezTo>
                        <a:pt x="211199" y="115153"/>
                        <a:pt x="210460" y="117503"/>
                        <a:pt x="210617" y="11987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3611118" y="21650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训练链路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612642" y="2445068"/>
                <a:ext cx="1436751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从 Pretrain 到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Agentic RL 全流程</a:t>
                </a:r>
              </a:p>
            </p:txBody>
          </p:sp>
          <p:grpSp>
            <p:nvGrpSpPr>
              <p:cNvPr id="20" name="Group 20"/>
              <p:cNvGrpSpPr/>
              <p:nvPr/>
            </p:nvGrpSpPr>
            <p:grpSpPr>
              <a:xfrm>
                <a:off x="6400800" y="1800225"/>
                <a:ext cx="228600" cy="247650"/>
                <a:chOff x="6400800" y="1800225"/>
                <a:chExt cx="228600" cy="24765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410325" y="1809750"/>
                  <a:ext cx="2095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114300">
                      <a:moveTo>
                        <a:pt x="209550" y="57150"/>
                      </a:moveTo>
                      <a:cubicBezTo>
                        <a:pt x="209550" y="88713"/>
                        <a:pt x="162639" y="114300"/>
                        <a:pt x="104775" y="114300"/>
                      </a:cubicBezTo>
                      <a:cubicBezTo>
                        <a:pt x="46911" y="114300"/>
                        <a:pt x="0" y="88713"/>
                        <a:pt x="0" y="57150"/>
                      </a:cubicBezTo>
                      <a:cubicBezTo>
                        <a:pt x="0" y="25587"/>
                        <a:pt x="46911" y="0"/>
                        <a:pt x="104775" y="0"/>
                      </a:cubicBezTo>
                      <a:cubicBezTo>
                        <a:pt x="162639" y="0"/>
                        <a:pt x="209550" y="25587"/>
                        <a:pt x="209550" y="57150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400800" y="1800225"/>
                  <a:ext cx="228600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47650">
                      <a:moveTo>
                        <a:pt x="114300" y="0"/>
                      </a:moveTo>
                      <a:cubicBezTo>
                        <a:pt x="50209" y="0"/>
                        <a:pt x="0" y="29289"/>
                        <a:pt x="0" y="66675"/>
                      </a:cubicBezTo>
                      <a:lnTo>
                        <a:pt x="0" y="180975"/>
                      </a:lnTo>
                      <a:cubicBezTo>
                        <a:pt x="0" y="218361"/>
                        <a:pt x="50209" y="247650"/>
                        <a:pt x="114300" y="247650"/>
                      </a:cubicBezTo>
                      <a:cubicBezTo>
                        <a:pt x="178391" y="247650"/>
                        <a:pt x="228600" y="218361"/>
                        <a:pt x="228600" y="180975"/>
                      </a:cubicBezTo>
                      <a:lnTo>
                        <a:pt x="228600" y="66675"/>
                      </a:lnTo>
                      <a:cubicBezTo>
                        <a:pt x="228600" y="29289"/>
                        <a:pt x="178391" y="0"/>
                        <a:pt x="114300" y="0"/>
                      </a:cubicBezTo>
                      <a:close/>
                      <a:moveTo>
                        <a:pt x="209550" y="123825"/>
                      </a:moveTo>
                      <a:cubicBezTo>
                        <a:pt x="209550" y="135279"/>
                        <a:pt x="200168" y="146959"/>
                        <a:pt x="183821" y="155877"/>
                      </a:cubicBezTo>
                      <a:cubicBezTo>
                        <a:pt x="165414" y="165914"/>
                        <a:pt x="140720" y="171450"/>
                        <a:pt x="114300" y="171450"/>
                      </a:cubicBezTo>
                      <a:cubicBezTo>
                        <a:pt x="87880" y="171450"/>
                        <a:pt x="63186" y="165914"/>
                        <a:pt x="44779" y="155877"/>
                      </a:cubicBezTo>
                      <a:cubicBezTo>
                        <a:pt x="28432" y="146959"/>
                        <a:pt x="19050" y="135279"/>
                        <a:pt x="19050" y="123825"/>
                      </a:cubicBezTo>
                      <a:lnTo>
                        <a:pt x="19050" y="104013"/>
                      </a:lnTo>
                      <a:cubicBezTo>
                        <a:pt x="39362" y="121872"/>
                        <a:pt x="74093" y="133350"/>
                        <a:pt x="114300" y="133350"/>
                      </a:cubicBezTo>
                      <a:cubicBezTo>
                        <a:pt x="154507" y="133350"/>
                        <a:pt x="189238" y="121825"/>
                        <a:pt x="209550" y="104013"/>
                      </a:cubicBezTo>
                      <a:close/>
                      <a:moveTo>
                        <a:pt x="44779" y="34623"/>
                      </a:moveTo>
                      <a:cubicBezTo>
                        <a:pt x="63186" y="24586"/>
                        <a:pt x="87880" y="19050"/>
                        <a:pt x="114300" y="19050"/>
                      </a:cubicBezTo>
                      <a:cubicBezTo>
                        <a:pt x="140720" y="19050"/>
                        <a:pt x="165414" y="24586"/>
                        <a:pt x="183821" y="34623"/>
                      </a:cubicBezTo>
                      <a:cubicBezTo>
                        <a:pt x="200168" y="43541"/>
                        <a:pt x="209550" y="55221"/>
                        <a:pt x="209550" y="66675"/>
                      </a:cubicBezTo>
                      <a:cubicBezTo>
                        <a:pt x="209550" y="78129"/>
                        <a:pt x="200168" y="89809"/>
                        <a:pt x="183821" y="98727"/>
                      </a:cubicBezTo>
                      <a:cubicBezTo>
                        <a:pt x="165414" y="108764"/>
                        <a:pt x="140720" y="114300"/>
                        <a:pt x="114300" y="114300"/>
                      </a:cubicBezTo>
                      <a:cubicBezTo>
                        <a:pt x="87880" y="114300"/>
                        <a:pt x="63186" y="108764"/>
                        <a:pt x="44779" y="98727"/>
                      </a:cubicBezTo>
                      <a:cubicBezTo>
                        <a:pt x="28432" y="89809"/>
                        <a:pt x="19050" y="78129"/>
                        <a:pt x="19050" y="66675"/>
                      </a:cubicBezTo>
                      <a:cubicBezTo>
                        <a:pt x="19050" y="55221"/>
                        <a:pt x="28432" y="43541"/>
                        <a:pt x="44779" y="34623"/>
                      </a:cubicBezTo>
                      <a:close/>
                      <a:moveTo>
                        <a:pt x="183821" y="213027"/>
                      </a:moveTo>
                      <a:cubicBezTo>
                        <a:pt x="165414" y="223064"/>
                        <a:pt x="140720" y="228600"/>
                        <a:pt x="114300" y="228600"/>
                      </a:cubicBezTo>
                      <a:cubicBezTo>
                        <a:pt x="87880" y="228600"/>
                        <a:pt x="63186" y="223064"/>
                        <a:pt x="44779" y="213027"/>
                      </a:cubicBezTo>
                      <a:cubicBezTo>
                        <a:pt x="28432" y="204109"/>
                        <a:pt x="19050" y="192429"/>
                        <a:pt x="19050" y="180975"/>
                      </a:cubicBezTo>
                      <a:lnTo>
                        <a:pt x="19050" y="161163"/>
                      </a:lnTo>
                      <a:cubicBezTo>
                        <a:pt x="39362" y="179022"/>
                        <a:pt x="74093" y="190500"/>
                        <a:pt x="114300" y="190500"/>
                      </a:cubicBezTo>
                      <a:cubicBezTo>
                        <a:pt x="154507" y="190500"/>
                        <a:pt x="189238" y="178975"/>
                        <a:pt x="209550" y="161163"/>
                      </a:cubicBezTo>
                      <a:lnTo>
                        <a:pt x="209550" y="180975"/>
                      </a:lnTo>
                      <a:cubicBezTo>
                        <a:pt x="209550" y="192429"/>
                        <a:pt x="200168" y="204109"/>
                        <a:pt x="183821" y="2130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354318" y="21650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55842" y="2445068"/>
                <a:ext cx="155676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收集、蒸馏、清洗、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去重后的开源数据集</a:t>
                </a: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9152994" y="1780334"/>
                <a:ext cx="210546" cy="287432"/>
                <a:chOff x="9152994" y="1780334"/>
                <a:chExt cx="210546" cy="287432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9163050" y="1790700"/>
                  <a:ext cx="1905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266700">
                      <a:moveTo>
                        <a:pt x="57150" y="266700"/>
                      </a:moveTo>
                      <a:lnTo>
                        <a:pt x="76200" y="171450"/>
                      </a:lnTo>
                      <a:lnTo>
                        <a:pt x="0" y="142875"/>
                      </a:lnTo>
                      <a:lnTo>
                        <a:pt x="133350" y="0"/>
                      </a:lnTo>
                      <a:lnTo>
                        <a:pt x="114300" y="95250"/>
                      </a:lnTo>
                      <a:lnTo>
                        <a:pt x="190500" y="123825"/>
                      </a:ln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9152994" y="1780334"/>
                  <a:ext cx="210546" cy="287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46" h="287432">
                      <a:moveTo>
                        <a:pt x="209831" y="132012"/>
                      </a:moveTo>
                      <a:cubicBezTo>
                        <a:pt x="209098" y="128912"/>
                        <a:pt x="206864" y="126382"/>
                        <a:pt x="203878" y="125273"/>
                      </a:cubicBezTo>
                      <a:lnTo>
                        <a:pt x="135286" y="99544"/>
                      </a:lnTo>
                      <a:lnTo>
                        <a:pt x="152740" y="12235"/>
                      </a:lnTo>
                      <a:cubicBezTo>
                        <a:pt x="153552" y="8068"/>
                        <a:pt x="151508" y="3866"/>
                        <a:pt x="147728" y="1933"/>
                      </a:cubicBezTo>
                      <a:cubicBezTo>
                        <a:pt x="143947" y="0"/>
                        <a:pt x="139344" y="803"/>
                        <a:pt x="136441" y="3901"/>
                      </a:cubicBezTo>
                      <a:lnTo>
                        <a:pt x="3091" y="146776"/>
                      </a:lnTo>
                      <a:cubicBezTo>
                        <a:pt x="891" y="149094"/>
                        <a:pt x="0" y="152361"/>
                        <a:pt x="719" y="155474"/>
                      </a:cubicBezTo>
                      <a:cubicBezTo>
                        <a:pt x="1437" y="158588"/>
                        <a:pt x="3669" y="161134"/>
                        <a:pt x="6663" y="162254"/>
                      </a:cubicBezTo>
                      <a:lnTo>
                        <a:pt x="75278" y="187983"/>
                      </a:lnTo>
                      <a:lnTo>
                        <a:pt x="57871" y="275197"/>
                      </a:lnTo>
                      <a:cubicBezTo>
                        <a:pt x="57059" y="279364"/>
                        <a:pt x="59104" y="283566"/>
                        <a:pt x="62884" y="285499"/>
                      </a:cubicBezTo>
                      <a:cubicBezTo>
                        <a:pt x="66665" y="287432"/>
                        <a:pt x="71268" y="286629"/>
                        <a:pt x="74171" y="283531"/>
                      </a:cubicBezTo>
                      <a:lnTo>
                        <a:pt x="207521" y="140656"/>
                      </a:lnTo>
                      <a:cubicBezTo>
                        <a:pt x="209681" y="138338"/>
                        <a:pt x="210546" y="135098"/>
                        <a:pt x="209831" y="132012"/>
                      </a:cubicBezTo>
                      <a:close/>
                      <a:moveTo>
                        <a:pt x="83125" y="246110"/>
                      </a:moveTo>
                      <a:lnTo>
                        <a:pt x="95590" y="183745"/>
                      </a:lnTo>
                      <a:cubicBezTo>
                        <a:pt x="96512" y="179177"/>
                        <a:pt x="93993" y="174613"/>
                        <a:pt x="89637" y="172958"/>
                      </a:cubicBezTo>
                      <a:lnTo>
                        <a:pt x="26725" y="149324"/>
                      </a:lnTo>
                      <a:lnTo>
                        <a:pt x="127475" y="41382"/>
                      </a:lnTo>
                      <a:lnTo>
                        <a:pt x="115021" y="103747"/>
                      </a:lnTo>
                      <a:cubicBezTo>
                        <a:pt x="114100" y="108314"/>
                        <a:pt x="116619" y="112878"/>
                        <a:pt x="120974" y="114534"/>
                      </a:cubicBezTo>
                      <a:lnTo>
                        <a:pt x="183839" y="13810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9097518" y="216503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推理与部署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099042" y="2445068"/>
                <a:ext cx="1548194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OpenAI 协议服务端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与 Streamlit WebUI</a:t>
                </a:r>
              </a:p>
            </p:txBody>
          </p:sp>
        </p:grpSp>
      </p:grpSp>
      <p:grpSp>
        <p:nvGrpSpPr>
          <p:cNvPr id="69" name="model-family"/>
          <p:cNvGrpSpPr/>
          <p:nvPr/>
        </p:nvGrpSpPr>
        <p:grpSpPr>
          <a:xfrm>
            <a:off x="609600" y="3124200"/>
            <a:ext cx="10972800" cy="2714625"/>
            <a:chOff x="609600" y="3124200"/>
            <a:chExt cx="10972800" cy="2714625"/>
          </a:xfrm>
        </p:grpSpPr>
        <p:sp>
          <p:nvSpPr>
            <p:cNvPr id="30" name="Rectangle 30"/>
            <p:cNvSpPr/>
            <p:nvPr/>
          </p:nvSpPr>
          <p:spPr>
            <a:xfrm>
              <a:off x="609600" y="312420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09600" y="3619500"/>
              <a:ext cx="10972800" cy="2219325"/>
              <a:chOff x="609600" y="3619500"/>
              <a:chExt cx="10972800" cy="2219325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609600" y="36195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609600" y="41719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609600" y="47244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609600" y="52768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609600" y="58293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755142" y="3283268"/>
              <a:ext cx="8187690" cy="264033"/>
              <a:chOff x="755142" y="3283268"/>
              <a:chExt cx="8187690" cy="264033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755142" y="32832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模型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850642" y="32832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参数量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488942" y="32832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层数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517642" y="3283268"/>
                <a:ext cx="7043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d_model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079742" y="3283268"/>
                <a:ext cx="8291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KV / Q 头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565642" y="32832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说明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752856" y="3768090"/>
              <a:ext cx="10470032" cy="2009394"/>
              <a:chOff x="752856" y="3768090"/>
              <a:chExt cx="10470032" cy="2009394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752856" y="3768090"/>
                <a:ext cx="13286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minimind-3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848356" y="3768090"/>
                <a:ext cx="4919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64M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486656" y="376809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515356" y="37680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768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077456" y="3768090"/>
                <a:ext cx="56349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 / 8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563356" y="3768090"/>
                <a:ext cx="23884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Dense，当前主线版本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52856" y="4320540"/>
                <a:ext cx="19392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minimind-3-moe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848356" y="4320540"/>
                <a:ext cx="13880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198M-A64M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486656" y="432054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515356" y="43205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768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077456" y="4320540"/>
                <a:ext cx="56349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 / 8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563356" y="4320540"/>
                <a:ext cx="26595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 experts / top-1 路由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52856" y="4872990"/>
                <a:ext cx="11886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minimind2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2848356" y="4872990"/>
                <a:ext cx="6327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104M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486656" y="4872990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515356" y="48729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768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077456" y="4872990"/>
                <a:ext cx="56349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/ 8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563356" y="48729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历史版本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52856" y="5425440"/>
                <a:ext cx="19519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minimind2-small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2848356" y="5425440"/>
                <a:ext cx="4919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26M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486656" y="542544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515356" y="54254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512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077456" y="5425440"/>
                <a:ext cx="56349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/ 8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563356" y="54254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历史版本</a:t>
                </a:r>
              </a:p>
            </p:txBody>
          </p:sp>
        </p:grpSp>
      </p:grpSp>
      <p:grpSp>
        <p:nvGrpSpPr>
          <p:cNvPr id="71" name="page-foot"/>
          <p:cNvGrpSpPr/>
          <p:nvPr/>
        </p:nvGrpSpPr>
        <p:grpSpPr>
          <a:xfrm>
            <a:off x="602742" y="6426518"/>
            <a:ext cx="4939499" cy="264033"/>
            <a:chOff x="602742" y="6426518"/>
            <a:chExt cx="4939499" cy="264033"/>
          </a:xfrm>
        </p:grpSpPr>
        <p:sp>
          <p:nvSpPr>
            <p:cNvPr id="70" name="TextBox 70"/>
            <p:cNvSpPr txBox="1"/>
            <p:nvPr/>
          </p:nvSpPr>
          <p:spPr>
            <a:xfrm>
              <a:off x="602742" y="6426518"/>
              <a:ext cx="4939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配置数据来源：MiniMind README「模型」章节的模型参数表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8590924" cy="616077"/>
            <a:chOff x="593598" y="688658"/>
            <a:chExt cx="859092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85909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训练链路与成本：从 Pretrain 到 Agentic RL</a:t>
              </a:r>
            </a:p>
          </p:txBody>
        </p:sp>
      </p:grpSp>
      <p:sp>
        <p:nvSpPr>
          <p:cNvPr id="4" name="Freeform 4"/>
          <p:cNvSpPr/>
          <p:nvPr/>
        </p:nvSpPr>
        <p:spPr>
          <a:xfrm>
            <a:off x="609600" y="1600200"/>
            <a:ext cx="1924050" cy="6858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2419350" y="1600200"/>
            <a:ext cx="1924050" cy="6858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229100" y="1600200"/>
            <a:ext cx="1924050" cy="6858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6038850" y="1600200"/>
            <a:ext cx="1924050" cy="685800"/>
          </a:xfrm>
          <a:prstGeom prst="chevron">
            <a:avLst/>
          </a:prstGeom>
          <a:solidFill>
            <a:srgbClr val="47617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848600" y="1600200"/>
            <a:ext cx="1924050" cy="685800"/>
          </a:xfrm>
          <a:prstGeom prst="chevron">
            <a:avLst/>
          </a:prstGeom>
          <a:solidFill>
            <a:srgbClr val="47617A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9658350" y="1600200"/>
            <a:ext cx="1924050" cy="685800"/>
          </a:xfrm>
          <a:prstGeom prst="chevron">
            <a:avLst/>
          </a:prstGeom>
          <a:solidFill>
            <a:srgbClr val="47617A"/>
          </a:solidFill>
          <a:ln>
            <a:noFill/>
          </a:ln>
        </p:spPr>
      </p:sp>
      <p:grpSp>
        <p:nvGrpSpPr>
          <p:cNvPr id="17" name="pipeline-labels"/>
          <p:cNvGrpSpPr/>
          <p:nvPr/>
        </p:nvGrpSpPr>
        <p:grpSpPr>
          <a:xfrm>
            <a:off x="1184995" y="1854518"/>
            <a:ext cx="9905153" cy="264033"/>
            <a:chOff x="1184995" y="1854518"/>
            <a:chExt cx="9905153" cy="264033"/>
          </a:xfrm>
        </p:grpSpPr>
        <p:grpSp>
          <p:nvGrpSpPr>
            <p:cNvPr id="16" name="Group 16"/>
            <p:cNvGrpSpPr/>
            <p:nvPr/>
          </p:nvGrpSpPr>
          <p:grpSpPr>
            <a:xfrm>
              <a:off x="1184995" y="1854518"/>
              <a:ext cx="9905153" cy="264033"/>
              <a:chOff x="1184995" y="1854518"/>
              <a:chExt cx="9905153" cy="264033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184995" y="1854518"/>
                <a:ext cx="7732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Pretrain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216097" y="1854518"/>
                <a:ext cx="3305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SFT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975870" y="1854518"/>
                <a:ext cx="4305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LoRA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816395" y="1854518"/>
                <a:ext cx="3689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DPO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285302" y="1854518"/>
                <a:ext cx="1050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PPO / GRPO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150602" y="1854518"/>
                <a:ext cx="9395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Agentic RL</a:t>
                </a:r>
              </a:p>
            </p:txBody>
          </p:sp>
        </p:grpSp>
      </p:grpSp>
      <p:grpSp>
        <p:nvGrpSpPr>
          <p:cNvPr id="19" name="pipeline-figure"/>
          <p:cNvGrpSpPr/>
          <p:nvPr/>
        </p:nvGrpSpPr>
        <p:grpSpPr>
          <a:xfrm>
            <a:off x="609600" y="2438400"/>
            <a:ext cx="10972800" cy="2619375"/>
            <a:chOff x="609600" y="2438400"/>
            <a:chExt cx="10972800" cy="2619375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438400"/>
              <a:ext cx="10972800" cy="2619375"/>
            </a:xfrm>
            <a:prstGeom prst="rect">
              <a:avLst/>
            </a:prstGeom>
          </p:spPr>
        </p:pic>
      </p:grpSp>
      <p:grpSp>
        <p:nvGrpSpPr>
          <p:cNvPr id="21" name="pipeline-caption"/>
          <p:cNvGrpSpPr/>
          <p:nvPr/>
        </p:nvGrpSpPr>
        <p:grpSpPr>
          <a:xfrm>
            <a:off x="602742" y="5197792"/>
            <a:ext cx="7464933" cy="264033"/>
            <a:chOff x="602742" y="5197792"/>
            <a:chExt cx="7464933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602742" y="5197792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上排深色为必做阶段，浅色三段为可选；另有一条知识蒸馏支线，用大模型的输出去教小模型</a:t>
              </a:r>
            </a:p>
          </p:txBody>
        </p:sp>
      </p:grpSp>
      <p:grpSp>
        <p:nvGrpSpPr>
          <p:cNvPr id="23" name="stage-duties"/>
          <p:cNvGrpSpPr/>
          <p:nvPr/>
        </p:nvGrpSpPr>
        <p:grpSpPr>
          <a:xfrm>
            <a:off x="600456" y="5549265"/>
            <a:ext cx="8876538" cy="656844"/>
            <a:chOff x="600456" y="5549265"/>
            <a:chExt cx="8876538" cy="656844"/>
          </a:xfrm>
        </p:grpSpPr>
        <p:sp>
          <p:nvSpPr>
            <p:cNvPr id="22" name="TextBox 22"/>
            <p:cNvSpPr txBox="1"/>
            <p:nvPr/>
          </p:nvSpPr>
          <p:spPr>
            <a:xfrm>
              <a:off x="600456" y="5549265"/>
              <a:ext cx="887653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Pretrain 学会语言 → SFT 学会对话 → LoRA 低成本微调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DPO 用人类偏好对齐 · PPO / GRPO / CISPO 用 AI 反馈对齐 · Agentic RL 多轮工具调用</a:t>
              </a:r>
            </a:p>
          </p:txBody>
        </p:sp>
      </p:grpSp>
      <p:grpSp>
        <p:nvGrpSpPr>
          <p:cNvPr id="25" name="page-foot"/>
          <p:cNvGrpSpPr/>
          <p:nvPr/>
        </p:nvGrpSpPr>
        <p:grpSpPr>
          <a:xfrm>
            <a:off x="602742" y="6426518"/>
            <a:ext cx="9373882" cy="264033"/>
            <a:chOff x="602742" y="6426518"/>
            <a:chExt cx="9373882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602742" y="6426518"/>
              <a:ext cx="9373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mini 组合（pretrain_t2t_mini + sft_t2t_mini）≈ 2 小时、≈ 3 元；完整组合 ≈ 22 小时　来源：MiniMind README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rgbClr val="25496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divider-field"/>
          <p:cNvGrpSpPr/>
          <p:nvPr/>
        </p:nvGrpSpPr>
        <p:grpSpPr>
          <a:xfrm>
            <a:off x="8248650" y="-1085850"/>
            <a:ext cx="6286500" cy="9810750"/>
            <a:chOff x="8248650" y="-1085850"/>
            <a:chExt cx="6286500" cy="9810750"/>
          </a:xfrm>
        </p:grpSpPr>
        <p:sp>
          <p:nvSpPr>
            <p:cNvPr id="2" name="Ellipse 2"/>
            <p:cNvSpPr/>
            <p:nvPr/>
          </p:nvSpPr>
          <p:spPr>
            <a:xfrm>
              <a:off x="8248650" y="-1085850"/>
              <a:ext cx="6286500" cy="6286500"/>
            </a:xfrm>
            <a:prstGeom prst="ellipse">
              <a:avLst/>
            </a:prstGeom>
            <a:solidFill>
              <a:schemeClr val="lt1">
                <a:alpha val="5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63050" y="3924300"/>
              <a:ext cx="4800600" cy="480060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</p:grpSp>
      <p:grpSp>
        <p:nvGrpSpPr>
          <p:cNvPr id="8" name="chapter-title"/>
          <p:cNvGrpSpPr/>
          <p:nvPr/>
        </p:nvGrpSpPr>
        <p:grpSpPr>
          <a:xfrm>
            <a:off x="590550" y="1835468"/>
            <a:ext cx="5421547" cy="2051494"/>
            <a:chOff x="590550" y="1835468"/>
            <a:chExt cx="5421547" cy="2051494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1835468"/>
              <a:ext cx="1498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rgbClr val="ADB6BF"/>
                  </a:solidFill>
                  <a:latin typeface="+mn-lt"/>
                  <a:ea typeface="+mn-ea"/>
                  <a:cs typeface="+mn-cs"/>
                </a:rPr>
                <a:t>PART 2 · 内核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432685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从项目到内核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7408" y="3417570"/>
              <a:ext cx="541468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CED3D6"/>
                  </a:solidFill>
                  <a:latin typeface="+mn-lt"/>
                  <a:ea typeface="+mn-ea"/>
                  <a:cs typeface="+mn-cs"/>
                </a:rPr>
                <a:t>8 层 Transformer，进出都是 768 维</a:t>
              </a:r>
            </a:p>
          </p:txBody>
        </p:sp>
      </p:grpSp>
      <p:grpSp>
        <p:nvGrpSpPr>
          <p:cNvPr id="10" name="core-claim"/>
          <p:cNvGrpSpPr/>
          <p:nvPr/>
        </p:nvGrpSpPr>
        <p:grpSpPr>
          <a:xfrm>
            <a:off x="600456" y="4377690"/>
            <a:ext cx="5984748" cy="713994"/>
            <a:chOff x="600456" y="4377690"/>
            <a:chExt cx="5984748" cy="713994"/>
          </a:xfrm>
        </p:grpSpPr>
        <p:sp>
          <p:nvSpPr>
            <p:cNvPr id="9" name="TextBox 9"/>
            <p:cNvSpPr txBox="1"/>
            <p:nvPr/>
          </p:nvSpPr>
          <p:spPr>
            <a:xfrm>
              <a:off x="600456" y="4377690"/>
              <a:ext cx="598474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 xml:space="preserve">一次前向传播里，张量进出 </a:t>
              </a:r>
              <a:r>
                <a:rPr lang="zh-CN" sz="1800" b="1" dirty="0">
                  <a:solidFill>
                    <a:srgbClr val="E8B79C"/>
                  </a:solidFill>
                  <a:latin typeface="+mn-lt"/>
                  <a:ea typeface="+mn-ea"/>
                  <a:cs typeface="+mn-cs"/>
                </a:rPr>
                <a:t>8 层</a:t>
              </a:r>
              <a:r>
                <a:rPr lang="zh-CN" sz="1800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 xml:space="preserve"> 始终是 </a:t>
              </a:r>
              <a:r>
                <a:rPr lang="zh-CN" sz="1800" b="1" dirty="0">
                  <a:solidFill>
                    <a:srgbClr val="E8B79C"/>
                  </a:solidFill>
                  <a:latin typeface="+mn-lt"/>
                  <a:ea typeface="+mn-ea"/>
                  <a:cs typeface="+mn-cs"/>
                </a:rPr>
                <a:t>(32, 340, 768)</a:t>
              </a:r>
              <a:br/>
              <a:r>
                <a:rPr lang="zh-CN" sz="1800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形状守恒，内容精炼——变的只是每个位置读懂了多少上下文</a:t>
              </a:r>
            </a:p>
          </p:txBody>
        </p:sp>
      </p:grpSp>
      <p:grpSp>
        <p:nvGrpSpPr>
          <p:cNvPr id="12" name="running-example"/>
          <p:cNvGrpSpPr/>
          <p:nvPr/>
        </p:nvGrpSpPr>
        <p:grpSpPr>
          <a:xfrm>
            <a:off x="600456" y="5444490"/>
            <a:ext cx="7421042" cy="352044"/>
            <a:chOff x="600456" y="5444490"/>
            <a:chExt cx="7421042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00456" y="5444490"/>
              <a:ext cx="7421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ED3D6"/>
                  </a:solidFill>
                  <a:latin typeface="+mn-lt"/>
                  <a:ea typeface="+mn-ea"/>
                  <a:cs typeface="+mn-cs"/>
                </a:rPr>
                <a:t>接下来每一处机制，都用「我爱」→「我爱天空」这一条例子验算一次</a:t>
              </a:r>
            </a:p>
          </p:txBody>
        </p:sp>
      </p:grpSp>
      <p:grpSp>
        <p:nvGrpSpPr>
          <p:cNvPr id="14" name="page-foot"/>
          <p:cNvGrpSpPr/>
          <p:nvPr/>
        </p:nvGrpSpPr>
        <p:grpSpPr>
          <a:xfrm>
            <a:off x="602742" y="6293168"/>
            <a:ext cx="4102798" cy="264033"/>
            <a:chOff x="602742" y="6293168"/>
            <a:chExt cx="4102798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602742" y="6293168"/>
              <a:ext cx="4102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DB6BF"/>
                  </a:solidFill>
                  <a:latin typeface="+mn-lt"/>
                  <a:ea typeface="+mn-ea"/>
                  <a:cs typeface="+mn-cs"/>
                </a:rPr>
                <a:t>全篇代码锚点统一指向 model/model_minimind.py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6816852" cy="616077"/>
            <a:chOff x="593598" y="688658"/>
            <a:chExt cx="681685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全局地图：一次前向传播的完整旅程</a:t>
              </a:r>
            </a:p>
          </p:txBody>
        </p:sp>
      </p:grpSp>
      <p:grpSp>
        <p:nvGrpSpPr>
          <p:cNvPr id="5" name="structure-figure"/>
          <p:cNvGrpSpPr/>
          <p:nvPr/>
        </p:nvGrpSpPr>
        <p:grpSpPr>
          <a:xfrm>
            <a:off x="609600" y="1905000"/>
            <a:ext cx="5029200" cy="3143250"/>
            <a:chOff x="609600" y="1905000"/>
            <a:chExt cx="5029200" cy="31432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905000"/>
              <a:ext cx="5029200" cy="3143250"/>
            </a:xfrm>
            <a:prstGeom prst="rect">
              <a:avLst/>
            </a:prstGeom>
          </p:spPr>
        </p:pic>
      </p:grpSp>
      <p:grpSp>
        <p:nvGrpSpPr>
          <p:cNvPr id="7" name="figure-caption"/>
          <p:cNvGrpSpPr/>
          <p:nvPr/>
        </p:nvGrpSpPr>
        <p:grpSpPr>
          <a:xfrm>
            <a:off x="602742" y="5226368"/>
            <a:ext cx="3562731" cy="568833"/>
            <a:chOff x="602742" y="5226368"/>
            <a:chExt cx="3562731" cy="568833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5226368"/>
              <a:ext cx="3562731" cy="568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MiniMind Dense 模型结构图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左：整体流程｜中：Layer k｜右：GQA 与 FFN</a:t>
              </a:r>
            </a:p>
          </p:txBody>
        </p:sp>
      </p:grpSp>
      <p:grpSp>
        <p:nvGrpSpPr>
          <p:cNvPr id="12" name="step-1-tokenizer"/>
          <p:cNvGrpSpPr/>
          <p:nvPr/>
        </p:nvGrpSpPr>
        <p:grpSpPr>
          <a:xfrm>
            <a:off x="5962650" y="1822132"/>
            <a:ext cx="4352525" cy="544069"/>
            <a:chOff x="5962650" y="1822132"/>
            <a:chExt cx="4352525" cy="544069"/>
          </a:xfrm>
        </p:grpSpPr>
        <p:sp>
          <p:nvSpPr>
            <p:cNvPr id="8" name="Ellipse 8"/>
            <p:cNvSpPr/>
            <p:nvPr/>
          </p:nvSpPr>
          <p:spPr>
            <a:xfrm>
              <a:off x="5962650" y="184785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3258" y="19088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92418" y="1822132"/>
              <a:ext cx="20954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Tokenizer Encoder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93942" y="2102168"/>
              <a:ext cx="3921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「我爱」→ id 序列 [BOS, 我, 爱]，形状 (1, 3)</a:t>
              </a:r>
            </a:p>
          </p:txBody>
        </p:sp>
      </p:grpSp>
      <p:grpSp>
        <p:nvGrpSpPr>
          <p:cNvPr id="17" name="step-2-embedding"/>
          <p:cNvGrpSpPr/>
          <p:nvPr/>
        </p:nvGrpSpPr>
        <p:grpSpPr>
          <a:xfrm>
            <a:off x="5962650" y="2488882"/>
            <a:ext cx="4343267" cy="544069"/>
            <a:chOff x="5962650" y="2488882"/>
            <a:chExt cx="4343267" cy="544069"/>
          </a:xfrm>
        </p:grpSpPr>
        <p:sp>
          <p:nvSpPr>
            <p:cNvPr id="13" name="Ellipse 13"/>
            <p:cNvSpPr/>
            <p:nvPr/>
          </p:nvSpPr>
          <p:spPr>
            <a:xfrm>
              <a:off x="5962650" y="251460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43258" y="2575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2418" y="2488882"/>
              <a:ext cx="16814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Embedding 查表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3942" y="2768918"/>
              <a:ext cx="3911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(1, 3) → (1, 3, 768)，每个 id 换成 768 维向量</a:t>
              </a:r>
            </a:p>
          </p:txBody>
        </p:sp>
      </p:grpSp>
      <p:grpSp>
        <p:nvGrpSpPr>
          <p:cNvPr id="22" name="step-3-layers"/>
          <p:cNvGrpSpPr/>
          <p:nvPr/>
        </p:nvGrpSpPr>
        <p:grpSpPr>
          <a:xfrm>
            <a:off x="5962650" y="3155632"/>
            <a:ext cx="4366070" cy="544069"/>
            <a:chOff x="5962650" y="3155632"/>
            <a:chExt cx="4366070" cy="544069"/>
          </a:xfrm>
        </p:grpSpPr>
        <p:sp>
          <p:nvSpPr>
            <p:cNvPr id="18" name="Ellipse 18"/>
            <p:cNvSpPr/>
            <p:nvPr/>
          </p:nvSpPr>
          <p:spPr>
            <a:xfrm>
              <a:off x="5962650" y="31813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43258" y="32423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418" y="3155632"/>
              <a:ext cx="26004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× Transformer Layer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3942" y="3435668"/>
              <a:ext cx="393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注意力交换信息 + FFN 加工知识 + 残差 + 归一化</a:t>
              </a:r>
            </a:p>
          </p:txBody>
        </p:sp>
      </p:grpSp>
      <p:grpSp>
        <p:nvGrpSpPr>
          <p:cNvPr id="27" name="step-4-norm"/>
          <p:cNvGrpSpPr/>
          <p:nvPr/>
        </p:nvGrpSpPr>
        <p:grpSpPr>
          <a:xfrm>
            <a:off x="5962650" y="3822382"/>
            <a:ext cx="3171063" cy="544069"/>
            <a:chOff x="5962650" y="3822382"/>
            <a:chExt cx="3171063" cy="544069"/>
          </a:xfrm>
        </p:grpSpPr>
        <p:sp>
          <p:nvSpPr>
            <p:cNvPr id="23" name="Ellipse 23"/>
            <p:cNvSpPr/>
            <p:nvPr/>
          </p:nvSpPr>
          <p:spPr>
            <a:xfrm>
              <a:off x="5962650" y="384810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43258" y="3909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92418" y="3822382"/>
              <a:ext cx="1556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最终 RMSNorm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3942" y="41024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输出前最后一次归一化，形状不变</a:t>
              </a:r>
            </a:p>
          </p:txBody>
        </p:sp>
      </p:grpSp>
      <p:grpSp>
        <p:nvGrpSpPr>
          <p:cNvPr id="32" name="step-5-lmhead"/>
          <p:cNvGrpSpPr/>
          <p:nvPr/>
        </p:nvGrpSpPr>
        <p:grpSpPr>
          <a:xfrm>
            <a:off x="5962650" y="4489132"/>
            <a:ext cx="5097475" cy="544069"/>
            <a:chOff x="5962650" y="4489132"/>
            <a:chExt cx="5097475" cy="544069"/>
          </a:xfrm>
        </p:grpSpPr>
        <p:sp>
          <p:nvSpPr>
            <p:cNvPr id="28" name="Ellipse 28"/>
            <p:cNvSpPr/>
            <p:nvPr/>
          </p:nvSpPr>
          <p:spPr>
            <a:xfrm>
              <a:off x="5962650" y="451485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43258" y="45758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2418" y="4489132"/>
              <a:ext cx="9030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lm_head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3942" y="4769168"/>
              <a:ext cx="4666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(1, 3, 768) → (1, 3, 6400)，每个位置对 6400 个词打分</a:t>
              </a:r>
            </a:p>
          </p:txBody>
        </p:sp>
      </p:grpSp>
      <p:grpSp>
        <p:nvGrpSpPr>
          <p:cNvPr id="37" name="step-6-softmax"/>
          <p:cNvGrpSpPr/>
          <p:nvPr/>
        </p:nvGrpSpPr>
        <p:grpSpPr>
          <a:xfrm>
            <a:off x="5962650" y="5155882"/>
            <a:ext cx="3755660" cy="544069"/>
            <a:chOff x="5962650" y="5155882"/>
            <a:chExt cx="3755660" cy="544069"/>
          </a:xfrm>
        </p:grpSpPr>
        <p:sp>
          <p:nvSpPr>
            <p:cNvPr id="33" name="Ellipse 33"/>
            <p:cNvSpPr/>
            <p:nvPr/>
          </p:nvSpPr>
          <p:spPr>
            <a:xfrm>
              <a:off x="5962650" y="518160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43258" y="5242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2418" y="5155882"/>
              <a:ext cx="33258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SoftMax · Tokenizer Decoder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93942" y="5435918"/>
              <a:ext cx="2930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采样出下一个 token，再解码回文字</a:t>
              </a:r>
            </a:p>
          </p:txBody>
        </p:sp>
      </p:grpSp>
      <p:grpSp>
        <p:nvGrpSpPr>
          <p:cNvPr id="39" name="page-foot"/>
          <p:cNvGrpSpPr/>
          <p:nvPr/>
        </p:nvGrpSpPr>
        <p:grpSpPr>
          <a:xfrm>
            <a:off x="602742" y="6426518"/>
            <a:ext cx="5921794" cy="264033"/>
            <a:chOff x="602742" y="6426518"/>
            <a:chExt cx="5921794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602742" y="6426518"/>
              <a:ext cx="5921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代码锚点 MiniMindForCausalLM.forward · model/model_minimind.py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6619494" cy="616077"/>
            <a:chOff x="593598" y="688658"/>
            <a:chExt cx="661949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66194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入口 Embedding 与注意力在算什么</a:t>
              </a:r>
            </a:p>
          </p:txBody>
        </p:sp>
      </p:grpSp>
      <p:grpSp>
        <p:nvGrpSpPr>
          <p:cNvPr id="6" name="core-statement"/>
          <p:cNvGrpSpPr/>
          <p:nvPr/>
        </p:nvGrpSpPr>
        <p:grpSpPr>
          <a:xfrm>
            <a:off x="609600" y="1638300"/>
            <a:ext cx="10972800" cy="609600"/>
            <a:chOff x="609600" y="1638300"/>
            <a:chExt cx="10972800" cy="609600"/>
          </a:xfrm>
        </p:grpSpPr>
        <p:sp>
          <p:nvSpPr>
            <p:cNvPr id="4" name="Rectangle 4"/>
            <p:cNvSpPr/>
            <p:nvPr/>
          </p:nvSpPr>
          <p:spPr>
            <a:xfrm>
              <a:off x="609600" y="1638300"/>
              <a:ext cx="10972800" cy="609600"/>
            </a:xfrm>
            <a:prstGeom prst="roundRect">
              <a:avLst>
                <a:gd name="adj" fmla="val 25000"/>
              </a:avLst>
            </a:prstGeom>
            <a:solidFill>
              <a:schemeClr val="accent1">
                <a:alpha val="6000"/>
              </a:schemeClr>
            </a:solidFill>
            <a:ln>
              <a:noFill/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5" name="TextBox 5"/>
            <p:cNvSpPr txBox="1"/>
            <p:nvPr/>
          </p:nvSpPr>
          <p:spPr>
            <a:xfrm>
              <a:off x="904494" y="1808798"/>
              <a:ext cx="77244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注意力让每个 token 环顾全句，从相关处抄一点信息回来更新自己</a:t>
              </a:r>
            </a:p>
          </p:txBody>
        </p:sp>
      </p:grpSp>
      <p:grpSp>
        <p:nvGrpSpPr>
          <p:cNvPr id="12" name="embedding-block"/>
          <p:cNvGrpSpPr/>
          <p:nvPr/>
        </p:nvGrpSpPr>
        <p:grpSpPr>
          <a:xfrm>
            <a:off x="600456" y="2581275"/>
            <a:ext cx="3693604" cy="1823276"/>
            <a:chOff x="600456" y="2581275"/>
            <a:chExt cx="3693604" cy="1823276"/>
          </a:xfrm>
        </p:grpSpPr>
        <p:grpSp>
          <p:nvGrpSpPr>
            <p:cNvPr id="9" name="Group 9"/>
            <p:cNvGrpSpPr/>
            <p:nvPr/>
          </p:nvGrpSpPr>
          <p:grpSpPr>
            <a:xfrm>
              <a:off x="647700" y="2581275"/>
              <a:ext cx="228600" cy="247650"/>
              <a:chOff x="647700" y="2581275"/>
              <a:chExt cx="228600" cy="2476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57225" y="2590800"/>
                <a:ext cx="2095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14300">
                    <a:moveTo>
                      <a:pt x="209550" y="57150"/>
                    </a:moveTo>
                    <a:cubicBezTo>
                      <a:pt x="209550" y="88713"/>
                      <a:pt x="162639" y="114300"/>
                      <a:pt x="104775" y="114300"/>
                    </a:cubicBezTo>
                    <a:cubicBezTo>
                      <a:pt x="46911" y="114300"/>
                      <a:pt x="0" y="88713"/>
                      <a:pt x="0" y="57150"/>
                    </a:cubicBezTo>
                    <a:cubicBezTo>
                      <a:pt x="0" y="25587"/>
                      <a:pt x="46911" y="0"/>
                      <a:pt x="104775" y="0"/>
                    </a:cubicBezTo>
                    <a:cubicBezTo>
                      <a:pt x="162639" y="0"/>
                      <a:pt x="209550" y="25587"/>
                      <a:pt x="209550" y="57150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7700" y="2581275"/>
                <a:ext cx="2286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7650">
                    <a:moveTo>
                      <a:pt x="114300" y="0"/>
                    </a:moveTo>
                    <a:cubicBezTo>
                      <a:pt x="50209" y="0"/>
                      <a:pt x="0" y="29289"/>
                      <a:pt x="0" y="66675"/>
                    </a:cubicBezTo>
                    <a:lnTo>
                      <a:pt x="0" y="180975"/>
                    </a:lnTo>
                    <a:cubicBezTo>
                      <a:pt x="0" y="218361"/>
                      <a:pt x="50209" y="247650"/>
                      <a:pt x="114300" y="247650"/>
                    </a:cubicBezTo>
                    <a:cubicBezTo>
                      <a:pt x="178391" y="247650"/>
                      <a:pt x="228600" y="218361"/>
                      <a:pt x="228600" y="180975"/>
                    </a:cubicBezTo>
                    <a:lnTo>
                      <a:pt x="228600" y="66675"/>
                    </a:lnTo>
                    <a:cubicBezTo>
                      <a:pt x="228600" y="29289"/>
                      <a:pt x="178391" y="0"/>
                      <a:pt x="114300" y="0"/>
                    </a:cubicBezTo>
                    <a:close/>
                    <a:moveTo>
                      <a:pt x="209550" y="123825"/>
                    </a:moveTo>
                    <a:cubicBezTo>
                      <a:pt x="209550" y="135279"/>
                      <a:pt x="200168" y="146959"/>
                      <a:pt x="183821" y="155877"/>
                    </a:cubicBezTo>
                    <a:cubicBezTo>
                      <a:pt x="165414" y="165914"/>
                      <a:pt x="140720" y="171450"/>
                      <a:pt x="114300" y="171450"/>
                    </a:cubicBezTo>
                    <a:cubicBezTo>
                      <a:pt x="87880" y="171450"/>
                      <a:pt x="63186" y="165914"/>
                      <a:pt x="44779" y="155877"/>
                    </a:cubicBezTo>
                    <a:cubicBezTo>
                      <a:pt x="28432" y="146959"/>
                      <a:pt x="19050" y="135279"/>
                      <a:pt x="19050" y="123825"/>
                    </a:cubicBezTo>
                    <a:lnTo>
                      <a:pt x="19050" y="104013"/>
                    </a:lnTo>
                    <a:cubicBezTo>
                      <a:pt x="39362" y="121872"/>
                      <a:pt x="74093" y="133350"/>
                      <a:pt x="114300" y="133350"/>
                    </a:cubicBezTo>
                    <a:cubicBezTo>
                      <a:pt x="154507" y="133350"/>
                      <a:pt x="189238" y="121825"/>
                      <a:pt x="209550" y="104013"/>
                    </a:cubicBezTo>
                    <a:close/>
                    <a:moveTo>
                      <a:pt x="44779" y="34623"/>
                    </a:moveTo>
                    <a:cubicBezTo>
                      <a:pt x="63186" y="24586"/>
                      <a:pt x="87880" y="19050"/>
                      <a:pt x="114300" y="19050"/>
                    </a:cubicBezTo>
                    <a:cubicBezTo>
                      <a:pt x="140720" y="19050"/>
                      <a:pt x="165414" y="24586"/>
                      <a:pt x="183821" y="34623"/>
                    </a:cubicBezTo>
                    <a:cubicBezTo>
                      <a:pt x="200168" y="43541"/>
                      <a:pt x="209550" y="55221"/>
                      <a:pt x="209550" y="66675"/>
                    </a:cubicBezTo>
                    <a:cubicBezTo>
                      <a:pt x="209550" y="78129"/>
                      <a:pt x="200168" y="89809"/>
                      <a:pt x="183821" y="98727"/>
                    </a:cubicBezTo>
                    <a:cubicBezTo>
                      <a:pt x="165414" y="108764"/>
                      <a:pt x="140720" y="114300"/>
                      <a:pt x="114300" y="114300"/>
                    </a:cubicBezTo>
                    <a:cubicBezTo>
                      <a:pt x="87880" y="114300"/>
                      <a:pt x="63186" y="108764"/>
                      <a:pt x="44779" y="98727"/>
                    </a:cubicBezTo>
                    <a:cubicBezTo>
                      <a:pt x="28432" y="89809"/>
                      <a:pt x="19050" y="78129"/>
                      <a:pt x="19050" y="66675"/>
                    </a:cubicBezTo>
                    <a:cubicBezTo>
                      <a:pt x="19050" y="55221"/>
                      <a:pt x="28432" y="43541"/>
                      <a:pt x="44779" y="34623"/>
                    </a:cubicBezTo>
                    <a:close/>
                    <a:moveTo>
                      <a:pt x="183821" y="213027"/>
                    </a:moveTo>
                    <a:cubicBezTo>
                      <a:pt x="165414" y="223064"/>
                      <a:pt x="140720" y="228600"/>
                      <a:pt x="114300" y="228600"/>
                    </a:cubicBezTo>
                    <a:cubicBezTo>
                      <a:pt x="87880" y="228600"/>
                      <a:pt x="63186" y="223064"/>
                      <a:pt x="44779" y="213027"/>
                    </a:cubicBezTo>
                    <a:cubicBezTo>
                      <a:pt x="28432" y="204109"/>
                      <a:pt x="19050" y="192429"/>
                      <a:pt x="19050" y="180975"/>
                    </a:cubicBezTo>
                    <a:lnTo>
                      <a:pt x="19050" y="161163"/>
                    </a:lnTo>
                    <a:cubicBezTo>
                      <a:pt x="39362" y="179022"/>
                      <a:pt x="74093" y="190500"/>
                      <a:pt x="114300" y="190500"/>
                    </a:cubicBezTo>
                    <a:cubicBezTo>
                      <a:pt x="154507" y="190500"/>
                      <a:pt x="189238" y="178975"/>
                      <a:pt x="209550" y="161163"/>
                    </a:cubicBezTo>
                    <a:lnTo>
                      <a:pt x="209550" y="180975"/>
                    </a:lnTo>
                    <a:cubicBezTo>
                      <a:pt x="209550" y="192429"/>
                      <a:pt x="200168" y="204109"/>
                      <a:pt x="183821" y="2130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600456" y="2948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入口：查表，而不是加权混合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3340418"/>
              <a:ext cx="369131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nn.Embedding(6400, 768)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是一张可学习的表格，输入 id 就抄出对应的一行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 lm_head 共享权重，省下约 490 万参数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但位置 5 和位置 300 的「好」查出来一模一样</a:t>
              </a:r>
            </a:p>
          </p:txBody>
        </p:sp>
      </p:grpSp>
      <p:grpSp>
        <p:nvGrpSpPr>
          <p:cNvPr id="20" name="analogy-block"/>
          <p:cNvGrpSpPr/>
          <p:nvPr/>
        </p:nvGrpSpPr>
        <p:grpSpPr>
          <a:xfrm>
            <a:off x="6086856" y="2609850"/>
            <a:ext cx="4427068" cy="1870901"/>
            <a:chOff x="6086856" y="2609850"/>
            <a:chExt cx="4427068" cy="1870901"/>
          </a:xfrm>
        </p:grpSpPr>
        <p:grpSp>
          <p:nvGrpSpPr>
            <p:cNvPr id="15" name="Group 15"/>
            <p:cNvGrpSpPr/>
            <p:nvPr/>
          </p:nvGrpSpPr>
          <p:grpSpPr>
            <a:xfrm>
              <a:off x="6105251" y="2609850"/>
              <a:ext cx="286297" cy="190500"/>
              <a:chOff x="6105251" y="2609850"/>
              <a:chExt cx="286297" cy="190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115050" y="2619375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133350" y="0"/>
                    </a:moveTo>
                    <a:cubicBezTo>
                      <a:pt x="38100" y="0"/>
                      <a:pt x="0" y="85725"/>
                      <a:pt x="0" y="85725"/>
                    </a:cubicBezTo>
                    <a:cubicBezTo>
                      <a:pt x="0" y="85725"/>
                      <a:pt x="38100" y="171450"/>
                      <a:pt x="133350" y="171450"/>
                    </a:cubicBezTo>
                    <a:cubicBezTo>
                      <a:pt x="228600" y="171450"/>
                      <a:pt x="266700" y="85725"/>
                      <a:pt x="266700" y="85725"/>
                    </a:cubicBezTo>
                    <a:cubicBezTo>
                      <a:pt x="266700" y="85725"/>
                      <a:pt x="228600" y="0"/>
                      <a:pt x="133350" y="0"/>
                    </a:cubicBezTo>
                    <a:close/>
                    <a:moveTo>
                      <a:pt x="133350" y="133350"/>
                    </a:moveTo>
                    <a:cubicBezTo>
                      <a:pt x="107047" y="133350"/>
                      <a:pt x="85725" y="112028"/>
                      <a:pt x="85725" y="85725"/>
                    </a:cubicBezTo>
                    <a:cubicBezTo>
                      <a:pt x="85725" y="59422"/>
                      <a:pt x="107047" y="38100"/>
                      <a:pt x="133350" y="38100"/>
                    </a:cubicBezTo>
                    <a:cubicBezTo>
                      <a:pt x="159653" y="38100"/>
                      <a:pt x="180975" y="59422"/>
                      <a:pt x="180975" y="85725"/>
                    </a:cubicBezTo>
                    <a:cubicBezTo>
                      <a:pt x="180975" y="112028"/>
                      <a:pt x="159653" y="133350"/>
                      <a:pt x="133350" y="133350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105251" y="2609850"/>
                <a:ext cx="286297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6297" h="190500">
                    <a:moveTo>
                      <a:pt x="285202" y="91392"/>
                    </a:moveTo>
                    <a:cubicBezTo>
                      <a:pt x="284785" y="90452"/>
                      <a:pt x="274701" y="68080"/>
                      <a:pt x="252281" y="45660"/>
                    </a:cubicBezTo>
                    <a:cubicBezTo>
                      <a:pt x="222409" y="15788"/>
                      <a:pt x="184678" y="0"/>
                      <a:pt x="143149" y="0"/>
                    </a:cubicBezTo>
                    <a:cubicBezTo>
                      <a:pt x="101620" y="0"/>
                      <a:pt x="63889" y="15788"/>
                      <a:pt x="34016" y="45660"/>
                    </a:cubicBezTo>
                    <a:cubicBezTo>
                      <a:pt x="11597" y="68080"/>
                      <a:pt x="1464" y="90488"/>
                      <a:pt x="1095" y="91392"/>
                    </a:cubicBezTo>
                    <a:cubicBezTo>
                      <a:pt x="0" y="93856"/>
                      <a:pt x="0" y="96668"/>
                      <a:pt x="1095" y="99131"/>
                    </a:cubicBezTo>
                    <a:cubicBezTo>
                      <a:pt x="1512" y="100072"/>
                      <a:pt x="11597" y="122432"/>
                      <a:pt x="34016" y="144851"/>
                    </a:cubicBezTo>
                    <a:cubicBezTo>
                      <a:pt x="63889" y="174712"/>
                      <a:pt x="101620" y="190500"/>
                      <a:pt x="143149" y="190500"/>
                    </a:cubicBezTo>
                    <a:cubicBezTo>
                      <a:pt x="184678" y="190500"/>
                      <a:pt x="222409" y="174712"/>
                      <a:pt x="252281" y="144851"/>
                    </a:cubicBezTo>
                    <a:cubicBezTo>
                      <a:pt x="274701" y="122432"/>
                      <a:pt x="284785" y="100072"/>
                      <a:pt x="285202" y="99131"/>
                    </a:cubicBezTo>
                    <a:cubicBezTo>
                      <a:pt x="286297" y="96668"/>
                      <a:pt x="286297" y="93856"/>
                      <a:pt x="285202" y="91392"/>
                    </a:cubicBezTo>
                    <a:close/>
                    <a:moveTo>
                      <a:pt x="143149" y="171450"/>
                    </a:moveTo>
                    <a:cubicBezTo>
                      <a:pt x="106501" y="171450"/>
                      <a:pt x="74485" y="158127"/>
                      <a:pt x="47982" y="131862"/>
                    </a:cubicBezTo>
                    <a:cubicBezTo>
                      <a:pt x="37107" y="121047"/>
                      <a:pt x="27856" y="108715"/>
                      <a:pt x="20514" y="95250"/>
                    </a:cubicBezTo>
                    <a:cubicBezTo>
                      <a:pt x="27854" y="81783"/>
                      <a:pt x="37106" y="69451"/>
                      <a:pt x="47982" y="58638"/>
                    </a:cubicBezTo>
                    <a:cubicBezTo>
                      <a:pt x="74485" y="32373"/>
                      <a:pt x="106501" y="19050"/>
                      <a:pt x="143149" y="19050"/>
                    </a:cubicBezTo>
                    <a:cubicBezTo>
                      <a:pt x="179796" y="19050"/>
                      <a:pt x="211812" y="32373"/>
                      <a:pt x="238315" y="58638"/>
                    </a:cubicBezTo>
                    <a:cubicBezTo>
                      <a:pt x="249211" y="69449"/>
                      <a:pt x="258483" y="81781"/>
                      <a:pt x="265843" y="95250"/>
                    </a:cubicBezTo>
                    <a:cubicBezTo>
                      <a:pt x="257258" y="111276"/>
                      <a:pt x="219861" y="171450"/>
                      <a:pt x="143149" y="171450"/>
                    </a:cubicBezTo>
                    <a:close/>
                    <a:moveTo>
                      <a:pt x="143149" y="38100"/>
                    </a:moveTo>
                    <a:cubicBezTo>
                      <a:pt x="111586" y="38100"/>
                      <a:pt x="85999" y="63687"/>
                      <a:pt x="85999" y="95250"/>
                    </a:cubicBezTo>
                    <a:cubicBezTo>
                      <a:pt x="85999" y="126813"/>
                      <a:pt x="111586" y="152400"/>
                      <a:pt x="143149" y="152400"/>
                    </a:cubicBezTo>
                    <a:cubicBezTo>
                      <a:pt x="174712" y="152400"/>
                      <a:pt x="200299" y="126813"/>
                      <a:pt x="200299" y="95250"/>
                    </a:cubicBezTo>
                    <a:cubicBezTo>
                      <a:pt x="200266" y="63701"/>
                      <a:pt x="174698" y="38133"/>
                      <a:pt x="143149" y="38100"/>
                    </a:cubicBezTo>
                    <a:close/>
                    <a:moveTo>
                      <a:pt x="143149" y="133350"/>
                    </a:moveTo>
                    <a:cubicBezTo>
                      <a:pt x="122107" y="133350"/>
                      <a:pt x="105049" y="116292"/>
                      <a:pt x="105049" y="95250"/>
                    </a:cubicBezTo>
                    <a:cubicBezTo>
                      <a:pt x="105049" y="74208"/>
                      <a:pt x="122107" y="57150"/>
                      <a:pt x="143149" y="57150"/>
                    </a:cubicBezTo>
                    <a:cubicBezTo>
                      <a:pt x="164191" y="57150"/>
                      <a:pt x="181249" y="74208"/>
                      <a:pt x="181249" y="95250"/>
                    </a:cubicBezTo>
                    <a:cubicBezTo>
                      <a:pt x="181249" y="116292"/>
                      <a:pt x="164191" y="133350"/>
                      <a:pt x="143149" y="1333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6086856" y="29489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注意力在算什么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6856" y="33299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「小明养了一只猫，它很可爱」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9142" y="3683318"/>
              <a:ext cx="34427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读到「它」时回看上文，发现它指的是「猫」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于是把猫的信息合并进对「它」的理解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89142" y="4216718"/>
              <a:ext cx="4424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Q、K、V 是同一个向量经三个线性层变换出的</a:t>
              </a:r>
              <a:r>
                <a:rPr lang="zh-CN" sz="1350" b="1" dirty="0">
                  <a:solidFill>
                    <a:srgbClr val="A8421F"/>
                  </a:solidFill>
                  <a:latin typeface="+mn-lt"/>
                  <a:ea typeface="+mn-ea"/>
                  <a:cs typeface="+mn-cs"/>
                </a:rPr>
                <a:t>三重身份</a:t>
              </a:r>
            </a:p>
          </p:txBody>
        </p:sp>
      </p:grpSp>
      <p:grpSp>
        <p:nvGrpSpPr>
          <p:cNvPr id="38" name="attention-steps"/>
          <p:cNvGrpSpPr/>
          <p:nvPr/>
        </p:nvGrpSpPr>
        <p:grpSpPr>
          <a:xfrm>
            <a:off x="1520000" y="4819650"/>
            <a:ext cx="9333737" cy="994601"/>
            <a:chOff x="1520000" y="4819650"/>
            <a:chExt cx="9333737" cy="994601"/>
          </a:xfrm>
        </p:grpSpPr>
        <p:sp>
          <p:nvSpPr>
            <p:cNvPr id="21" name="Line 21"/>
            <p:cNvSpPr/>
            <p:nvPr/>
          </p:nvSpPr>
          <p:spPr>
            <a:xfrm>
              <a:off x="1981200" y="4991100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809750" y="4819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21865" y="491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21319" y="5270182"/>
              <a:ext cx="7197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生成 Q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20000" y="5550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我想找什么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552950" y="4819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65065" y="491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89162" y="5270182"/>
              <a:ext cx="6704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生成 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0594" y="5550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每个词能提供什么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296150" y="4819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08265" y="491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72182" y="5270182"/>
              <a:ext cx="9908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Q·K 打分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2057" y="5550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提问和标签对不对得上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10039350" y="48196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151465" y="4912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53439" y="5270182"/>
              <a:ext cx="11147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加权求和 V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67862" y="5550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按相关度抄内容</a:t>
              </a:r>
            </a:p>
          </p:txBody>
        </p:sp>
      </p:grpSp>
      <p:grpSp>
        <p:nvGrpSpPr>
          <p:cNvPr id="40" name="page-foot"/>
          <p:cNvGrpSpPr/>
          <p:nvPr/>
        </p:nvGrpSpPr>
        <p:grpSpPr>
          <a:xfrm>
            <a:off x="602742" y="6426518"/>
            <a:ext cx="8395283" cy="264033"/>
            <a:chOff x="602742" y="6426518"/>
            <a:chExt cx="8395283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602742" y="6426518"/>
              <a:ext cx="8395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代码锚点 nn.Embedding（201 行）与 Attention.forward（91–134 行）· model/model_minimind.py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5133975" cy="616077"/>
            <a:chOff x="593598" y="688658"/>
            <a:chExt cx="513397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51339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Attention 的三处关键设计</a:t>
              </a:r>
            </a:p>
          </p:txBody>
        </p:sp>
      </p:grpSp>
      <p:grpSp>
        <p:nvGrpSpPr>
          <p:cNvPr id="10" name="design-gqa"/>
          <p:cNvGrpSpPr/>
          <p:nvPr/>
        </p:nvGrpSpPr>
        <p:grpSpPr>
          <a:xfrm>
            <a:off x="609600" y="1600200"/>
            <a:ext cx="3552825" cy="2400300"/>
            <a:chOff x="609600" y="1600200"/>
            <a:chExt cx="3552825" cy="2400300"/>
          </a:xfrm>
        </p:grpSpPr>
        <p:sp>
          <p:nvSpPr>
            <p:cNvPr id="4" name="Rectangle 4"/>
            <p:cNvSpPr/>
            <p:nvPr/>
          </p:nvSpPr>
          <p:spPr>
            <a:xfrm>
              <a:off x="609600" y="1600200"/>
              <a:ext cx="3552825" cy="2400300"/>
            </a:xfrm>
            <a:prstGeom prst="roundRect">
              <a:avLst>
                <a:gd name="adj" fmla="val 6349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825711" y="1827205"/>
              <a:ext cx="234590" cy="250841"/>
              <a:chOff x="825711" y="1827205"/>
              <a:chExt cx="234590" cy="25084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835819" y="1836539"/>
                <a:ext cx="214313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125016">
                    <a:moveTo>
                      <a:pt x="214313" y="62508"/>
                    </a:moveTo>
                    <a:lnTo>
                      <a:pt x="107157" y="125016"/>
                    </a:lnTo>
                    <a:lnTo>
                      <a:pt x="0" y="62508"/>
                    </a:lnTo>
                    <a:lnTo>
                      <a:pt x="107157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25711" y="1827205"/>
                <a:ext cx="234590" cy="250841"/>
              </a:xfrm>
              <a:custGeom>
                <a:avLst/>
                <a:gdLst/>
                <a:ahLst/>
                <a:cxnLst/>
                <a:rect l="l" t="t" r="r" b="b"/>
                <a:pathLst>
                  <a:path w="234590" h="250841">
                    <a:moveTo>
                      <a:pt x="232134" y="174534"/>
                    </a:moveTo>
                    <a:cubicBezTo>
                      <a:pt x="234590" y="178795"/>
                      <a:pt x="233137" y="184240"/>
                      <a:pt x="228886" y="186712"/>
                    </a:cubicBezTo>
                    <a:lnTo>
                      <a:pt x="121729" y="249220"/>
                    </a:lnTo>
                    <a:cubicBezTo>
                      <a:pt x="118949" y="250841"/>
                      <a:pt x="115512" y="250841"/>
                      <a:pt x="112733" y="249220"/>
                    </a:cubicBezTo>
                    <a:lnTo>
                      <a:pt x="5576" y="186712"/>
                    </a:lnTo>
                    <a:cubicBezTo>
                      <a:pt x="1388" y="184195"/>
                      <a:pt x="0" y="178780"/>
                      <a:pt x="2462" y="174559"/>
                    </a:cubicBezTo>
                    <a:cubicBezTo>
                      <a:pt x="4923" y="170338"/>
                      <a:pt x="10320" y="168880"/>
                      <a:pt x="14573" y="171286"/>
                    </a:cubicBezTo>
                    <a:lnTo>
                      <a:pt x="117264" y="231171"/>
                    </a:lnTo>
                    <a:lnTo>
                      <a:pt x="219956" y="171286"/>
                    </a:lnTo>
                    <a:cubicBezTo>
                      <a:pt x="224217" y="168830"/>
                      <a:pt x="229662" y="170283"/>
                      <a:pt x="232134" y="174534"/>
                    </a:cubicBezTo>
                    <a:close/>
                    <a:moveTo>
                      <a:pt x="219956" y="117707"/>
                    </a:moveTo>
                    <a:lnTo>
                      <a:pt x="117264" y="177592"/>
                    </a:lnTo>
                    <a:lnTo>
                      <a:pt x="14573" y="117707"/>
                    </a:lnTo>
                    <a:cubicBezTo>
                      <a:pt x="10352" y="115606"/>
                      <a:pt x="5226" y="117148"/>
                      <a:pt x="2864" y="121228"/>
                    </a:cubicBezTo>
                    <a:cubicBezTo>
                      <a:pt x="502" y="125307"/>
                      <a:pt x="1719" y="130521"/>
                      <a:pt x="5643" y="133134"/>
                    </a:cubicBezTo>
                    <a:lnTo>
                      <a:pt x="112799" y="195642"/>
                    </a:lnTo>
                    <a:cubicBezTo>
                      <a:pt x="115579" y="197263"/>
                      <a:pt x="119016" y="197263"/>
                      <a:pt x="121796" y="195642"/>
                    </a:cubicBezTo>
                    <a:lnTo>
                      <a:pt x="228953" y="133134"/>
                    </a:lnTo>
                    <a:cubicBezTo>
                      <a:pt x="231754" y="131549"/>
                      <a:pt x="233485" y="128580"/>
                      <a:pt x="233485" y="125361"/>
                    </a:cubicBezTo>
                    <a:cubicBezTo>
                      <a:pt x="233485" y="122143"/>
                      <a:pt x="231754" y="119174"/>
                      <a:pt x="228953" y="117589"/>
                    </a:cubicBezTo>
                    <a:cubicBezTo>
                      <a:pt x="226152" y="116005"/>
                      <a:pt x="222715" y="116050"/>
                      <a:pt x="219956" y="117707"/>
                    </a:cubicBezTo>
                    <a:close/>
                    <a:moveTo>
                      <a:pt x="1178" y="71842"/>
                    </a:moveTo>
                    <a:cubicBezTo>
                      <a:pt x="1185" y="68659"/>
                      <a:pt x="2886" y="65721"/>
                      <a:pt x="5643" y="64129"/>
                    </a:cubicBezTo>
                    <a:lnTo>
                      <a:pt x="112799" y="1621"/>
                    </a:lnTo>
                    <a:cubicBezTo>
                      <a:pt x="115579" y="0"/>
                      <a:pt x="119016" y="0"/>
                      <a:pt x="121796" y="1621"/>
                    </a:cubicBezTo>
                    <a:lnTo>
                      <a:pt x="228953" y="64129"/>
                    </a:lnTo>
                    <a:cubicBezTo>
                      <a:pt x="231696" y="65729"/>
                      <a:pt x="233383" y="68666"/>
                      <a:pt x="233383" y="71842"/>
                    </a:cubicBezTo>
                    <a:cubicBezTo>
                      <a:pt x="233383" y="75018"/>
                      <a:pt x="231696" y="77955"/>
                      <a:pt x="228953" y="79555"/>
                    </a:cubicBezTo>
                    <a:lnTo>
                      <a:pt x="121796" y="142063"/>
                    </a:lnTo>
                    <a:cubicBezTo>
                      <a:pt x="119016" y="143684"/>
                      <a:pt x="115579" y="143684"/>
                      <a:pt x="112799" y="142063"/>
                    </a:cubicBezTo>
                    <a:lnTo>
                      <a:pt x="5643" y="79555"/>
                    </a:lnTo>
                    <a:cubicBezTo>
                      <a:pt x="2886" y="77964"/>
                      <a:pt x="1185" y="75025"/>
                      <a:pt x="1178" y="71842"/>
                    </a:cubicBezTo>
                    <a:close/>
                    <a:moveTo>
                      <a:pt x="27833" y="71842"/>
                    </a:moveTo>
                    <a:lnTo>
                      <a:pt x="117264" y="124014"/>
                    </a:lnTo>
                    <a:lnTo>
                      <a:pt x="206696" y="71842"/>
                    </a:lnTo>
                    <a:lnTo>
                      <a:pt x="117264" y="1967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791718" y="2203132"/>
              <a:ext cx="14350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GQA 分组查询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3242" y="2578418"/>
              <a:ext cx="2362581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 Q 头共享 4 组 K/V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每组被 2 个 Q 头共享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打分前用 repeat_kv 补成 8 份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KV 参数与推理缓存双双减半</a:t>
              </a:r>
            </a:p>
          </p:txBody>
        </p:sp>
      </p:grpSp>
      <p:grpSp>
        <p:nvGrpSpPr>
          <p:cNvPr id="17" name="design-qknorm"/>
          <p:cNvGrpSpPr/>
          <p:nvPr/>
        </p:nvGrpSpPr>
        <p:grpSpPr>
          <a:xfrm>
            <a:off x="4314825" y="1600200"/>
            <a:ext cx="3552825" cy="2400300"/>
            <a:chOff x="4314825" y="1600200"/>
            <a:chExt cx="3552825" cy="2400300"/>
          </a:xfrm>
        </p:grpSpPr>
        <p:sp>
          <p:nvSpPr>
            <p:cNvPr id="11" name="Rectangle 11"/>
            <p:cNvSpPr/>
            <p:nvPr/>
          </p:nvSpPr>
          <p:spPr>
            <a:xfrm>
              <a:off x="4314825" y="1600200"/>
              <a:ext cx="3552825" cy="2400300"/>
            </a:xfrm>
            <a:prstGeom prst="roundRect">
              <a:avLst>
                <a:gd name="adj" fmla="val 6349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4523177" y="1845469"/>
              <a:ext cx="250047" cy="214313"/>
              <a:chOff x="4523177" y="1845469"/>
              <a:chExt cx="250047" cy="21431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532114" y="1872258"/>
                <a:ext cx="232173" cy="151805"/>
              </a:xfrm>
              <a:custGeom>
                <a:avLst/>
                <a:gdLst/>
                <a:ahLst/>
                <a:cxnLst/>
                <a:rect l="l" t="t" r="r" b="b"/>
                <a:pathLst>
                  <a:path w="232173" h="151805">
                    <a:moveTo>
                      <a:pt x="35719" y="35719"/>
                    </a:moveTo>
                    <a:lnTo>
                      <a:pt x="71438" y="125016"/>
                    </a:lnTo>
                    <a:cubicBezTo>
                      <a:pt x="71438" y="144740"/>
                      <a:pt x="49113" y="151805"/>
                      <a:pt x="35719" y="151805"/>
                    </a:cubicBezTo>
                    <a:cubicBezTo>
                      <a:pt x="22324" y="151805"/>
                      <a:pt x="0" y="144740"/>
                      <a:pt x="0" y="125016"/>
                    </a:cubicBezTo>
                    <a:close/>
                    <a:moveTo>
                      <a:pt x="196454" y="0"/>
                    </a:moveTo>
                    <a:lnTo>
                      <a:pt x="160735" y="89297"/>
                    </a:lnTo>
                    <a:cubicBezTo>
                      <a:pt x="160735" y="109021"/>
                      <a:pt x="183059" y="116086"/>
                      <a:pt x="196454" y="116086"/>
                    </a:cubicBezTo>
                    <a:cubicBezTo>
                      <a:pt x="209849" y="116086"/>
                      <a:pt x="232173" y="109021"/>
                      <a:pt x="232173" y="89297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523177" y="1845469"/>
                <a:ext cx="250047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250047" h="214313">
                    <a:moveTo>
                      <a:pt x="249403" y="112738"/>
                    </a:moveTo>
                    <a:lnTo>
                      <a:pt x="213684" y="23441"/>
                    </a:lnTo>
                    <a:lnTo>
                      <a:pt x="213684" y="23441"/>
                    </a:lnTo>
                    <a:cubicBezTo>
                      <a:pt x="212060" y="19378"/>
                      <a:pt x="207731" y="17091"/>
                      <a:pt x="203460" y="18038"/>
                    </a:cubicBezTo>
                    <a:lnTo>
                      <a:pt x="133953" y="33486"/>
                    </a:lnTo>
                    <a:lnTo>
                      <a:pt x="133953" y="8930"/>
                    </a:lnTo>
                    <a:cubicBezTo>
                      <a:pt x="133953" y="3998"/>
                      <a:pt x="129955" y="0"/>
                      <a:pt x="125023" y="0"/>
                    </a:cubicBezTo>
                    <a:cubicBezTo>
                      <a:pt x="120092" y="0"/>
                      <a:pt x="116094" y="3998"/>
                      <a:pt x="116094" y="8930"/>
                    </a:cubicBezTo>
                    <a:lnTo>
                      <a:pt x="116094" y="37483"/>
                    </a:lnTo>
                    <a:lnTo>
                      <a:pt x="42714" y="53790"/>
                    </a:lnTo>
                    <a:cubicBezTo>
                      <a:pt x="39841" y="54425"/>
                      <a:pt x="37466" y="56433"/>
                      <a:pt x="36362" y="59159"/>
                    </a:cubicBezTo>
                    <a:lnTo>
                      <a:pt x="36362" y="59159"/>
                    </a:lnTo>
                    <a:lnTo>
                      <a:pt x="36362" y="59226"/>
                    </a:lnTo>
                    <a:lnTo>
                      <a:pt x="643" y="148457"/>
                    </a:lnTo>
                    <a:cubicBezTo>
                      <a:pt x="216" y="149521"/>
                      <a:pt x="0" y="150658"/>
                      <a:pt x="7" y="151805"/>
                    </a:cubicBezTo>
                    <a:cubicBezTo>
                      <a:pt x="7" y="177824"/>
                      <a:pt x="27399" y="187524"/>
                      <a:pt x="44656" y="187524"/>
                    </a:cubicBezTo>
                    <a:cubicBezTo>
                      <a:pt x="61912" y="187524"/>
                      <a:pt x="89304" y="177824"/>
                      <a:pt x="89304" y="151805"/>
                    </a:cubicBezTo>
                    <a:cubicBezTo>
                      <a:pt x="89312" y="150658"/>
                      <a:pt x="89095" y="149521"/>
                      <a:pt x="88668" y="148457"/>
                    </a:cubicBezTo>
                    <a:lnTo>
                      <a:pt x="56845" y="68949"/>
                    </a:lnTo>
                    <a:lnTo>
                      <a:pt x="116094" y="55811"/>
                    </a:lnTo>
                    <a:lnTo>
                      <a:pt x="116094" y="196454"/>
                    </a:lnTo>
                    <a:lnTo>
                      <a:pt x="98234" y="196454"/>
                    </a:lnTo>
                    <a:cubicBezTo>
                      <a:pt x="93302" y="196454"/>
                      <a:pt x="89304" y="200452"/>
                      <a:pt x="89304" y="205384"/>
                    </a:cubicBezTo>
                    <a:cubicBezTo>
                      <a:pt x="89304" y="210315"/>
                      <a:pt x="93302" y="214313"/>
                      <a:pt x="98234" y="214313"/>
                    </a:cubicBezTo>
                    <a:lnTo>
                      <a:pt x="151812" y="214313"/>
                    </a:lnTo>
                    <a:cubicBezTo>
                      <a:pt x="156744" y="214313"/>
                      <a:pt x="160742" y="210315"/>
                      <a:pt x="160742" y="205384"/>
                    </a:cubicBezTo>
                    <a:cubicBezTo>
                      <a:pt x="160742" y="200452"/>
                      <a:pt x="156744" y="196454"/>
                      <a:pt x="151812" y="196454"/>
                    </a:cubicBezTo>
                    <a:lnTo>
                      <a:pt x="133953" y="196454"/>
                    </a:lnTo>
                    <a:lnTo>
                      <a:pt x="133953" y="51815"/>
                    </a:lnTo>
                    <a:lnTo>
                      <a:pt x="190880" y="39179"/>
                    </a:lnTo>
                    <a:lnTo>
                      <a:pt x="161378" y="112738"/>
                    </a:lnTo>
                    <a:cubicBezTo>
                      <a:pt x="160951" y="113802"/>
                      <a:pt x="160735" y="114940"/>
                      <a:pt x="160742" y="116086"/>
                    </a:cubicBezTo>
                    <a:cubicBezTo>
                      <a:pt x="160742" y="142105"/>
                      <a:pt x="188134" y="151805"/>
                      <a:pt x="205391" y="151805"/>
                    </a:cubicBezTo>
                    <a:cubicBezTo>
                      <a:pt x="222648" y="151805"/>
                      <a:pt x="250039" y="142105"/>
                      <a:pt x="250039" y="116086"/>
                    </a:cubicBezTo>
                    <a:cubicBezTo>
                      <a:pt x="250047" y="114940"/>
                      <a:pt x="249831" y="113802"/>
                      <a:pt x="249403" y="112738"/>
                    </a:cubicBezTo>
                    <a:close/>
                    <a:moveTo>
                      <a:pt x="44656" y="169665"/>
                    </a:moveTo>
                    <a:cubicBezTo>
                      <a:pt x="36251" y="169665"/>
                      <a:pt x="19251" y="165635"/>
                      <a:pt x="17945" y="153323"/>
                    </a:cubicBezTo>
                    <a:lnTo>
                      <a:pt x="44656" y="86551"/>
                    </a:lnTo>
                    <a:lnTo>
                      <a:pt x="71367" y="153323"/>
                    </a:lnTo>
                    <a:cubicBezTo>
                      <a:pt x="70061" y="165635"/>
                      <a:pt x="53061" y="169665"/>
                      <a:pt x="44656" y="169665"/>
                    </a:cubicBezTo>
                    <a:close/>
                    <a:moveTo>
                      <a:pt x="205391" y="133946"/>
                    </a:moveTo>
                    <a:cubicBezTo>
                      <a:pt x="196986" y="133946"/>
                      <a:pt x="179986" y="129916"/>
                      <a:pt x="178680" y="117604"/>
                    </a:cubicBezTo>
                    <a:lnTo>
                      <a:pt x="205391" y="50832"/>
                    </a:lnTo>
                    <a:lnTo>
                      <a:pt x="232102" y="117604"/>
                    </a:lnTo>
                    <a:cubicBezTo>
                      <a:pt x="230796" y="129916"/>
                      <a:pt x="213796" y="133946"/>
                      <a:pt x="205391" y="1339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4496943" y="2203132"/>
              <a:ext cx="17743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QK-Norm 稳数值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98467" y="2578418"/>
              <a:ext cx="269690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对切完头的 Q、K 各做一次归一化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 不做归一化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防止 softmax 饱和，稳住打分区间</a:t>
              </a:r>
            </a:p>
          </p:txBody>
        </p:sp>
      </p:grpSp>
      <p:grpSp>
        <p:nvGrpSpPr>
          <p:cNvPr id="24" name="design-rope"/>
          <p:cNvGrpSpPr/>
          <p:nvPr/>
        </p:nvGrpSpPr>
        <p:grpSpPr>
          <a:xfrm>
            <a:off x="8020050" y="1600200"/>
            <a:ext cx="3552825" cy="2400300"/>
            <a:chOff x="8020050" y="1600200"/>
            <a:chExt cx="3552825" cy="2400300"/>
          </a:xfrm>
        </p:grpSpPr>
        <p:sp>
          <p:nvSpPr>
            <p:cNvPr id="18" name="Rectangle 18"/>
            <p:cNvSpPr/>
            <p:nvPr/>
          </p:nvSpPr>
          <p:spPr>
            <a:xfrm>
              <a:off x="8020050" y="1600200"/>
              <a:ext cx="3552825" cy="2400300"/>
            </a:xfrm>
            <a:prstGeom prst="roundRect">
              <a:avLst>
                <a:gd name="adj" fmla="val 6349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55199" y="1827609"/>
              <a:ext cx="196454" cy="250568"/>
              <a:chOff x="8255199" y="1827609"/>
              <a:chExt cx="196454" cy="25056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264128" y="1836539"/>
                <a:ext cx="178595" cy="232173"/>
              </a:xfrm>
              <a:custGeom>
                <a:avLst/>
                <a:gdLst/>
                <a:ahLst/>
                <a:cxnLst/>
                <a:rect l="l" t="t" r="r" b="b"/>
                <a:pathLst>
                  <a:path w="178595" h="232173">
                    <a:moveTo>
                      <a:pt x="89297" y="0"/>
                    </a:moveTo>
                    <a:cubicBezTo>
                      <a:pt x="39980" y="0"/>
                      <a:pt x="0" y="39980"/>
                      <a:pt x="0" y="89297"/>
                    </a:cubicBezTo>
                    <a:cubicBezTo>
                      <a:pt x="0" y="169665"/>
                      <a:pt x="89297" y="232173"/>
                      <a:pt x="89297" y="232173"/>
                    </a:cubicBezTo>
                    <a:cubicBezTo>
                      <a:pt x="89297" y="232173"/>
                      <a:pt x="178595" y="169665"/>
                      <a:pt x="178595" y="89297"/>
                    </a:cubicBezTo>
                    <a:cubicBezTo>
                      <a:pt x="178595" y="39980"/>
                      <a:pt x="138615" y="0"/>
                      <a:pt x="89297" y="0"/>
                    </a:cubicBezTo>
                    <a:close/>
                    <a:moveTo>
                      <a:pt x="89297" y="125016"/>
                    </a:moveTo>
                    <a:cubicBezTo>
                      <a:pt x="69570" y="125016"/>
                      <a:pt x="53578" y="109024"/>
                      <a:pt x="53578" y="89297"/>
                    </a:cubicBezTo>
                    <a:cubicBezTo>
                      <a:pt x="53578" y="69570"/>
                      <a:pt x="69570" y="53578"/>
                      <a:pt x="89297" y="53578"/>
                    </a:cubicBezTo>
                    <a:cubicBezTo>
                      <a:pt x="109024" y="53578"/>
                      <a:pt x="125016" y="69570"/>
                      <a:pt x="125016" y="89297"/>
                    </a:cubicBezTo>
                    <a:cubicBezTo>
                      <a:pt x="125016" y="109024"/>
                      <a:pt x="109024" y="125016"/>
                      <a:pt x="89297" y="125016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55199" y="1827609"/>
                <a:ext cx="196454" cy="250568"/>
              </a:xfrm>
              <a:custGeom>
                <a:avLst/>
                <a:gdLst/>
                <a:ahLst/>
                <a:cxnLst/>
                <a:rect l="l" t="t" r="r" b="b"/>
                <a:pathLst>
                  <a:path w="196454" h="250568">
                    <a:moveTo>
                      <a:pt x="98227" y="53578"/>
                    </a:moveTo>
                    <a:cubicBezTo>
                      <a:pt x="73568" y="53578"/>
                      <a:pt x="53578" y="73568"/>
                      <a:pt x="53578" y="98227"/>
                    </a:cubicBezTo>
                    <a:cubicBezTo>
                      <a:pt x="53578" y="122886"/>
                      <a:pt x="73568" y="142876"/>
                      <a:pt x="98227" y="142876"/>
                    </a:cubicBezTo>
                    <a:cubicBezTo>
                      <a:pt x="122886" y="142876"/>
                      <a:pt x="142876" y="122886"/>
                      <a:pt x="142876" y="98227"/>
                    </a:cubicBezTo>
                    <a:cubicBezTo>
                      <a:pt x="142876" y="73568"/>
                      <a:pt x="122886" y="53578"/>
                      <a:pt x="98227" y="53578"/>
                    </a:cubicBezTo>
                    <a:close/>
                    <a:moveTo>
                      <a:pt x="98227" y="125016"/>
                    </a:moveTo>
                    <a:cubicBezTo>
                      <a:pt x="83432" y="125016"/>
                      <a:pt x="71438" y="113022"/>
                      <a:pt x="71438" y="98227"/>
                    </a:cubicBezTo>
                    <a:cubicBezTo>
                      <a:pt x="71438" y="83432"/>
                      <a:pt x="83432" y="71438"/>
                      <a:pt x="98227" y="71438"/>
                    </a:cubicBezTo>
                    <a:cubicBezTo>
                      <a:pt x="113022" y="71438"/>
                      <a:pt x="125016" y="83432"/>
                      <a:pt x="125016" y="98227"/>
                    </a:cubicBezTo>
                    <a:cubicBezTo>
                      <a:pt x="125016" y="113022"/>
                      <a:pt x="113022" y="125016"/>
                      <a:pt x="98227" y="125016"/>
                    </a:cubicBezTo>
                    <a:close/>
                    <a:moveTo>
                      <a:pt x="98227" y="0"/>
                    </a:moveTo>
                    <a:cubicBezTo>
                      <a:pt x="44003" y="62"/>
                      <a:pt x="62" y="44003"/>
                      <a:pt x="0" y="98227"/>
                    </a:cubicBezTo>
                    <a:cubicBezTo>
                      <a:pt x="0" y="133276"/>
                      <a:pt x="16196" y="170424"/>
                      <a:pt x="46881" y="205663"/>
                    </a:cubicBezTo>
                    <a:cubicBezTo>
                      <a:pt x="60669" y="221586"/>
                      <a:pt x="76187" y="235925"/>
                      <a:pt x="93148" y="248414"/>
                    </a:cubicBezTo>
                    <a:cubicBezTo>
                      <a:pt x="96224" y="250568"/>
                      <a:pt x="100319" y="250568"/>
                      <a:pt x="103395" y="248414"/>
                    </a:cubicBezTo>
                    <a:cubicBezTo>
                      <a:pt x="120325" y="235920"/>
                      <a:pt x="135813" y="221581"/>
                      <a:pt x="149573" y="205663"/>
                    </a:cubicBezTo>
                    <a:cubicBezTo>
                      <a:pt x="180213" y="170424"/>
                      <a:pt x="196454" y="133276"/>
                      <a:pt x="196454" y="98227"/>
                    </a:cubicBezTo>
                    <a:cubicBezTo>
                      <a:pt x="196392" y="44003"/>
                      <a:pt x="152451" y="62"/>
                      <a:pt x="98227" y="0"/>
                    </a:cubicBezTo>
                    <a:close/>
                    <a:moveTo>
                      <a:pt x="98227" y="229940"/>
                    </a:moveTo>
                    <a:cubicBezTo>
                      <a:pt x="79776" y="215430"/>
                      <a:pt x="17859" y="162130"/>
                      <a:pt x="17859" y="98227"/>
                    </a:cubicBezTo>
                    <a:cubicBezTo>
                      <a:pt x="17859" y="53841"/>
                      <a:pt x="53841" y="17859"/>
                      <a:pt x="98227" y="17859"/>
                    </a:cubicBezTo>
                    <a:cubicBezTo>
                      <a:pt x="142613" y="17859"/>
                      <a:pt x="178595" y="53841"/>
                      <a:pt x="178595" y="98227"/>
                    </a:cubicBezTo>
                    <a:cubicBezTo>
                      <a:pt x="178595" y="162108"/>
                      <a:pt x="116678" y="215430"/>
                      <a:pt x="98227" y="22994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202168" y="2203132"/>
              <a:ext cx="1957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RoPE 旋转位置编码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03692" y="2578418"/>
              <a:ext cx="3082671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 Q、K 旋转一个与位置成正比的角度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旋转后的点积天然反映相对距离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 不旋转，cos/sin 表预计算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注意：V' 头顶的符号是复制，不是 RoPE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msnorm-formula"/>
              <p:cNvSpPr txBox="1">
                <a:spLocks noGrp="1"/>
              </p:cNvSpPr>
              <p:nvPr/>
            </p:nvSpPr>
            <p:spPr>
              <a:xfrm>
                <a:off x="609600" y="4229100"/>
                <a:ext cx="66675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B3A5C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RMSNorm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B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B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B3A5C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B3A5C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B3A5C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⊙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B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B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950" dirty="0">
                                  <a:solidFill>
                                    <a:srgbClr val="1B3A5C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B3A5C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mean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B3A5C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B3A5C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zh-CN" sz="1950" dirty="0">
                                          <a:solidFill>
                                            <a:srgbClr val="1B3A5C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B3A5C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950" dirty="0">
                                  <a:solidFill>
                                    <a:srgbClr val="1B3A5C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ϵ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7" name="rope-evidence"/>
          <p:cNvGrpSpPr/>
          <p:nvPr/>
        </p:nvGrpSpPr>
        <p:grpSpPr>
          <a:xfrm>
            <a:off x="8029962" y="4191000"/>
            <a:ext cx="3542527" cy="2114550"/>
            <a:chOff x="8029962" y="4191000"/>
            <a:chExt cx="3542527" cy="21145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29962" y="4191000"/>
              <a:ext cx="3542527" cy="2114550"/>
            </a:xfrm>
            <a:prstGeom prst="rect">
              <a:avLst/>
            </a:prstGeom>
          </p:spPr>
        </p:pic>
      </p:grpSp>
      <p:grpSp>
        <p:nvGrpSpPr>
          <p:cNvPr id="29" name="page-foot"/>
          <p:cNvGrpSpPr/>
          <p:nvPr/>
        </p:nvGrpSpPr>
        <p:grpSpPr>
          <a:xfrm>
            <a:off x="602742" y="6426518"/>
            <a:ext cx="9771636" cy="264033"/>
            <a:chOff x="602742" y="6426518"/>
            <a:chExt cx="9771636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602742" y="6426518"/>
              <a:ext cx="9771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代码锚点 Attention（91–134 行）· repeat_kv（86–89 行）· model_minimind.py　｜　右侧：官方 RoPE / YaRN 曲线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7496480" cy="616077"/>
            <a:chOff x="593598" y="688658"/>
            <a:chExt cx="749648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74964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打分 → 因果掩码 → SoftMax → 加权求和</a:t>
              </a:r>
            </a:p>
          </p:txBody>
        </p:sp>
      </p:grpSp>
      <p:grpSp>
        <p:nvGrpSpPr>
          <p:cNvPr id="33" name="attention-scores"/>
          <p:cNvGrpSpPr/>
          <p:nvPr/>
        </p:nvGrpSpPr>
        <p:grpSpPr>
          <a:xfrm>
            <a:off x="601218" y="1745932"/>
            <a:ext cx="3246882" cy="3706369"/>
            <a:chOff x="601218" y="1745932"/>
            <a:chExt cx="3246882" cy="3706369"/>
          </a:xfrm>
        </p:grpSpPr>
        <p:sp>
          <p:nvSpPr>
            <p:cNvPr id="4" name="TextBox 4"/>
            <p:cNvSpPr txBox="1"/>
            <p:nvPr/>
          </p:nvSpPr>
          <p:spPr>
            <a:xfrm>
              <a:off x="601218" y="17459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注意力权重矩阵</a:t>
              </a:r>
            </a:p>
          </p:txBody>
        </p:sp>
        <p:grpSp>
          <p:nvGrpSpPr>
            <p:cNvPr id="31" name="attention-scores-chartArea"/>
            <p:cNvGrpSpPr/>
            <p:nvPr/>
          </p:nvGrpSpPr>
          <p:grpSpPr>
            <a:xfrm>
              <a:off x="933298" y="2159318"/>
              <a:ext cx="2914802" cy="2774632"/>
              <a:chOff x="933298" y="2159318"/>
              <a:chExt cx="2914802" cy="2774632"/>
            </a:xfrm>
          </p:grpSpPr>
          <p:grpSp>
            <p:nvGrpSpPr>
              <p:cNvPr id="8" name="Group 8"/>
              <p:cNvGrpSpPr/>
              <p:nvPr/>
            </p:nvGrpSpPr>
            <p:grpSpPr>
              <a:xfrm>
                <a:off x="1587170" y="2159318"/>
                <a:ext cx="1958606" cy="264033"/>
                <a:chOff x="1587170" y="2159318"/>
                <a:chExt cx="1958606" cy="264033"/>
              </a:xfrm>
            </p:grpSpPr>
            <p:sp>
              <p:nvSpPr>
                <p:cNvPr id="5" name="TextBox 5"/>
                <p:cNvSpPr txBox="1"/>
                <p:nvPr/>
              </p:nvSpPr>
              <p:spPr>
                <a:xfrm>
                  <a:off x="1587170" y="2159318"/>
                  <a:ext cx="36896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BOS</a:t>
                  </a:r>
                </a:p>
              </p:txBody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2512123" y="2159318"/>
                  <a:ext cx="19545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我</a:t>
                  </a:r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3350323" y="2159318"/>
                  <a:ext cx="19545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爱</a:t>
                  </a:r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933298" y="2835592"/>
                <a:ext cx="368960" cy="1940433"/>
                <a:chOff x="933298" y="2835592"/>
                <a:chExt cx="368960" cy="1940433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933298" y="2835592"/>
                  <a:ext cx="36896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BOS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106805" y="3673792"/>
                  <a:ext cx="19545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我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1106805" y="4511992"/>
                  <a:ext cx="19545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爱</a:t>
                  </a:r>
                </a:p>
              </p:txBody>
            </p:sp>
          </p:grpSp>
          <p:sp>
            <p:nvSpPr>
              <p:cNvPr id="13" name="Rectangle 13"/>
              <p:cNvSpPr/>
              <p:nvPr/>
            </p:nvSpPr>
            <p:spPr>
              <a:xfrm>
                <a:off x="1371600" y="2457450"/>
                <a:ext cx="800100" cy="800100"/>
              </a:xfrm>
              <a:prstGeom prst="roundRect">
                <a:avLst>
                  <a:gd name="adj" fmla="val 9524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607362" y="27689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0.9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209800" y="2457450"/>
                <a:ext cx="800100" cy="800100"/>
              </a:xfrm>
              <a:prstGeom prst="roundRect">
                <a:avLst>
                  <a:gd name="adj" fmla="val 952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503037" y="276891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A8421F"/>
                    </a:solidFill>
                    <a:latin typeface="+mn-lt"/>
                    <a:ea typeface="+mn-ea"/>
                    <a:cs typeface="+mn-cs"/>
                  </a:rPr>
                  <a:t>−∞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3048000" y="2457450"/>
                <a:ext cx="800100" cy="800100"/>
              </a:xfrm>
              <a:prstGeom prst="roundRect">
                <a:avLst>
                  <a:gd name="adj" fmla="val 952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341237" y="276891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A8421F"/>
                    </a:solidFill>
                    <a:latin typeface="+mn-lt"/>
                    <a:ea typeface="+mn-ea"/>
                    <a:cs typeface="+mn-cs"/>
                  </a:rPr>
                  <a:t>−∞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371600" y="3295650"/>
                <a:ext cx="800100" cy="800100"/>
              </a:xfrm>
              <a:prstGeom prst="roundRect">
                <a:avLst>
                  <a:gd name="adj" fmla="val 9524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14859" y="3607118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0.3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209800" y="3295650"/>
                <a:ext cx="800100" cy="800100"/>
              </a:xfrm>
              <a:prstGeom prst="roundRect">
                <a:avLst>
                  <a:gd name="adj" fmla="val 9524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445562" y="36071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0.8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048000" y="3295650"/>
                <a:ext cx="800100" cy="800100"/>
              </a:xfrm>
              <a:prstGeom prst="roundRect">
                <a:avLst>
                  <a:gd name="adj" fmla="val 952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341237" y="360711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A8421F"/>
                    </a:solidFill>
                    <a:latin typeface="+mn-lt"/>
                    <a:ea typeface="+mn-ea"/>
                    <a:cs typeface="+mn-cs"/>
                  </a:rPr>
                  <a:t>−∞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1371600" y="4133850"/>
                <a:ext cx="800100" cy="800100"/>
              </a:xfrm>
              <a:prstGeom prst="roundRect">
                <a:avLst>
                  <a:gd name="adj" fmla="val 9524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614859" y="4445318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0.1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2209800" y="4133850"/>
                <a:ext cx="800100" cy="800100"/>
              </a:xfrm>
              <a:prstGeom prst="roundRect">
                <a:avLst>
                  <a:gd name="adj" fmla="val 9524"/>
                </a:avLst>
              </a:pr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453059" y="4445318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0.6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3048000" y="4133850"/>
                <a:ext cx="800100" cy="800100"/>
              </a:xfrm>
              <a:prstGeom prst="roundRect">
                <a:avLst>
                  <a:gd name="adj" fmla="val 9524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283762" y="44453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0.7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602742" y="4940618"/>
              <a:ext cx="236258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查询（行）× 键（列）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上三角是被 −∞ 挡住的未来位置</a:t>
              </a:r>
            </a:p>
          </p:txBody>
        </p:sp>
      </p:grpSp>
      <p:grpSp>
        <p:nvGrpSpPr>
          <p:cNvPr id="54" name="score-steps"/>
          <p:cNvGrpSpPr/>
          <p:nvPr/>
        </p:nvGrpSpPr>
        <p:grpSpPr>
          <a:xfrm>
            <a:off x="4381500" y="1822132"/>
            <a:ext cx="5124736" cy="3515869"/>
            <a:chOff x="4381500" y="1822132"/>
            <a:chExt cx="5124736" cy="3515869"/>
          </a:xfrm>
        </p:grpSpPr>
        <p:sp>
          <p:nvSpPr>
            <p:cNvPr id="34" name="Ellipse 34"/>
            <p:cNvSpPr/>
            <p:nvPr/>
          </p:nvSpPr>
          <p:spPr>
            <a:xfrm>
              <a:off x="4381500" y="188595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62108" y="19469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11268" y="1822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打分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12792" y="2102168"/>
              <a:ext cx="4402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scores = (xq @ xkᵀ) / √96，形状 (32, 8, 340, 340)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4381500" y="262890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62108" y="26898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11268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因果掩码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12792" y="2845118"/>
              <a:ext cx="413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上三角加 −∞，第 i 个 token 只能看它前面的 token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4381500" y="337185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62108" y="34328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11268" y="3308032"/>
              <a:ext cx="976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SoftMax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12792" y="3588068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把每行分数变成总和为 1 的注意力权重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381500" y="4114800"/>
              <a:ext cx="266700" cy="26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62108" y="41757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11268" y="4050982"/>
              <a:ext cx="11147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加权求和 V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12792" y="4331018"/>
              <a:ext cx="4323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token 的新表示 = 按相关度混合所有人的 V 信息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381500" y="48577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462108" y="4918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11268" y="4793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多头合头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12792" y="5073968"/>
              <a:ext cx="4693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个头各看各的角度，拼起来用 o_proj 融合回 768 维主干</a:t>
              </a:r>
            </a:p>
          </p:txBody>
        </p:sp>
      </p:grpSp>
      <p:grpSp>
        <p:nvGrpSpPr>
          <p:cNvPr id="57" name="inf-contrast"/>
          <p:cNvGrpSpPr/>
          <p:nvPr/>
        </p:nvGrpSpPr>
        <p:grpSpPr>
          <a:xfrm>
            <a:off x="609600" y="5505450"/>
            <a:ext cx="10972800" cy="748284"/>
            <a:chOff x="609600" y="5505450"/>
            <a:chExt cx="10972800" cy="748284"/>
          </a:xfrm>
        </p:grpSpPr>
        <p:sp>
          <p:nvSpPr>
            <p:cNvPr id="55" name="Rectangle 55"/>
            <p:cNvSpPr/>
            <p:nvPr/>
          </p:nvSpPr>
          <p:spPr>
            <a:xfrm>
              <a:off x="609600" y="5505450"/>
              <a:ext cx="10972800" cy="742950"/>
            </a:xfrm>
            <a:prstGeom prst="roundRect">
              <a:avLst>
                <a:gd name="adj" fmla="val 20513"/>
              </a:avLst>
            </a:prstGeom>
            <a:solidFill>
              <a:schemeClr val="accent2">
                <a:alpha val="7000"/>
              </a:scheme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05256" y="5615940"/>
              <a:ext cx="782497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掩码为什么用 −∞ 而不是 0：0 权重不够「死」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−∞ 经 softmax 变成精确的 0，断绝泄露，也让训练能并行算所有位置的 loss</a:t>
              </a:r>
            </a:p>
          </p:txBody>
        </p:sp>
      </p:grpSp>
      <p:grpSp>
        <p:nvGrpSpPr>
          <p:cNvPr id="59" name="page-foot"/>
          <p:cNvGrpSpPr/>
          <p:nvPr/>
        </p:nvGrpSpPr>
        <p:grpSpPr>
          <a:xfrm>
            <a:off x="602742" y="6426518"/>
            <a:ext cx="6974733" cy="264033"/>
            <a:chOff x="602742" y="6426518"/>
            <a:chExt cx="6974733" cy="264033"/>
          </a:xfrm>
        </p:grpSpPr>
        <p:sp>
          <p:nvSpPr>
            <p:cNvPr id="58" name="TextBox 58"/>
            <p:cNvSpPr txBox="1"/>
            <p:nvPr/>
          </p:nvSpPr>
          <p:spPr>
            <a:xfrm>
              <a:off x="602742" y="6426518"/>
              <a:ext cx="69747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代码锚点 打分 128 行 · mask 129 行 · SoftMax / 加权 126 / 131 行 · o_proj 133 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8436940" cy="616077"/>
            <a:chOff x="593598" y="688658"/>
            <a:chExt cx="843694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84369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FFN 与两个胶水：SwiGLU、残差、RMSNorm</a:t>
              </a:r>
            </a:p>
          </p:txBody>
        </p:sp>
      </p:grpSp>
      <p:grpSp>
        <p:nvGrpSpPr>
          <p:cNvPr id="6" name="donut-heading"/>
          <p:cNvGrpSpPr/>
          <p:nvPr/>
        </p:nvGrpSpPr>
        <p:grpSpPr>
          <a:xfrm>
            <a:off x="601218" y="1745932"/>
            <a:ext cx="3115742" cy="582169"/>
            <a:chOff x="601218" y="1745932"/>
            <a:chExt cx="3115742" cy="582169"/>
          </a:xfrm>
        </p:grpSpPr>
        <p:sp>
          <p:nvSpPr>
            <p:cNvPr id="4" name="TextBox 4"/>
            <p:cNvSpPr txBox="1"/>
            <p:nvPr/>
          </p:nvSpPr>
          <p:spPr>
            <a:xfrm>
              <a:off x="601218" y="17459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单层参数花在哪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2742" y="2064068"/>
              <a:ext cx="3114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注意力是计算热点，FFN 才是参数大头</a:t>
              </a:r>
            </a:p>
          </p:txBody>
        </p:sp>
      </p:grpSp>
      <p:grpSp>
        <p:nvGrpSpPr>
          <p:cNvPr id="16" name="layer-param-share"/>
          <p:cNvGrpSpPr/>
          <p:nvPr/>
        </p:nvGrpSpPr>
        <p:grpSpPr>
          <a:xfrm>
            <a:off x="1066800" y="2457446"/>
            <a:ext cx="2734113" cy="2823405"/>
            <a:chOff x="1066800" y="2457446"/>
            <a:chExt cx="2734113" cy="2823405"/>
          </a:xfrm>
        </p:grpSpPr>
        <p:grpSp>
          <p:nvGrpSpPr>
            <p:cNvPr id="9" name="layer-param-share-chartArea"/>
            <p:cNvGrpSpPr/>
            <p:nvPr/>
          </p:nvGrpSpPr>
          <p:grpSpPr>
            <a:xfrm>
              <a:off x="1555779" y="2457446"/>
              <a:ext cx="2245134" cy="2218389"/>
              <a:chOff x="1555779" y="2457446"/>
              <a:chExt cx="2245134" cy="22183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555779" y="2457450"/>
                <a:ext cx="2245134" cy="2218385"/>
              </a:xfrm>
              <a:custGeom>
                <a:avLst/>
                <a:gdLst/>
                <a:ahLst/>
                <a:cxnLst/>
                <a:rect l="l" t="t" r="r" b="b"/>
                <a:pathLst>
                  <a:path w="2245134" h="2218385">
                    <a:moveTo>
                      <a:pt x="1092171" y="0"/>
                    </a:moveTo>
                    <a:cubicBezTo>
                      <a:pt x="1529755" y="3"/>
                      <a:pt x="1922963" y="267229"/>
                      <a:pt x="2084048" y="674085"/>
                    </a:cubicBezTo>
                    <a:cubicBezTo>
                      <a:pt x="2245134" y="1080940"/>
                      <a:pt x="2141426" y="1544909"/>
                      <a:pt x="1822443" y="1844458"/>
                    </a:cubicBezTo>
                    <a:cubicBezTo>
                      <a:pt x="1503460" y="2144008"/>
                      <a:pt x="1033897" y="2218385"/>
                      <a:pt x="637956" y="2032076"/>
                    </a:cubicBezTo>
                    <a:cubicBezTo>
                      <a:pt x="242015" y="1845768"/>
                      <a:pt x="0" y="1436561"/>
                      <a:pt x="27466" y="999839"/>
                    </a:cubicBezTo>
                    <a:lnTo>
                      <a:pt x="445709" y="1026128"/>
                    </a:lnTo>
                    <a:cubicBezTo>
                      <a:pt x="429026" y="1291279"/>
                      <a:pt x="575955" y="1539728"/>
                      <a:pt x="816343" y="1652851"/>
                    </a:cubicBezTo>
                    <a:cubicBezTo>
                      <a:pt x="1056730" y="1765975"/>
                      <a:pt x="1341822" y="1720828"/>
                      <a:pt x="1535496" y="1538967"/>
                    </a:cubicBezTo>
                    <a:cubicBezTo>
                      <a:pt x="1729171" y="1357107"/>
                      <a:pt x="1792148" y="1075417"/>
                      <a:pt x="1694358" y="828394"/>
                    </a:cubicBezTo>
                    <a:cubicBezTo>
                      <a:pt x="1596569" y="581372"/>
                      <a:pt x="1357845" y="419116"/>
                      <a:pt x="1092171" y="4191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83246" y="2457446"/>
                <a:ext cx="1064704" cy="1026133"/>
              </a:xfrm>
              <a:custGeom>
                <a:avLst/>
                <a:gdLst/>
                <a:ahLst/>
                <a:cxnLst/>
                <a:rect l="l" t="t" r="r" b="b"/>
                <a:pathLst>
                  <a:path w="1064704" h="1026133">
                    <a:moveTo>
                      <a:pt x="0" y="999844"/>
                    </a:moveTo>
                    <a:cubicBezTo>
                      <a:pt x="35350" y="437774"/>
                      <a:pt x="501524" y="0"/>
                      <a:pt x="1064704" y="4"/>
                    </a:cubicBezTo>
                    <a:lnTo>
                      <a:pt x="1064704" y="419104"/>
                    </a:lnTo>
                    <a:cubicBezTo>
                      <a:pt x="722767" y="419083"/>
                      <a:pt x="439714" y="684869"/>
                      <a:pt x="418243" y="1026133"/>
                    </a:cubicBezTo>
                    <a:close/>
                  </a:path>
                </a:pathLst>
              </a:custGeom>
              <a:solidFill>
                <a:srgbClr val="8090A1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205624" y="3227070"/>
              <a:ext cx="884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7.4M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77618" y="3626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单层参数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66800" y="47625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6642" y="4750118"/>
              <a:ext cx="1505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FFN 前馈网络 76%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66800" y="50292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8090A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26642" y="50168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注意力等其余 24%</a:t>
              </a:r>
            </a:p>
          </p:txBody>
        </p:sp>
      </p:grpSp>
      <p:grpSp>
        <p:nvGrpSpPr>
          <p:cNvPr id="20" name="swiglu-block"/>
          <p:cNvGrpSpPr/>
          <p:nvPr/>
        </p:nvGrpSpPr>
        <p:grpSpPr>
          <a:xfrm>
            <a:off x="4982718" y="1745932"/>
            <a:ext cx="4902708" cy="1591819"/>
            <a:chOff x="4982718" y="1745932"/>
            <a:chExt cx="4902708" cy="1591819"/>
          </a:xfrm>
        </p:grpSpPr>
        <p:sp>
          <p:nvSpPr>
            <p:cNvPr id="17" name="TextBox 17"/>
            <p:cNvSpPr txBox="1"/>
            <p:nvPr/>
          </p:nvSpPr>
          <p:spPr>
            <a:xfrm>
              <a:off x="4982718" y="1745932"/>
              <a:ext cx="30245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SwiGLU：一行代码就是整张图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83480" y="2162175"/>
              <a:ext cx="4901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down_proj(act_fn(gate_proj(x)) * up_proj(x))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84242" y="2540318"/>
              <a:ext cx="472001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up_proj 是内容「我知道了什么」，gate_proj 经 SiLU 是门控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两者逐元素相乘，等于给每个特征维度装一个可学习的开关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形状 768 → 2432 → 768，由 intermediate_size 决定</a:t>
              </a:r>
            </a:p>
          </p:txBody>
        </p:sp>
      </p:grpSp>
      <p:grpSp>
        <p:nvGrpSpPr>
          <p:cNvPr id="23" name="glue-block"/>
          <p:cNvGrpSpPr/>
          <p:nvPr/>
        </p:nvGrpSpPr>
        <p:grpSpPr>
          <a:xfrm>
            <a:off x="4982718" y="3746182"/>
            <a:ext cx="4721542" cy="1458469"/>
            <a:chOff x="4982718" y="3746182"/>
            <a:chExt cx="4721542" cy="1458469"/>
          </a:xfrm>
        </p:grpSpPr>
        <p:sp>
          <p:nvSpPr>
            <p:cNvPr id="21" name="TextBox 21"/>
            <p:cNvSpPr txBox="1"/>
            <p:nvPr/>
          </p:nvSpPr>
          <p:spPr>
            <a:xfrm>
              <a:off x="4982718" y="3746182"/>
              <a:ext cx="33335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两个胶水：残差连接与 RMSNorm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84242" y="4140518"/>
              <a:ext cx="472001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残差先抄一份原始输入，子层加工完再加回去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梯度顺着加号原样流回底层，子层只需学「修正量」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RMSNorm 只除以均方根，不减均值、不带偏置，更快更省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全模型出现三处：每层 2 个 Pre-Norm、QK-Norm、最后 1 个</a:t>
              </a:r>
            </a:p>
          </p:txBody>
        </p:sp>
      </p:grpSp>
      <p:grpSp>
        <p:nvGrpSpPr>
          <p:cNvPr id="26" name="layer-formula"/>
          <p:cNvGrpSpPr/>
          <p:nvPr/>
        </p:nvGrpSpPr>
        <p:grpSpPr>
          <a:xfrm>
            <a:off x="609600" y="5638800"/>
            <a:ext cx="10972800" cy="590550"/>
            <a:chOff x="609600" y="5638800"/>
            <a:chExt cx="10972800" cy="590550"/>
          </a:xfrm>
        </p:grpSpPr>
        <p:sp>
          <p:nvSpPr>
            <p:cNvPr id="24" name="Rectangle 24"/>
            <p:cNvSpPr/>
            <p:nvPr/>
          </p:nvSpPr>
          <p:spPr>
            <a:xfrm>
              <a:off x="609600" y="5638800"/>
              <a:ext cx="10972800" cy="590550"/>
            </a:xfrm>
            <a:prstGeom prst="roundRect">
              <a:avLst>
                <a:gd name="adj" fmla="val 258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5256" y="5806440"/>
              <a:ext cx="85190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一层只做两件事：x = x + Attention(Norm(x))，然后 x = x + FFN(Norm(x))</a:t>
              </a:r>
            </a:p>
          </p:txBody>
        </p:sp>
      </p:grpSp>
      <p:grpSp>
        <p:nvGrpSpPr>
          <p:cNvPr id="28" name="page-foot"/>
          <p:cNvGrpSpPr/>
          <p:nvPr/>
        </p:nvGrpSpPr>
        <p:grpSpPr>
          <a:xfrm>
            <a:off x="602742" y="6426518"/>
            <a:ext cx="6741492" cy="264033"/>
            <a:chOff x="602742" y="6426518"/>
            <a:chExt cx="6741492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02742" y="6426518"/>
              <a:ext cx="6741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代码锚点 FeedForward（136–146 行）· MiniMindBlock.forward（186–194 行）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4760195" cy="616077"/>
            <a:chOff x="593598" y="688658"/>
            <a:chExt cx="476019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47601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把一层走一遍，再堆 8 层</a:t>
              </a:r>
            </a:p>
          </p:txBody>
        </p:sp>
      </p:grpSp>
      <p:grpSp>
        <p:nvGrpSpPr>
          <p:cNvPr id="27" name="layer-flow"/>
          <p:cNvGrpSpPr/>
          <p:nvPr/>
        </p:nvGrpSpPr>
        <p:grpSpPr>
          <a:xfrm>
            <a:off x="1475171" y="1664018"/>
            <a:ext cx="4239829" cy="4302633"/>
            <a:chOff x="1475171" y="1664018"/>
            <a:chExt cx="4239829" cy="4302633"/>
          </a:xfrm>
        </p:grpSpPr>
        <p:sp>
          <p:nvSpPr>
            <p:cNvPr id="4" name="TextBox 4"/>
            <p:cNvSpPr txBox="1"/>
            <p:nvPr/>
          </p:nvSpPr>
          <p:spPr>
            <a:xfrm>
              <a:off x="2237442" y="1664018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 x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2952750" y="1771650"/>
              <a:ext cx="2190750" cy="1676400"/>
            </a:xfrm>
            <a:custGeom>
              <a:avLst/>
              <a:gdLst/>
              <a:ahLst/>
              <a:cxnLst/>
              <a:rect l="l" t="t" r="r" b="b"/>
              <a:pathLst>
                <a:path w="2190750" h="1676400">
                  <a:moveTo>
                    <a:pt x="0" y="0"/>
                  </a:moveTo>
                  <a:lnTo>
                    <a:pt x="2190750" y="0"/>
                  </a:lnTo>
                  <a:lnTo>
                    <a:pt x="2190750" y="1676400"/>
                  </a:lnTo>
                  <a:lnTo>
                    <a:pt x="1524000" y="16764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2952750" y="3676650"/>
              <a:ext cx="2762250" cy="1714500"/>
            </a:xfrm>
            <a:custGeom>
              <a:avLst/>
              <a:gdLst/>
              <a:ahLst/>
              <a:cxnLst/>
              <a:rect l="l" t="t" r="r" b="b"/>
              <a:pathLst>
                <a:path w="2762250" h="1714500">
                  <a:moveTo>
                    <a:pt x="0" y="0"/>
                  </a:moveTo>
                  <a:lnTo>
                    <a:pt x="2762250" y="0"/>
                  </a:lnTo>
                  <a:lnTo>
                    <a:pt x="2762250" y="1714500"/>
                  </a:lnTo>
                  <a:lnTo>
                    <a:pt x="1524000" y="17145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2952750" y="1771650"/>
              <a:ext cx="1" cy="1524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952750" y="2381250"/>
              <a:ext cx="1" cy="2781300"/>
              <a:chOff x="2952750" y="2381250"/>
              <a:chExt cx="1" cy="2781300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2952750" y="2381250"/>
                <a:ext cx="1" cy="19050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952750" y="3028950"/>
                <a:ext cx="1" cy="19050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2952750" y="3676650"/>
                <a:ext cx="1" cy="19050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2952750" y="4324350"/>
                <a:ext cx="1" cy="19050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2952750" y="4972050"/>
                <a:ext cx="1" cy="19050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sp>
          <p:nvSpPr>
            <p:cNvPr id="14" name="Rectangle 14"/>
            <p:cNvSpPr/>
            <p:nvPr/>
          </p:nvSpPr>
          <p:spPr>
            <a:xfrm>
              <a:off x="1524000" y="1924050"/>
              <a:ext cx="2857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24964" y="2064068"/>
              <a:ext cx="2055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Norm① input_layernorm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524000" y="2571750"/>
              <a:ext cx="2857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59451" y="2711768"/>
              <a:ext cx="1586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self_attn（GQA）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381250" y="3219450"/>
              <a:ext cx="1143000" cy="457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30578" y="33594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⊕ 加回①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524000" y="3867150"/>
              <a:ext cx="2857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75171" y="4007168"/>
              <a:ext cx="2955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Norm② post_attention_layernorm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524000" y="4514850"/>
              <a:ext cx="2857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12299" y="4654868"/>
              <a:ext cx="12809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mlp（SwiGLU）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381250" y="5162550"/>
              <a:ext cx="1143000" cy="457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30578" y="53025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BF9F5"/>
                  </a:solidFill>
                  <a:latin typeface="+mn-lt"/>
                  <a:ea typeface="+mn-ea"/>
                  <a:cs typeface="+mn-cs"/>
                </a:rPr>
                <a:t>⊕ 加回②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73465" y="5702618"/>
              <a:ext cx="1358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 → 第 k+1 层</a:t>
              </a:r>
            </a:p>
          </p:txBody>
        </p:sp>
      </p:grpSp>
      <p:grpSp>
        <p:nvGrpSpPr>
          <p:cNvPr id="30" name="exit-block"/>
          <p:cNvGrpSpPr/>
          <p:nvPr/>
        </p:nvGrpSpPr>
        <p:grpSpPr>
          <a:xfrm>
            <a:off x="6240018" y="1784032"/>
            <a:ext cx="4550092" cy="1153669"/>
            <a:chOff x="6240018" y="1784032"/>
            <a:chExt cx="4550092" cy="1153669"/>
          </a:xfrm>
        </p:grpSpPr>
        <p:sp>
          <p:nvSpPr>
            <p:cNvPr id="28" name="TextBox 28"/>
            <p:cNvSpPr txBox="1"/>
            <p:nvPr/>
          </p:nvSpPr>
          <p:spPr>
            <a:xfrm>
              <a:off x="6240018" y="1784032"/>
              <a:ext cx="15477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层之外：出口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41542" y="2140268"/>
              <a:ext cx="454856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层之后一次最终 RMSNorm，lm_head 把 768 投影到 6400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logits 与 labels 错位对齐：第 i 个位置预测第 i+1 个 token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label 为 -100 的位置不计入 loss</a:t>
              </a:r>
            </a:p>
          </p:txBody>
        </p:sp>
      </p:grpSp>
      <p:grpSp>
        <p:nvGrpSpPr>
          <p:cNvPr id="33" name="layer-roles"/>
          <p:cNvGrpSpPr/>
          <p:nvPr/>
        </p:nvGrpSpPr>
        <p:grpSpPr>
          <a:xfrm>
            <a:off x="6240018" y="3365182"/>
            <a:ext cx="3795712" cy="1153669"/>
            <a:chOff x="6240018" y="3365182"/>
            <a:chExt cx="3795712" cy="1153669"/>
          </a:xfrm>
        </p:grpSpPr>
        <p:sp>
          <p:nvSpPr>
            <p:cNvPr id="31" name="TextBox 31"/>
            <p:cNvSpPr txBox="1"/>
            <p:nvPr/>
          </p:nvSpPr>
          <p:spPr>
            <a:xfrm>
              <a:off x="6240018" y="3365182"/>
              <a:ext cx="17698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层各自在学什么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41542" y="3721418"/>
              <a:ext cx="379418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浅层 1–2：局部语法——搭配、词性、短语边界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中层 3–6：语义——指代消解、句内逻辑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深层 7–8：任务级模式——风格、推理链、输出格式</a:t>
              </a:r>
            </a:p>
          </p:txBody>
        </p:sp>
      </p:grpSp>
      <p:grpSp>
        <p:nvGrpSpPr>
          <p:cNvPr id="36" name="caution-block"/>
          <p:cNvGrpSpPr/>
          <p:nvPr/>
        </p:nvGrpSpPr>
        <p:grpSpPr>
          <a:xfrm>
            <a:off x="6240018" y="4946332"/>
            <a:ext cx="4078605" cy="1134619"/>
            <a:chOff x="6240018" y="4946332"/>
            <a:chExt cx="4078605" cy="1134619"/>
          </a:xfrm>
        </p:grpSpPr>
        <p:sp>
          <p:nvSpPr>
            <p:cNvPr id="34" name="TextBox 34"/>
            <p:cNvSpPr txBox="1"/>
            <p:nvPr/>
          </p:nvSpPr>
          <p:spPr>
            <a:xfrm>
              <a:off x="6240018" y="49463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易错点与参数提醒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41542" y="5283518"/>
              <a:ext cx="407708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第二条残差的捷径从 ⊕① 之后引出，不是从最初的输入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词表只影响 embedding 与 lm_head 两处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 4.9M，占 64M 模型的 8%</a:t>
              </a:r>
            </a:p>
          </p:txBody>
        </p:sp>
      </p:grpSp>
      <p:grpSp>
        <p:nvGrpSpPr>
          <p:cNvPr id="38" name="page-foot"/>
          <p:cNvGrpSpPr/>
          <p:nvPr/>
        </p:nvGrpSpPr>
        <p:grpSpPr>
          <a:xfrm>
            <a:off x="602742" y="6426518"/>
            <a:ext cx="7674076" cy="264033"/>
            <a:chOff x="602742" y="6426518"/>
            <a:chExt cx="7674076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602742" y="6426518"/>
              <a:ext cx="7674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代码锚点 MiniMindBlock.forward（186–194 行）· MiniMindModel.forward（221–232 行）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593598" y="688658"/>
            <a:ext cx="6205347" cy="616077"/>
            <a:chOff x="593598" y="688658"/>
            <a:chExt cx="620534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88658"/>
              <a:ext cx="62053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从训练到推理：KV Cache 与收束</a:t>
              </a:r>
            </a:p>
          </p:txBody>
        </p:sp>
      </p:grpSp>
      <p:grpSp>
        <p:nvGrpSpPr>
          <p:cNvPr id="44" name="train-vs-inference"/>
          <p:cNvGrpSpPr/>
          <p:nvPr/>
        </p:nvGrpSpPr>
        <p:grpSpPr>
          <a:xfrm>
            <a:off x="609600" y="1676400"/>
            <a:ext cx="7200900" cy="3171825"/>
            <a:chOff x="609600" y="1676400"/>
            <a:chExt cx="7200900" cy="3171825"/>
          </a:xfrm>
        </p:grpSpPr>
        <p:sp>
          <p:nvSpPr>
            <p:cNvPr id="4" name="Rectangle 4"/>
            <p:cNvSpPr/>
            <p:nvPr/>
          </p:nvSpPr>
          <p:spPr>
            <a:xfrm>
              <a:off x="609600" y="1676400"/>
              <a:ext cx="72009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09600" y="2095500"/>
              <a:ext cx="2286000" cy="2743200"/>
              <a:chOff x="609600" y="2095500"/>
              <a:chExt cx="2286000" cy="27432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609600" y="2095500"/>
                <a:ext cx="22860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609600" y="2552700"/>
                <a:ext cx="22860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3009900"/>
                <a:ext cx="22860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09600" y="3467100"/>
                <a:ext cx="22860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09600" y="3924300"/>
                <a:ext cx="22860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609600" y="4381500"/>
                <a:ext cx="22860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09600" y="2095500"/>
              <a:ext cx="7200900" cy="2752725"/>
              <a:chOff x="609600" y="2095500"/>
              <a:chExt cx="7200900" cy="2752725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09600" y="20955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609600" y="25527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09600" y="30099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609600" y="34671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609600" y="39243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609600" y="43815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609600" y="4838700"/>
                <a:ext cx="7200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00900" h="9525">
                    <a:moveTo>
                      <a:pt x="0" y="0"/>
                    </a:moveTo>
                    <a:lnTo>
                      <a:pt x="72009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793242" y="1806892"/>
              <a:ext cx="5120640" cy="264033"/>
              <a:chOff x="793242" y="1806892"/>
              <a:chExt cx="5120640" cy="264033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93242" y="18068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维度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079242" y="18068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训练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536692" y="18068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BF9F5"/>
                    </a:solidFill>
                    <a:latin typeface="+mn-lt"/>
                    <a:ea typeface="+mn-ea"/>
                    <a:cs typeface="+mn-cs"/>
                  </a:rPr>
                  <a:t>推理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93242" y="2235518"/>
              <a:ext cx="740664" cy="2550033"/>
              <a:chOff x="793242" y="2235518"/>
              <a:chExt cx="740664" cy="255003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793242" y="22355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输入形状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93242" y="26927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位置切片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3242" y="31499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打分阵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93242" y="3607118"/>
                <a:ext cx="6594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KV 缓存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93242" y="40643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掩码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93242" y="45215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目标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3079242" y="2235518"/>
              <a:ext cx="3934149" cy="2550033"/>
              <a:chOff x="3079242" y="2235518"/>
              <a:chExt cx="3934149" cy="2550033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3079242" y="22355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(32, 340) 全序列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36692" y="2235518"/>
                <a:ext cx="9860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每步 (1, 1)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079242" y="2692718"/>
                <a:ext cx="13304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RoPE [0 : 340]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536692" y="2692718"/>
                <a:ext cx="13125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RoPE [t-1 : t]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079242" y="3149918"/>
                <a:ext cx="15766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(32, 8, 340, 340)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536692" y="3149918"/>
                <a:ext cx="10768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(1, 8, 1, t)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079242" y="36071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不使用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536692" y="3607118"/>
                <a:ext cx="12022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每层攒 (K, V)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079242" y="4064318"/>
                <a:ext cx="1494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因果 −∞ + padding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536692" y="4064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无，历史全合法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079242" y="4521518"/>
                <a:ext cx="18674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340 个位置一起算 loss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536692" y="4521518"/>
                <a:ext cx="14766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采样下一个 token</a:t>
                </a:r>
              </a:p>
            </p:txBody>
          </p:sp>
        </p:grpSp>
      </p:grpSp>
      <p:grpSp>
        <p:nvGrpSpPr>
          <p:cNvPr id="46" name="kv-growth-heading"/>
          <p:cNvGrpSpPr/>
          <p:nvPr/>
        </p:nvGrpSpPr>
        <p:grpSpPr>
          <a:xfrm>
            <a:off x="8183118" y="1784032"/>
            <a:ext cx="1968303" cy="322707"/>
            <a:chOff x="8183118" y="1784032"/>
            <a:chExt cx="1968303" cy="322707"/>
          </a:xfrm>
        </p:grpSpPr>
        <p:sp>
          <p:nvSpPr>
            <p:cNvPr id="45" name="TextBox 45"/>
            <p:cNvSpPr txBox="1"/>
            <p:nvPr/>
          </p:nvSpPr>
          <p:spPr>
            <a:xfrm>
              <a:off x="8183118" y="1784032"/>
              <a:ext cx="19683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KV Cache 逐格生长</a:t>
              </a:r>
            </a:p>
          </p:txBody>
        </p:sp>
      </p:grpSp>
      <p:grpSp>
        <p:nvGrpSpPr>
          <p:cNvPr id="52" name="kv-row-prefill"/>
          <p:cNvGrpSpPr/>
          <p:nvPr/>
        </p:nvGrpSpPr>
        <p:grpSpPr>
          <a:xfrm>
            <a:off x="8184642" y="2206942"/>
            <a:ext cx="2407158" cy="264033"/>
            <a:chOff x="8184642" y="2206942"/>
            <a:chExt cx="2407158" cy="264033"/>
          </a:xfrm>
        </p:grpSpPr>
        <p:grpSp>
          <p:nvGrpSpPr>
            <p:cNvPr id="50" name="Group 50"/>
            <p:cNvGrpSpPr/>
            <p:nvPr/>
          </p:nvGrpSpPr>
          <p:grpSpPr>
            <a:xfrm>
              <a:off x="9906000" y="2209800"/>
              <a:ext cx="685800" cy="190500"/>
              <a:chOff x="9906000" y="2209800"/>
              <a:chExt cx="685800" cy="1905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906000" y="22098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10153650" y="22098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0401300" y="22098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184642" y="2206942"/>
              <a:ext cx="974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Prefill 3 格</a:t>
              </a:r>
            </a:p>
          </p:txBody>
        </p:sp>
      </p:grpSp>
      <p:grpSp>
        <p:nvGrpSpPr>
          <p:cNvPr id="59" name="kv-row-tian"/>
          <p:cNvGrpSpPr/>
          <p:nvPr/>
        </p:nvGrpSpPr>
        <p:grpSpPr>
          <a:xfrm>
            <a:off x="8184642" y="2568892"/>
            <a:ext cx="2654808" cy="264033"/>
            <a:chOff x="8184642" y="2568892"/>
            <a:chExt cx="2654808" cy="264033"/>
          </a:xfrm>
        </p:grpSpPr>
        <p:grpSp>
          <p:nvGrpSpPr>
            <p:cNvPr id="57" name="Group 57"/>
            <p:cNvGrpSpPr/>
            <p:nvPr/>
          </p:nvGrpSpPr>
          <p:grpSpPr>
            <a:xfrm>
              <a:off x="9906000" y="2571750"/>
              <a:ext cx="933450" cy="190500"/>
              <a:chOff x="9906000" y="2571750"/>
              <a:chExt cx="933450" cy="190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9906000" y="257175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10153650" y="257175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10401300" y="257175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10648950" y="257175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184642" y="2568892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采样「天」4 格</a:t>
              </a:r>
            </a:p>
          </p:txBody>
        </p:sp>
      </p:grpSp>
      <p:grpSp>
        <p:nvGrpSpPr>
          <p:cNvPr id="67" name="kv-row-kong"/>
          <p:cNvGrpSpPr/>
          <p:nvPr/>
        </p:nvGrpSpPr>
        <p:grpSpPr>
          <a:xfrm>
            <a:off x="8184642" y="2930842"/>
            <a:ext cx="2902458" cy="264033"/>
            <a:chOff x="8184642" y="2930842"/>
            <a:chExt cx="2902458" cy="264033"/>
          </a:xfrm>
        </p:grpSpPr>
        <p:grpSp>
          <p:nvGrpSpPr>
            <p:cNvPr id="65" name="Group 65"/>
            <p:cNvGrpSpPr/>
            <p:nvPr/>
          </p:nvGrpSpPr>
          <p:grpSpPr>
            <a:xfrm>
              <a:off x="9906000" y="2933700"/>
              <a:ext cx="1181100" cy="190500"/>
              <a:chOff x="9906000" y="2933700"/>
              <a:chExt cx="1181100" cy="1905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9906000" y="29337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10153650" y="29337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10401300" y="29337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10648950" y="29337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10896600" y="29337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184642" y="2930842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采样「空」5 格</a:t>
              </a:r>
            </a:p>
          </p:txBody>
        </p:sp>
      </p:grpSp>
      <p:grpSp>
        <p:nvGrpSpPr>
          <p:cNvPr id="70" name="gqa-cache"/>
          <p:cNvGrpSpPr/>
          <p:nvPr/>
        </p:nvGrpSpPr>
        <p:grpSpPr>
          <a:xfrm>
            <a:off x="8183118" y="3422332"/>
            <a:ext cx="2441258" cy="1363219"/>
            <a:chOff x="8183118" y="3422332"/>
            <a:chExt cx="2441258" cy="1363219"/>
          </a:xfrm>
        </p:grpSpPr>
        <p:sp>
          <p:nvSpPr>
            <p:cNvPr id="68" name="TextBox 68"/>
            <p:cNvSpPr txBox="1"/>
            <p:nvPr/>
          </p:nvSpPr>
          <p:spPr>
            <a:xfrm>
              <a:off x="8183118" y="3422332"/>
              <a:ext cx="1879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GQA 在缓存上兑现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84642" y="3778568"/>
              <a:ext cx="243973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缓存的「正本」始终是 4 头版本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cat 发生在 repeat_kv 之前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1024 token 时 GQA 约 12.6 MB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若换成 MHA 则 25.2 MB</a:t>
              </a:r>
            </a:p>
          </p:txBody>
        </p:sp>
      </p:grpSp>
      <p:grpSp>
        <p:nvGrpSpPr>
          <p:cNvPr id="72" name="batch-note"/>
          <p:cNvGrpSpPr/>
          <p:nvPr/>
        </p:nvGrpSpPr>
        <p:grpSpPr>
          <a:xfrm>
            <a:off x="602742" y="5035868"/>
            <a:ext cx="6365938" cy="530733"/>
            <a:chOff x="602742" y="5035868"/>
            <a:chExt cx="6365938" cy="530733"/>
          </a:xfrm>
        </p:grpSpPr>
        <p:sp>
          <p:nvSpPr>
            <p:cNvPr id="71" name="TextBox 71"/>
            <p:cNvSpPr txBox="1"/>
            <p:nvPr/>
          </p:nvSpPr>
          <p:spPr>
            <a:xfrm>
              <a:off x="602742" y="5035868"/>
              <a:ext cx="636593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批量推理：左 padding 保证 logits[:, -1] 落在真实 token 上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必须配套 attention_mask——只传 input_ids 是「不报错、只悄悄劣化」的静默 bug</a:t>
              </a:r>
            </a:p>
          </p:txBody>
        </p:sp>
      </p:grpSp>
      <p:grpSp>
        <p:nvGrpSpPr>
          <p:cNvPr id="75" name="closing"/>
          <p:cNvGrpSpPr/>
          <p:nvPr/>
        </p:nvGrpSpPr>
        <p:grpSpPr>
          <a:xfrm>
            <a:off x="609600" y="5619750"/>
            <a:ext cx="10972800" cy="704850"/>
            <a:chOff x="609600" y="5619750"/>
            <a:chExt cx="10972800" cy="704850"/>
          </a:xfrm>
        </p:grpSpPr>
        <p:sp>
          <p:nvSpPr>
            <p:cNvPr id="73" name="Rectangle 73"/>
            <p:cNvSpPr/>
            <p:nvPr/>
          </p:nvSpPr>
          <p:spPr>
            <a:xfrm>
              <a:off x="609600" y="5619750"/>
              <a:ext cx="10972800" cy="704850"/>
            </a:xfrm>
            <a:prstGeom prst="roundRect">
              <a:avLst>
                <a:gd name="adj" fmla="val 21622"/>
              </a:avLst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05256" y="5673090"/>
              <a:ext cx="5759577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MiniMind 用 </a:t>
              </a:r>
              <a:r>
                <a:rPr lang="zh-CN" sz="1800" b="1" dirty="0">
                  <a:solidFill>
                    <a:srgbClr val="A8421F"/>
                  </a:solidFill>
                  <a:latin typeface="+mn-lt"/>
                  <a:ea typeface="+mn-ea"/>
                  <a:cs typeface="+mn-cs"/>
                </a:rPr>
                <a:t>64M 参数、约 3 块钱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，把这条链路彻底摊开</a:t>
              </a:r>
              <a:br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读懂它的</a:t>
              </a:r>
              <a:r>
                <a:rPr lang="zh-CN" sz="1800" b="1" dirty="0">
                  <a:solidFill>
                    <a:srgbClr val="A8421F"/>
                  </a:solidFill>
                  <a:latin typeface="+mn-lt"/>
                  <a:ea typeface="+mn-ea"/>
                  <a:cs typeface="+mn-cs"/>
                </a:rPr>
                <a:t>每一行代码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，就读懂了现代大模型的核心机制</a:t>
              </a:r>
            </a:p>
          </p:txBody>
        </p:sp>
      </p:grpSp>
      <p:grpSp>
        <p:nvGrpSpPr>
          <p:cNvPr id="77" name="page-foot"/>
          <p:cNvGrpSpPr/>
          <p:nvPr/>
        </p:nvGrpSpPr>
        <p:grpSpPr>
          <a:xfrm>
            <a:off x="602742" y="6426518"/>
            <a:ext cx="8333376" cy="264033"/>
            <a:chOff x="602742" y="6426518"/>
            <a:chExt cx="8333376" cy="264033"/>
          </a:xfrm>
        </p:grpSpPr>
        <p:sp>
          <p:nvSpPr>
            <p:cNvPr id="76" name="TextBox 76"/>
            <p:cNvSpPr txBox="1"/>
            <p:nvPr/>
          </p:nvSpPr>
          <p:spPr>
            <a:xfrm>
              <a:off x="602742" y="6426518"/>
              <a:ext cx="8333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代码锚点 generate 循环（263–285 行）· KV Cache 拼接（120–123 行）· model/model_minimind.py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ind-transformer">
  <a:themeElements>
    <a:clrScheme name="minimind-transformer">
      <a:dk1>
        <a:srgbClr val="23282E"/>
      </a:dk1>
      <a:lt1>
        <a:srgbClr val="FBF9F5"/>
      </a:lt1>
      <a:dk2>
        <a:srgbClr val="1F497D"/>
      </a:dk2>
      <a:lt2>
        <a:srgbClr val="F0EDE6"/>
      </a:lt2>
      <a:accent1>
        <a:srgbClr val="1B3A5C"/>
      </a:accent1>
      <a:accent2>
        <a:srgbClr val="C2542D"/>
      </a:accent2>
      <a:accent3>
        <a:srgbClr val="5B7C99"/>
      </a:accent3>
      <a:accent4>
        <a:srgbClr val="1B3A5C"/>
      </a:accent4>
      <a:accent5>
        <a:srgbClr val="5C6672"/>
      </a:accent5>
      <a:accent6>
        <a:srgbClr val="DCD5C8"/>
      </a:accent6>
      <a:hlink>
        <a:srgbClr val="C2542D"/>
      </a:hlink>
      <a:folHlink>
        <a:srgbClr val="5B7C99"/>
      </a:folHlink>
    </a:clrScheme>
    <a:fontScheme name="minimind-transformer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transform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inimind-transformer">
  <a:themeElements>
    <a:clrScheme name="minimind-transformer">
      <a:dk1>
        <a:srgbClr val="23282E"/>
      </a:dk1>
      <a:lt1>
        <a:srgbClr val="FBF9F5"/>
      </a:lt1>
      <a:dk2>
        <a:srgbClr val="1F497D"/>
      </a:dk2>
      <a:lt2>
        <a:srgbClr val="F0EDE6"/>
      </a:lt2>
      <a:accent1>
        <a:srgbClr val="1B3A5C"/>
      </a:accent1>
      <a:accent2>
        <a:srgbClr val="C2542D"/>
      </a:accent2>
      <a:accent3>
        <a:srgbClr val="5B7C99"/>
      </a:accent3>
      <a:accent4>
        <a:srgbClr val="1B3A5C"/>
      </a:accent4>
      <a:accent5>
        <a:srgbClr val="5C6672"/>
      </a:accent5>
      <a:accent6>
        <a:srgbClr val="DCD5C8"/>
      </a:accent6>
      <a:hlink>
        <a:srgbClr val="C2542D"/>
      </a:hlink>
      <a:folHlink>
        <a:srgbClr val="5B7C99"/>
      </a:folHlink>
    </a:clrScheme>
    <a:fontScheme name="minimind-transformer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transform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2026-09-16T07:19:43Z</dcterms:created>
  <dcterms:modified xsi:type="dcterms:W3CDTF">2026-09-16T07:19:43Z</dcterms:modified>
  <cp:category/>
  <cp:contentStatus/>
</cp:coreProperties>
</file>